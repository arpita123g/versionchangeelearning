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1" r:id="rId5"/>
    <p:sldId id="262" r:id="rId6"/>
    <p:sldId id="263" r:id="rId7"/>
    <p:sldId id="264" r:id="rId8"/>
    <p:sldId id="265" r:id="rId9"/>
    <p:sldId id="266" r:id="rId10"/>
    <p:sldId id="27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89"/>
  </p:normalViewPr>
  <p:slideViewPr>
    <p:cSldViewPr snapToGrid="0" snapToObjects="1">
      <p:cViewPr varScale="1">
        <p:scale>
          <a:sx n="108" d="100"/>
          <a:sy n="108" d="100"/>
        </p:scale>
        <p:origin x="73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E04AC-5066-AC46-8999-CD95C47C9A8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75D7085-3ED4-4142-8B5B-1F82BC9AB8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5908703-276A-AF4E-BB6D-23D33CFDC116}"/>
              </a:ext>
            </a:extLst>
          </p:cNvPr>
          <p:cNvSpPr>
            <a:spLocks noGrp="1"/>
          </p:cNvSpPr>
          <p:nvPr>
            <p:ph type="dt" sz="half" idx="10"/>
          </p:nvPr>
        </p:nvSpPr>
        <p:spPr/>
        <p:txBody>
          <a:bodyPr/>
          <a:lstStyle/>
          <a:p>
            <a:fld id="{B30675E5-4A0B-2B46-839D-299A964D0AA2}" type="datetimeFigureOut">
              <a:rPr lang="en-US" smtClean="0"/>
              <a:t>5/4/23</a:t>
            </a:fld>
            <a:endParaRPr lang="en-US"/>
          </a:p>
        </p:txBody>
      </p:sp>
      <p:sp>
        <p:nvSpPr>
          <p:cNvPr id="5" name="Footer Placeholder 4">
            <a:extLst>
              <a:ext uri="{FF2B5EF4-FFF2-40B4-BE49-F238E27FC236}">
                <a16:creationId xmlns:a16="http://schemas.microsoft.com/office/drawing/2014/main" id="{4C04AD1A-7DB2-584E-906F-F494616FE0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055EFE-2100-0140-BAC8-831E50ADADF1}"/>
              </a:ext>
            </a:extLst>
          </p:cNvPr>
          <p:cNvSpPr>
            <a:spLocks noGrp="1"/>
          </p:cNvSpPr>
          <p:nvPr>
            <p:ph type="sldNum" sz="quarter" idx="12"/>
          </p:nvPr>
        </p:nvSpPr>
        <p:spPr/>
        <p:txBody>
          <a:bodyPr/>
          <a:lstStyle/>
          <a:p>
            <a:fld id="{8685E88A-54E9-D840-B98F-6609ABF879DF}" type="slidenum">
              <a:rPr lang="en-US" smtClean="0"/>
              <a:t>‹#›</a:t>
            </a:fld>
            <a:endParaRPr lang="en-US"/>
          </a:p>
        </p:txBody>
      </p:sp>
    </p:spTree>
    <p:extLst>
      <p:ext uri="{BB962C8B-B14F-4D97-AF65-F5344CB8AC3E}">
        <p14:creationId xmlns:p14="http://schemas.microsoft.com/office/powerpoint/2010/main" val="2554869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138DA-A2D7-E146-AC76-5DEAC0ADC23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31F3D16-EFFD-9944-85C1-D2D09CB21D0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CA023F0-F1C4-DE49-8B1A-9365D68B066F}"/>
              </a:ext>
            </a:extLst>
          </p:cNvPr>
          <p:cNvSpPr>
            <a:spLocks noGrp="1"/>
          </p:cNvSpPr>
          <p:nvPr>
            <p:ph type="dt" sz="half" idx="10"/>
          </p:nvPr>
        </p:nvSpPr>
        <p:spPr/>
        <p:txBody>
          <a:bodyPr/>
          <a:lstStyle/>
          <a:p>
            <a:fld id="{B30675E5-4A0B-2B46-839D-299A964D0AA2}" type="datetimeFigureOut">
              <a:rPr lang="en-US" smtClean="0"/>
              <a:t>5/4/23</a:t>
            </a:fld>
            <a:endParaRPr lang="en-US"/>
          </a:p>
        </p:txBody>
      </p:sp>
      <p:sp>
        <p:nvSpPr>
          <p:cNvPr id="5" name="Footer Placeholder 4">
            <a:extLst>
              <a:ext uri="{FF2B5EF4-FFF2-40B4-BE49-F238E27FC236}">
                <a16:creationId xmlns:a16="http://schemas.microsoft.com/office/drawing/2014/main" id="{62B24F9A-3331-9D4A-A5E1-AFC0643286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246547-978F-E140-A3E0-7946FBAA459E}"/>
              </a:ext>
            </a:extLst>
          </p:cNvPr>
          <p:cNvSpPr>
            <a:spLocks noGrp="1"/>
          </p:cNvSpPr>
          <p:nvPr>
            <p:ph type="sldNum" sz="quarter" idx="12"/>
          </p:nvPr>
        </p:nvSpPr>
        <p:spPr/>
        <p:txBody>
          <a:bodyPr/>
          <a:lstStyle/>
          <a:p>
            <a:fld id="{8685E88A-54E9-D840-B98F-6609ABF879DF}" type="slidenum">
              <a:rPr lang="en-US" smtClean="0"/>
              <a:t>‹#›</a:t>
            </a:fld>
            <a:endParaRPr lang="en-US"/>
          </a:p>
        </p:txBody>
      </p:sp>
    </p:spTree>
    <p:extLst>
      <p:ext uri="{BB962C8B-B14F-4D97-AF65-F5344CB8AC3E}">
        <p14:creationId xmlns:p14="http://schemas.microsoft.com/office/powerpoint/2010/main" val="1690518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B959A-D577-524B-8B45-CEB41221CEF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957D7119-EB3B-454D-AECB-A348364F22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1EF42DC-3436-2646-835F-A344B37529C0}"/>
              </a:ext>
            </a:extLst>
          </p:cNvPr>
          <p:cNvSpPr>
            <a:spLocks noGrp="1"/>
          </p:cNvSpPr>
          <p:nvPr>
            <p:ph type="dt" sz="half" idx="10"/>
          </p:nvPr>
        </p:nvSpPr>
        <p:spPr/>
        <p:txBody>
          <a:bodyPr/>
          <a:lstStyle/>
          <a:p>
            <a:fld id="{B30675E5-4A0B-2B46-839D-299A964D0AA2}" type="datetimeFigureOut">
              <a:rPr lang="en-US" smtClean="0"/>
              <a:t>5/4/23</a:t>
            </a:fld>
            <a:endParaRPr lang="en-US"/>
          </a:p>
        </p:txBody>
      </p:sp>
      <p:sp>
        <p:nvSpPr>
          <p:cNvPr id="5" name="Footer Placeholder 4">
            <a:extLst>
              <a:ext uri="{FF2B5EF4-FFF2-40B4-BE49-F238E27FC236}">
                <a16:creationId xmlns:a16="http://schemas.microsoft.com/office/drawing/2014/main" id="{B6DD46F7-B7A4-F748-BDE9-01D1784E6C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30EA58-23A9-6341-A7AB-2545F57342E3}"/>
              </a:ext>
            </a:extLst>
          </p:cNvPr>
          <p:cNvSpPr>
            <a:spLocks noGrp="1"/>
          </p:cNvSpPr>
          <p:nvPr>
            <p:ph type="sldNum" sz="quarter" idx="12"/>
          </p:nvPr>
        </p:nvSpPr>
        <p:spPr/>
        <p:txBody>
          <a:bodyPr/>
          <a:lstStyle/>
          <a:p>
            <a:fld id="{8685E88A-54E9-D840-B98F-6609ABF879DF}" type="slidenum">
              <a:rPr lang="en-US" smtClean="0"/>
              <a:t>‹#›</a:t>
            </a:fld>
            <a:endParaRPr lang="en-US"/>
          </a:p>
        </p:txBody>
      </p:sp>
    </p:spTree>
    <p:extLst>
      <p:ext uri="{BB962C8B-B14F-4D97-AF65-F5344CB8AC3E}">
        <p14:creationId xmlns:p14="http://schemas.microsoft.com/office/powerpoint/2010/main" val="218670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1E88F-990A-CC47-882B-84C0CBA19FB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1284B5A-76D9-C84E-A223-ADD32DAA574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749FA04-D310-474B-B2BA-12FDBE28B20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808E889-49DE-C847-AF66-4F7004033799}"/>
              </a:ext>
            </a:extLst>
          </p:cNvPr>
          <p:cNvSpPr>
            <a:spLocks noGrp="1"/>
          </p:cNvSpPr>
          <p:nvPr>
            <p:ph type="dt" sz="half" idx="10"/>
          </p:nvPr>
        </p:nvSpPr>
        <p:spPr/>
        <p:txBody>
          <a:bodyPr/>
          <a:lstStyle/>
          <a:p>
            <a:fld id="{B30675E5-4A0B-2B46-839D-299A964D0AA2}" type="datetimeFigureOut">
              <a:rPr lang="en-US" smtClean="0"/>
              <a:t>5/4/23</a:t>
            </a:fld>
            <a:endParaRPr lang="en-US"/>
          </a:p>
        </p:txBody>
      </p:sp>
      <p:sp>
        <p:nvSpPr>
          <p:cNvPr id="6" name="Footer Placeholder 5">
            <a:extLst>
              <a:ext uri="{FF2B5EF4-FFF2-40B4-BE49-F238E27FC236}">
                <a16:creationId xmlns:a16="http://schemas.microsoft.com/office/drawing/2014/main" id="{F3FB79A8-F275-3D4E-B35D-4011FED27D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5B7F62-9F8F-E943-BBDC-F8AB72E5AEDA}"/>
              </a:ext>
            </a:extLst>
          </p:cNvPr>
          <p:cNvSpPr>
            <a:spLocks noGrp="1"/>
          </p:cNvSpPr>
          <p:nvPr>
            <p:ph type="sldNum" sz="quarter" idx="12"/>
          </p:nvPr>
        </p:nvSpPr>
        <p:spPr/>
        <p:txBody>
          <a:bodyPr/>
          <a:lstStyle/>
          <a:p>
            <a:fld id="{8685E88A-54E9-D840-B98F-6609ABF879DF}" type="slidenum">
              <a:rPr lang="en-US" smtClean="0"/>
              <a:t>‹#›</a:t>
            </a:fld>
            <a:endParaRPr lang="en-US"/>
          </a:p>
        </p:txBody>
      </p:sp>
    </p:spTree>
    <p:extLst>
      <p:ext uri="{BB962C8B-B14F-4D97-AF65-F5344CB8AC3E}">
        <p14:creationId xmlns:p14="http://schemas.microsoft.com/office/powerpoint/2010/main" val="3331753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7D056-728B-424D-A66A-5935B064F93F}"/>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31B04AB-F855-3E49-A66A-8E3CFAF15B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22884D1-27FB-9849-9FEC-9254E4B9462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D9B71AC-A527-FE45-B532-E672665E32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976469B-882E-AD4C-ACBC-4FD399A3444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FB7023B-AAD2-0D45-AB63-1A3F8394EFEE}"/>
              </a:ext>
            </a:extLst>
          </p:cNvPr>
          <p:cNvSpPr>
            <a:spLocks noGrp="1"/>
          </p:cNvSpPr>
          <p:nvPr>
            <p:ph type="dt" sz="half" idx="10"/>
          </p:nvPr>
        </p:nvSpPr>
        <p:spPr/>
        <p:txBody>
          <a:bodyPr/>
          <a:lstStyle/>
          <a:p>
            <a:fld id="{B30675E5-4A0B-2B46-839D-299A964D0AA2}" type="datetimeFigureOut">
              <a:rPr lang="en-US" smtClean="0"/>
              <a:t>5/4/23</a:t>
            </a:fld>
            <a:endParaRPr lang="en-US"/>
          </a:p>
        </p:txBody>
      </p:sp>
      <p:sp>
        <p:nvSpPr>
          <p:cNvPr id="8" name="Footer Placeholder 7">
            <a:extLst>
              <a:ext uri="{FF2B5EF4-FFF2-40B4-BE49-F238E27FC236}">
                <a16:creationId xmlns:a16="http://schemas.microsoft.com/office/drawing/2014/main" id="{350E2619-7CA3-314F-9A89-FE478620318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EDFBF48-C60C-3446-8FA4-7C094F278B66}"/>
              </a:ext>
            </a:extLst>
          </p:cNvPr>
          <p:cNvSpPr>
            <a:spLocks noGrp="1"/>
          </p:cNvSpPr>
          <p:nvPr>
            <p:ph type="sldNum" sz="quarter" idx="12"/>
          </p:nvPr>
        </p:nvSpPr>
        <p:spPr/>
        <p:txBody>
          <a:bodyPr/>
          <a:lstStyle/>
          <a:p>
            <a:fld id="{8685E88A-54E9-D840-B98F-6609ABF879DF}" type="slidenum">
              <a:rPr lang="en-US" smtClean="0"/>
              <a:t>‹#›</a:t>
            </a:fld>
            <a:endParaRPr lang="en-US"/>
          </a:p>
        </p:txBody>
      </p:sp>
    </p:spTree>
    <p:extLst>
      <p:ext uri="{BB962C8B-B14F-4D97-AF65-F5344CB8AC3E}">
        <p14:creationId xmlns:p14="http://schemas.microsoft.com/office/powerpoint/2010/main" val="3580134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DB5DC-7050-804E-B224-45819219A5D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7770645-5785-BC43-85A5-67377B0B19A6}"/>
              </a:ext>
            </a:extLst>
          </p:cNvPr>
          <p:cNvSpPr>
            <a:spLocks noGrp="1"/>
          </p:cNvSpPr>
          <p:nvPr>
            <p:ph type="dt" sz="half" idx="10"/>
          </p:nvPr>
        </p:nvSpPr>
        <p:spPr/>
        <p:txBody>
          <a:bodyPr/>
          <a:lstStyle/>
          <a:p>
            <a:fld id="{B30675E5-4A0B-2B46-839D-299A964D0AA2}" type="datetimeFigureOut">
              <a:rPr lang="en-US" smtClean="0"/>
              <a:t>5/4/23</a:t>
            </a:fld>
            <a:endParaRPr lang="en-US"/>
          </a:p>
        </p:txBody>
      </p:sp>
      <p:sp>
        <p:nvSpPr>
          <p:cNvPr id="4" name="Footer Placeholder 3">
            <a:extLst>
              <a:ext uri="{FF2B5EF4-FFF2-40B4-BE49-F238E27FC236}">
                <a16:creationId xmlns:a16="http://schemas.microsoft.com/office/drawing/2014/main" id="{7B93AD72-E9D7-5340-A464-0B9266BFFD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DAF35E-E280-1347-BEB8-F17AD59E4A08}"/>
              </a:ext>
            </a:extLst>
          </p:cNvPr>
          <p:cNvSpPr>
            <a:spLocks noGrp="1"/>
          </p:cNvSpPr>
          <p:nvPr>
            <p:ph type="sldNum" sz="quarter" idx="12"/>
          </p:nvPr>
        </p:nvSpPr>
        <p:spPr/>
        <p:txBody>
          <a:bodyPr/>
          <a:lstStyle/>
          <a:p>
            <a:fld id="{8685E88A-54E9-D840-B98F-6609ABF879DF}" type="slidenum">
              <a:rPr lang="en-US" smtClean="0"/>
              <a:t>‹#›</a:t>
            </a:fld>
            <a:endParaRPr lang="en-US"/>
          </a:p>
        </p:txBody>
      </p:sp>
    </p:spTree>
    <p:extLst>
      <p:ext uri="{BB962C8B-B14F-4D97-AF65-F5344CB8AC3E}">
        <p14:creationId xmlns:p14="http://schemas.microsoft.com/office/powerpoint/2010/main" val="3847509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F25C5E-7306-7343-9911-3AAF3F8420BB}"/>
              </a:ext>
            </a:extLst>
          </p:cNvPr>
          <p:cNvSpPr>
            <a:spLocks noGrp="1"/>
          </p:cNvSpPr>
          <p:nvPr>
            <p:ph type="dt" sz="half" idx="10"/>
          </p:nvPr>
        </p:nvSpPr>
        <p:spPr/>
        <p:txBody>
          <a:bodyPr/>
          <a:lstStyle/>
          <a:p>
            <a:fld id="{B30675E5-4A0B-2B46-839D-299A964D0AA2}" type="datetimeFigureOut">
              <a:rPr lang="en-US" smtClean="0"/>
              <a:t>5/4/23</a:t>
            </a:fld>
            <a:endParaRPr lang="en-US"/>
          </a:p>
        </p:txBody>
      </p:sp>
      <p:sp>
        <p:nvSpPr>
          <p:cNvPr id="3" name="Footer Placeholder 2">
            <a:extLst>
              <a:ext uri="{FF2B5EF4-FFF2-40B4-BE49-F238E27FC236}">
                <a16:creationId xmlns:a16="http://schemas.microsoft.com/office/drawing/2014/main" id="{FCDB4C39-5584-DE42-91B5-7B8137906F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BF03EC7-9D1D-B741-AADC-F1D6A93DB2CB}"/>
              </a:ext>
            </a:extLst>
          </p:cNvPr>
          <p:cNvSpPr>
            <a:spLocks noGrp="1"/>
          </p:cNvSpPr>
          <p:nvPr>
            <p:ph type="sldNum" sz="quarter" idx="12"/>
          </p:nvPr>
        </p:nvSpPr>
        <p:spPr/>
        <p:txBody>
          <a:bodyPr/>
          <a:lstStyle/>
          <a:p>
            <a:fld id="{8685E88A-54E9-D840-B98F-6609ABF879DF}" type="slidenum">
              <a:rPr lang="en-US" smtClean="0"/>
              <a:t>‹#›</a:t>
            </a:fld>
            <a:endParaRPr lang="en-US"/>
          </a:p>
        </p:txBody>
      </p:sp>
    </p:spTree>
    <p:extLst>
      <p:ext uri="{BB962C8B-B14F-4D97-AF65-F5344CB8AC3E}">
        <p14:creationId xmlns:p14="http://schemas.microsoft.com/office/powerpoint/2010/main" val="3784516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DD549-A982-DA41-A1AB-DCFE73BF1C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E6C0130-384B-E044-AFAD-14C3E2D12C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0495885-7362-8649-AE0C-27517A836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5A6E6EA-48A2-2448-8D6B-2D63F3B18E37}"/>
              </a:ext>
            </a:extLst>
          </p:cNvPr>
          <p:cNvSpPr>
            <a:spLocks noGrp="1"/>
          </p:cNvSpPr>
          <p:nvPr>
            <p:ph type="dt" sz="half" idx="10"/>
          </p:nvPr>
        </p:nvSpPr>
        <p:spPr/>
        <p:txBody>
          <a:bodyPr/>
          <a:lstStyle/>
          <a:p>
            <a:fld id="{B30675E5-4A0B-2B46-839D-299A964D0AA2}" type="datetimeFigureOut">
              <a:rPr lang="en-US" smtClean="0"/>
              <a:t>5/4/23</a:t>
            </a:fld>
            <a:endParaRPr lang="en-US"/>
          </a:p>
        </p:txBody>
      </p:sp>
      <p:sp>
        <p:nvSpPr>
          <p:cNvPr id="6" name="Footer Placeholder 5">
            <a:extLst>
              <a:ext uri="{FF2B5EF4-FFF2-40B4-BE49-F238E27FC236}">
                <a16:creationId xmlns:a16="http://schemas.microsoft.com/office/drawing/2014/main" id="{73B1ACDC-A859-A94C-BC2B-06A3B86ED7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758B16-18ED-644B-9DFD-110B07AF995B}"/>
              </a:ext>
            </a:extLst>
          </p:cNvPr>
          <p:cNvSpPr>
            <a:spLocks noGrp="1"/>
          </p:cNvSpPr>
          <p:nvPr>
            <p:ph type="sldNum" sz="quarter" idx="12"/>
          </p:nvPr>
        </p:nvSpPr>
        <p:spPr/>
        <p:txBody>
          <a:bodyPr/>
          <a:lstStyle/>
          <a:p>
            <a:fld id="{8685E88A-54E9-D840-B98F-6609ABF879DF}" type="slidenum">
              <a:rPr lang="en-US" smtClean="0"/>
              <a:t>‹#›</a:t>
            </a:fld>
            <a:endParaRPr lang="en-US"/>
          </a:p>
        </p:txBody>
      </p:sp>
    </p:spTree>
    <p:extLst>
      <p:ext uri="{BB962C8B-B14F-4D97-AF65-F5344CB8AC3E}">
        <p14:creationId xmlns:p14="http://schemas.microsoft.com/office/powerpoint/2010/main" val="1848487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E8999-E0E4-724A-8F22-701F2A5913E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5A01B1A-37D9-DC42-8717-1700ADEB40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E19B48-1C25-F240-A873-652B5CC667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CB21F74-0AF7-314A-86A5-3E8A833E0300}"/>
              </a:ext>
            </a:extLst>
          </p:cNvPr>
          <p:cNvSpPr>
            <a:spLocks noGrp="1"/>
          </p:cNvSpPr>
          <p:nvPr>
            <p:ph type="dt" sz="half" idx="10"/>
          </p:nvPr>
        </p:nvSpPr>
        <p:spPr/>
        <p:txBody>
          <a:bodyPr/>
          <a:lstStyle/>
          <a:p>
            <a:fld id="{B30675E5-4A0B-2B46-839D-299A964D0AA2}" type="datetimeFigureOut">
              <a:rPr lang="en-US" smtClean="0"/>
              <a:t>5/4/23</a:t>
            </a:fld>
            <a:endParaRPr lang="en-US"/>
          </a:p>
        </p:txBody>
      </p:sp>
      <p:sp>
        <p:nvSpPr>
          <p:cNvPr id="6" name="Footer Placeholder 5">
            <a:extLst>
              <a:ext uri="{FF2B5EF4-FFF2-40B4-BE49-F238E27FC236}">
                <a16:creationId xmlns:a16="http://schemas.microsoft.com/office/drawing/2014/main" id="{E3665581-80C4-F049-86FA-F54CE0C6E8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39BB42-B485-BC49-AAA9-D383F3AFE093}"/>
              </a:ext>
            </a:extLst>
          </p:cNvPr>
          <p:cNvSpPr>
            <a:spLocks noGrp="1"/>
          </p:cNvSpPr>
          <p:nvPr>
            <p:ph type="sldNum" sz="quarter" idx="12"/>
          </p:nvPr>
        </p:nvSpPr>
        <p:spPr/>
        <p:txBody>
          <a:bodyPr/>
          <a:lstStyle/>
          <a:p>
            <a:fld id="{8685E88A-54E9-D840-B98F-6609ABF879DF}" type="slidenum">
              <a:rPr lang="en-US" smtClean="0"/>
              <a:t>‹#›</a:t>
            </a:fld>
            <a:endParaRPr lang="en-US"/>
          </a:p>
        </p:txBody>
      </p:sp>
    </p:spTree>
    <p:extLst>
      <p:ext uri="{BB962C8B-B14F-4D97-AF65-F5344CB8AC3E}">
        <p14:creationId xmlns:p14="http://schemas.microsoft.com/office/powerpoint/2010/main" val="61345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235F5-7B86-CA48-BB1A-3EAC15468F63}"/>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5A94AC6-4B55-2C4E-9B3E-610A9F338FC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D4C77DF-B740-D94F-AE77-77190FB8B4A7}"/>
              </a:ext>
            </a:extLst>
          </p:cNvPr>
          <p:cNvSpPr>
            <a:spLocks noGrp="1"/>
          </p:cNvSpPr>
          <p:nvPr>
            <p:ph type="dt" sz="half" idx="10"/>
          </p:nvPr>
        </p:nvSpPr>
        <p:spPr/>
        <p:txBody>
          <a:bodyPr/>
          <a:lstStyle/>
          <a:p>
            <a:fld id="{B30675E5-4A0B-2B46-839D-299A964D0AA2}" type="datetimeFigureOut">
              <a:rPr lang="en-US" smtClean="0"/>
              <a:t>5/4/23</a:t>
            </a:fld>
            <a:endParaRPr lang="en-US"/>
          </a:p>
        </p:txBody>
      </p:sp>
      <p:sp>
        <p:nvSpPr>
          <p:cNvPr id="5" name="Footer Placeholder 4">
            <a:extLst>
              <a:ext uri="{FF2B5EF4-FFF2-40B4-BE49-F238E27FC236}">
                <a16:creationId xmlns:a16="http://schemas.microsoft.com/office/drawing/2014/main" id="{930425AE-C1D0-C748-A69C-E461DB592C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EED5CA-52E8-ED4C-8B90-30742E9B8673}"/>
              </a:ext>
            </a:extLst>
          </p:cNvPr>
          <p:cNvSpPr>
            <a:spLocks noGrp="1"/>
          </p:cNvSpPr>
          <p:nvPr>
            <p:ph type="sldNum" sz="quarter" idx="12"/>
          </p:nvPr>
        </p:nvSpPr>
        <p:spPr/>
        <p:txBody>
          <a:bodyPr/>
          <a:lstStyle/>
          <a:p>
            <a:fld id="{8685E88A-54E9-D840-B98F-6609ABF879DF}" type="slidenum">
              <a:rPr lang="en-US" smtClean="0"/>
              <a:t>‹#›</a:t>
            </a:fld>
            <a:endParaRPr lang="en-US"/>
          </a:p>
        </p:txBody>
      </p:sp>
    </p:spTree>
    <p:extLst>
      <p:ext uri="{BB962C8B-B14F-4D97-AF65-F5344CB8AC3E}">
        <p14:creationId xmlns:p14="http://schemas.microsoft.com/office/powerpoint/2010/main" val="901946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0F5185-8D81-D842-940B-FFED09DDA62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71ABAA5-5C96-9A4E-9B4B-290F9FD540E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F9578C8-58ED-4943-A7E3-9F71F401122B}"/>
              </a:ext>
            </a:extLst>
          </p:cNvPr>
          <p:cNvSpPr>
            <a:spLocks noGrp="1"/>
          </p:cNvSpPr>
          <p:nvPr>
            <p:ph type="dt" sz="half" idx="10"/>
          </p:nvPr>
        </p:nvSpPr>
        <p:spPr/>
        <p:txBody>
          <a:bodyPr/>
          <a:lstStyle/>
          <a:p>
            <a:fld id="{B30675E5-4A0B-2B46-839D-299A964D0AA2}" type="datetimeFigureOut">
              <a:rPr lang="en-US" smtClean="0"/>
              <a:t>5/4/23</a:t>
            </a:fld>
            <a:endParaRPr lang="en-US"/>
          </a:p>
        </p:txBody>
      </p:sp>
      <p:sp>
        <p:nvSpPr>
          <p:cNvPr id="5" name="Footer Placeholder 4">
            <a:extLst>
              <a:ext uri="{FF2B5EF4-FFF2-40B4-BE49-F238E27FC236}">
                <a16:creationId xmlns:a16="http://schemas.microsoft.com/office/drawing/2014/main" id="{F75EF43B-1AF6-FD45-A21C-F74A32B9F8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3A3663-CE90-324E-9C9A-4B0F9A495875}"/>
              </a:ext>
            </a:extLst>
          </p:cNvPr>
          <p:cNvSpPr>
            <a:spLocks noGrp="1"/>
          </p:cNvSpPr>
          <p:nvPr>
            <p:ph type="sldNum" sz="quarter" idx="12"/>
          </p:nvPr>
        </p:nvSpPr>
        <p:spPr/>
        <p:txBody>
          <a:bodyPr/>
          <a:lstStyle/>
          <a:p>
            <a:fld id="{8685E88A-54E9-D840-B98F-6609ABF879DF}" type="slidenum">
              <a:rPr lang="en-US" smtClean="0"/>
              <a:t>‹#›</a:t>
            </a:fld>
            <a:endParaRPr lang="en-US"/>
          </a:p>
        </p:txBody>
      </p:sp>
    </p:spTree>
    <p:extLst>
      <p:ext uri="{BB962C8B-B14F-4D97-AF65-F5344CB8AC3E}">
        <p14:creationId xmlns:p14="http://schemas.microsoft.com/office/powerpoint/2010/main" val="3502051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9EE531-B17C-0248-9164-3A535F8A4D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3DD50A5-CDBD-934D-9C00-AE383669F4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E28F787-0566-B940-9F86-BFF2352EF4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0675E5-4A0B-2B46-839D-299A964D0AA2}" type="datetimeFigureOut">
              <a:rPr lang="en-US" smtClean="0"/>
              <a:t>5/4/23</a:t>
            </a:fld>
            <a:endParaRPr lang="en-US"/>
          </a:p>
        </p:txBody>
      </p:sp>
      <p:sp>
        <p:nvSpPr>
          <p:cNvPr id="5" name="Footer Placeholder 4">
            <a:extLst>
              <a:ext uri="{FF2B5EF4-FFF2-40B4-BE49-F238E27FC236}">
                <a16:creationId xmlns:a16="http://schemas.microsoft.com/office/drawing/2014/main" id="{4AC1F0B9-70BC-4B43-B9D5-48694C5182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33623A8-D994-AA4E-A95E-41E9673123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85E88A-54E9-D840-B98F-6609ABF879DF}" type="slidenum">
              <a:rPr lang="en-US" smtClean="0"/>
              <a:t>‹#›</a:t>
            </a:fld>
            <a:endParaRPr lang="en-US"/>
          </a:p>
        </p:txBody>
      </p:sp>
    </p:spTree>
    <p:extLst>
      <p:ext uri="{BB962C8B-B14F-4D97-AF65-F5344CB8AC3E}">
        <p14:creationId xmlns:p14="http://schemas.microsoft.com/office/powerpoint/2010/main" val="2722520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8EEF2-692B-D14F-9DF4-8DFF0BE6ADE3}"/>
              </a:ext>
            </a:extLst>
          </p:cNvPr>
          <p:cNvSpPr>
            <a:spLocks noGrp="1"/>
          </p:cNvSpPr>
          <p:nvPr>
            <p:ph type="ctrTitle"/>
          </p:nvPr>
        </p:nvSpPr>
        <p:spPr/>
        <p:txBody>
          <a:bodyPr/>
          <a:lstStyle/>
          <a:p>
            <a:r>
              <a:rPr lang="en-US" dirty="0">
                <a:solidFill>
                  <a:schemeClr val="accent1"/>
                </a:solidFill>
              </a:rPr>
              <a:t>Breakeven Analysis</a:t>
            </a:r>
          </a:p>
        </p:txBody>
      </p:sp>
      <p:sp>
        <p:nvSpPr>
          <p:cNvPr id="3" name="Subtitle 2">
            <a:extLst>
              <a:ext uri="{FF2B5EF4-FFF2-40B4-BE49-F238E27FC236}">
                <a16:creationId xmlns:a16="http://schemas.microsoft.com/office/drawing/2014/main" id="{991E0784-BC9C-0F45-8FBD-5151FE7B19CF}"/>
              </a:ext>
            </a:extLst>
          </p:cNvPr>
          <p:cNvSpPr>
            <a:spLocks noGrp="1"/>
          </p:cNvSpPr>
          <p:nvPr>
            <p:ph type="subTitle" idx="1"/>
          </p:nvPr>
        </p:nvSpPr>
        <p:spPr/>
        <p:txBody>
          <a:bodyPr/>
          <a:lstStyle/>
          <a:p>
            <a:r>
              <a:rPr lang="en-US" dirty="0"/>
              <a:t>Notes</a:t>
            </a:r>
          </a:p>
        </p:txBody>
      </p:sp>
      <p:pic>
        <p:nvPicPr>
          <p:cNvPr id="4" name="Picture 3">
            <a:extLst>
              <a:ext uri="{FF2B5EF4-FFF2-40B4-BE49-F238E27FC236}">
                <a16:creationId xmlns:a16="http://schemas.microsoft.com/office/drawing/2014/main" id="{F292EBA3-34A5-3F4E-94D4-F02440929CD8}"/>
              </a:ext>
            </a:extLst>
          </p:cNvPr>
          <p:cNvPicPr>
            <a:picLocks noChangeAspect="1"/>
          </p:cNvPicPr>
          <p:nvPr/>
        </p:nvPicPr>
        <p:blipFill>
          <a:blip r:embed="rId2"/>
          <a:stretch>
            <a:fillRect/>
          </a:stretch>
        </p:blipFill>
        <p:spPr>
          <a:xfrm>
            <a:off x="9642764" y="95378"/>
            <a:ext cx="2408711" cy="547186"/>
          </a:xfrm>
          <a:prstGeom prst="rect">
            <a:avLst/>
          </a:prstGeom>
        </p:spPr>
      </p:pic>
      <p:sp>
        <p:nvSpPr>
          <p:cNvPr id="5" name="Footer Placeholder 4">
            <a:extLst>
              <a:ext uri="{FF2B5EF4-FFF2-40B4-BE49-F238E27FC236}">
                <a16:creationId xmlns:a16="http://schemas.microsoft.com/office/drawing/2014/main" id="{C25941D9-E003-5141-AABE-0300E3FA1160}"/>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2017812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ED815-C3A4-0442-A4B5-2DA2ADB1255C}"/>
              </a:ext>
            </a:extLst>
          </p:cNvPr>
          <p:cNvSpPr>
            <a:spLocks noGrp="1"/>
          </p:cNvSpPr>
          <p:nvPr>
            <p:ph type="title"/>
          </p:nvPr>
        </p:nvSpPr>
        <p:spPr/>
        <p:txBody>
          <a:bodyPr/>
          <a:lstStyle/>
          <a:p>
            <a:r>
              <a:rPr lang="en-US" dirty="0">
                <a:solidFill>
                  <a:schemeClr val="accent1"/>
                </a:solidFill>
              </a:rPr>
              <a:t>Step 1: Understanding Market</a:t>
            </a:r>
          </a:p>
        </p:txBody>
      </p:sp>
      <p:sp>
        <p:nvSpPr>
          <p:cNvPr id="3" name="Content Placeholder 2">
            <a:extLst>
              <a:ext uri="{FF2B5EF4-FFF2-40B4-BE49-F238E27FC236}">
                <a16:creationId xmlns:a16="http://schemas.microsoft.com/office/drawing/2014/main" id="{F5A1C249-175C-B442-B5B9-70656DB1DFC1}"/>
              </a:ext>
            </a:extLst>
          </p:cNvPr>
          <p:cNvSpPr>
            <a:spLocks noGrp="1"/>
          </p:cNvSpPr>
          <p:nvPr>
            <p:ph idx="1"/>
          </p:nvPr>
        </p:nvSpPr>
        <p:spPr>
          <a:xfrm>
            <a:off x="838200" y="1690688"/>
            <a:ext cx="10515600" cy="4848307"/>
          </a:xfrm>
        </p:spPr>
        <p:txBody>
          <a:bodyPr>
            <a:normAutofit/>
          </a:bodyPr>
          <a:lstStyle/>
          <a:p>
            <a:pPr>
              <a:lnSpc>
                <a:spcPct val="150000"/>
              </a:lnSpc>
            </a:pPr>
            <a:r>
              <a:rPr lang="en-US" sz="1900" dirty="0"/>
              <a:t>Market represents the place to sell the product where the consumer, industry practice and association of distributor matters</a:t>
            </a:r>
          </a:p>
          <a:p>
            <a:pPr>
              <a:lnSpc>
                <a:spcPct val="150000"/>
              </a:lnSpc>
            </a:pPr>
            <a:r>
              <a:rPr lang="en-US" sz="1900" dirty="0"/>
              <a:t>Margins offered to distributor and selling support given to distributors will affect the product demand in the market</a:t>
            </a:r>
          </a:p>
          <a:p>
            <a:pPr>
              <a:lnSpc>
                <a:spcPct val="150000"/>
              </a:lnSpc>
            </a:pPr>
            <a:r>
              <a:rPr lang="en-US" sz="1900" dirty="0"/>
              <a:t>Sensitivity of these parameters with respect to demand is given in the graph at decision making area.</a:t>
            </a:r>
          </a:p>
          <a:p>
            <a:pPr>
              <a:lnSpc>
                <a:spcPct val="150000"/>
              </a:lnSpc>
            </a:pPr>
            <a:r>
              <a:rPr lang="en-US" sz="1900" dirty="0"/>
              <a:t>The sensitivity is calculated by taking a difference of (Price offered by company – Industry wide price)/(Industry wide price). The similar practice is followed for selling effort. </a:t>
            </a:r>
          </a:p>
          <a:p>
            <a:pPr>
              <a:lnSpc>
                <a:spcPct val="150000"/>
              </a:lnSpc>
            </a:pPr>
            <a:r>
              <a:rPr lang="en-US" sz="1900" dirty="0"/>
              <a:t>If Actual sales &gt; Projected Sales, there will be opportunity loss while in opposite case there will be left out inventory.</a:t>
            </a:r>
          </a:p>
          <a:p>
            <a:endParaRPr lang="en-US" dirty="0"/>
          </a:p>
        </p:txBody>
      </p:sp>
      <p:pic>
        <p:nvPicPr>
          <p:cNvPr id="4" name="Picture 3">
            <a:extLst>
              <a:ext uri="{FF2B5EF4-FFF2-40B4-BE49-F238E27FC236}">
                <a16:creationId xmlns:a16="http://schemas.microsoft.com/office/drawing/2014/main" id="{496E7E04-C6A8-7142-8AFA-C88D8C5EEC0B}"/>
              </a:ext>
            </a:extLst>
          </p:cNvPr>
          <p:cNvPicPr>
            <a:picLocks noChangeAspect="1"/>
          </p:cNvPicPr>
          <p:nvPr/>
        </p:nvPicPr>
        <p:blipFill>
          <a:blip r:embed="rId2"/>
          <a:stretch>
            <a:fillRect/>
          </a:stretch>
        </p:blipFill>
        <p:spPr>
          <a:xfrm>
            <a:off x="9642764" y="95378"/>
            <a:ext cx="2408711" cy="547186"/>
          </a:xfrm>
          <a:prstGeom prst="rect">
            <a:avLst/>
          </a:prstGeom>
        </p:spPr>
      </p:pic>
      <p:sp>
        <p:nvSpPr>
          <p:cNvPr id="5" name="Footer Placeholder 4">
            <a:extLst>
              <a:ext uri="{FF2B5EF4-FFF2-40B4-BE49-F238E27FC236}">
                <a16:creationId xmlns:a16="http://schemas.microsoft.com/office/drawing/2014/main" id="{C95D42DB-DBF4-C441-AD2E-FA3BA331A9EA}"/>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3570635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77490-473B-5648-9B36-3D73EF2FDEB9}"/>
              </a:ext>
            </a:extLst>
          </p:cNvPr>
          <p:cNvSpPr>
            <a:spLocks noGrp="1"/>
          </p:cNvSpPr>
          <p:nvPr>
            <p:ph type="title"/>
          </p:nvPr>
        </p:nvSpPr>
        <p:spPr/>
        <p:txBody>
          <a:bodyPr/>
          <a:lstStyle/>
          <a:p>
            <a:r>
              <a:rPr lang="en-US" dirty="0">
                <a:solidFill>
                  <a:schemeClr val="accent1"/>
                </a:solidFill>
              </a:rPr>
              <a:t>Step 2: Understanding Production</a:t>
            </a:r>
          </a:p>
        </p:txBody>
      </p:sp>
      <p:sp>
        <p:nvSpPr>
          <p:cNvPr id="3" name="Content Placeholder 2">
            <a:extLst>
              <a:ext uri="{FF2B5EF4-FFF2-40B4-BE49-F238E27FC236}">
                <a16:creationId xmlns:a16="http://schemas.microsoft.com/office/drawing/2014/main" id="{955B82DD-9ECF-9242-95B3-4C0F9E83E22E}"/>
              </a:ext>
            </a:extLst>
          </p:cNvPr>
          <p:cNvSpPr>
            <a:spLocks noGrp="1"/>
          </p:cNvSpPr>
          <p:nvPr>
            <p:ph idx="1"/>
          </p:nvPr>
        </p:nvSpPr>
        <p:spPr>
          <a:xfrm>
            <a:off x="838200" y="1552492"/>
            <a:ext cx="10515600" cy="5091753"/>
          </a:xfrm>
        </p:spPr>
        <p:txBody>
          <a:bodyPr>
            <a:noAutofit/>
          </a:bodyPr>
          <a:lstStyle/>
          <a:p>
            <a:pPr>
              <a:lnSpc>
                <a:spcPct val="170000"/>
              </a:lnSpc>
            </a:pPr>
            <a:r>
              <a:rPr lang="en-US" sz="1800" dirty="0"/>
              <a:t>As per the sales target set by individual production has to be decided in terms of machine cost, capacity and life time.</a:t>
            </a:r>
          </a:p>
          <a:p>
            <a:pPr>
              <a:lnSpc>
                <a:spcPct val="170000"/>
              </a:lnSpc>
            </a:pPr>
            <a:r>
              <a:rPr lang="en-US" sz="1800" dirty="0"/>
              <a:t>Machine cost and life time will be used to determine fixed cost by directly depreciating the value of machine according to life time by straight line depreciation.</a:t>
            </a:r>
          </a:p>
          <a:p>
            <a:pPr>
              <a:lnSpc>
                <a:spcPct val="170000"/>
              </a:lnSpc>
            </a:pPr>
            <a:r>
              <a:rPr lang="en-US" sz="1800" dirty="0"/>
              <a:t>A machine can be changed at any point of time but this will make the previous year machine as redundant and would make top management dubious about your long term thinking.</a:t>
            </a:r>
          </a:p>
          <a:p>
            <a:pPr>
              <a:lnSpc>
                <a:spcPct val="170000"/>
              </a:lnSpc>
            </a:pPr>
            <a:r>
              <a:rPr lang="en-US" sz="1800" dirty="0"/>
              <a:t>The employee wages and production efficiency is given in parameter if the number of employees or wages is less according to industry practice it will lead to increase in variable cost.</a:t>
            </a:r>
          </a:p>
          <a:p>
            <a:pPr>
              <a:lnSpc>
                <a:spcPct val="170000"/>
              </a:lnSpc>
            </a:pPr>
            <a:r>
              <a:rPr lang="en-US" sz="1800" dirty="0"/>
              <a:t>Higher wages and number of employees will help reduce cost but too high a number will make employees redundant.</a:t>
            </a:r>
          </a:p>
        </p:txBody>
      </p:sp>
      <p:pic>
        <p:nvPicPr>
          <p:cNvPr id="4" name="Picture 3">
            <a:extLst>
              <a:ext uri="{FF2B5EF4-FFF2-40B4-BE49-F238E27FC236}">
                <a16:creationId xmlns:a16="http://schemas.microsoft.com/office/drawing/2014/main" id="{26B4215F-71F9-624D-B1F9-57E804727E71}"/>
              </a:ext>
            </a:extLst>
          </p:cNvPr>
          <p:cNvPicPr>
            <a:picLocks noChangeAspect="1"/>
          </p:cNvPicPr>
          <p:nvPr/>
        </p:nvPicPr>
        <p:blipFill>
          <a:blip r:embed="rId2"/>
          <a:stretch>
            <a:fillRect/>
          </a:stretch>
        </p:blipFill>
        <p:spPr>
          <a:xfrm>
            <a:off x="9642764" y="95378"/>
            <a:ext cx="2408711" cy="547186"/>
          </a:xfrm>
          <a:prstGeom prst="rect">
            <a:avLst/>
          </a:prstGeom>
        </p:spPr>
      </p:pic>
      <p:sp>
        <p:nvSpPr>
          <p:cNvPr id="5" name="Footer Placeholder 4">
            <a:extLst>
              <a:ext uri="{FF2B5EF4-FFF2-40B4-BE49-F238E27FC236}">
                <a16:creationId xmlns:a16="http://schemas.microsoft.com/office/drawing/2014/main" id="{908717D3-7B1C-3741-BA02-BC3FE247B98C}"/>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816603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B5E7F-AB63-DE4D-AB7A-43446F828752}"/>
              </a:ext>
            </a:extLst>
          </p:cNvPr>
          <p:cNvSpPr>
            <a:spLocks noGrp="1"/>
          </p:cNvSpPr>
          <p:nvPr>
            <p:ph type="title"/>
          </p:nvPr>
        </p:nvSpPr>
        <p:spPr/>
        <p:txBody>
          <a:bodyPr/>
          <a:lstStyle/>
          <a:p>
            <a:r>
              <a:rPr lang="en-US" dirty="0">
                <a:solidFill>
                  <a:schemeClr val="accent1"/>
                </a:solidFill>
              </a:rPr>
              <a:t>CVP Analysis</a:t>
            </a:r>
          </a:p>
        </p:txBody>
      </p:sp>
      <p:sp>
        <p:nvSpPr>
          <p:cNvPr id="3" name="Content Placeholder 2">
            <a:extLst>
              <a:ext uri="{FF2B5EF4-FFF2-40B4-BE49-F238E27FC236}">
                <a16:creationId xmlns:a16="http://schemas.microsoft.com/office/drawing/2014/main" id="{3BE8C0DD-DBA9-944A-95EB-95CB27BC100E}"/>
              </a:ext>
            </a:extLst>
          </p:cNvPr>
          <p:cNvSpPr>
            <a:spLocks noGrp="1"/>
          </p:cNvSpPr>
          <p:nvPr>
            <p:ph idx="1"/>
          </p:nvPr>
        </p:nvSpPr>
        <p:spPr>
          <a:xfrm>
            <a:off x="838200" y="1825625"/>
            <a:ext cx="6053254" cy="4351338"/>
          </a:xfrm>
        </p:spPr>
        <p:txBody>
          <a:bodyPr>
            <a:normAutofit/>
          </a:bodyPr>
          <a:lstStyle/>
          <a:p>
            <a:pPr>
              <a:lnSpc>
                <a:spcPct val="150000"/>
              </a:lnSpc>
            </a:pPr>
            <a:r>
              <a:rPr lang="en-IN" sz="1800" dirty="0"/>
              <a:t>Cost-volume-profit (CVP) analysis is a method of cost accounting that looks at the impact that varying levels of costs and volume have on operating profit.</a:t>
            </a:r>
          </a:p>
          <a:p>
            <a:pPr>
              <a:lnSpc>
                <a:spcPct val="150000"/>
              </a:lnSpc>
            </a:pPr>
            <a:r>
              <a:rPr lang="en-IN" sz="1800" dirty="0"/>
              <a:t>Cost-volume-price (CVP) analysis is a way to find out how changes in variable and fixed costs affect a firm's profit.</a:t>
            </a:r>
          </a:p>
          <a:p>
            <a:pPr>
              <a:lnSpc>
                <a:spcPct val="150000"/>
              </a:lnSpc>
            </a:pPr>
            <a:r>
              <a:rPr lang="en-IN" sz="1800" dirty="0"/>
              <a:t>Companies can use CVP to see how many units they need to sell to break even (cover all costs) or reach a certain minimum profit margin.</a:t>
            </a:r>
          </a:p>
          <a:p>
            <a:pPr marL="0" indent="0">
              <a:buNone/>
            </a:pPr>
            <a:endParaRPr lang="en-US" dirty="0"/>
          </a:p>
        </p:txBody>
      </p:sp>
      <p:graphicFrame>
        <p:nvGraphicFramePr>
          <p:cNvPr id="4" name="Table 4">
            <a:extLst>
              <a:ext uri="{FF2B5EF4-FFF2-40B4-BE49-F238E27FC236}">
                <a16:creationId xmlns:a16="http://schemas.microsoft.com/office/drawing/2014/main" id="{A1FA511D-BD11-4E48-810B-6150176B86A3}"/>
              </a:ext>
            </a:extLst>
          </p:cNvPr>
          <p:cNvGraphicFramePr>
            <a:graphicFrameLocks noGrp="1"/>
          </p:cNvGraphicFramePr>
          <p:nvPr>
            <p:extLst>
              <p:ext uri="{D42A27DB-BD31-4B8C-83A1-F6EECF244321}">
                <p14:modId xmlns:p14="http://schemas.microsoft.com/office/powerpoint/2010/main" val="861379505"/>
              </p:ext>
            </p:extLst>
          </p:nvPr>
        </p:nvGraphicFramePr>
        <p:xfrm>
          <a:off x="8344948" y="2463348"/>
          <a:ext cx="2825097" cy="2169652"/>
        </p:xfrm>
        <a:graphic>
          <a:graphicData uri="http://schemas.openxmlformats.org/drawingml/2006/table">
            <a:tbl>
              <a:tblPr firstRow="1" bandRow="1">
                <a:tableStyleId>{74C1A8A3-306A-4EB7-A6B1-4F7E0EB9C5D6}</a:tableStyleId>
              </a:tblPr>
              <a:tblGrid>
                <a:gridCol w="2825097">
                  <a:extLst>
                    <a:ext uri="{9D8B030D-6E8A-4147-A177-3AD203B41FA5}">
                      <a16:colId xmlns:a16="http://schemas.microsoft.com/office/drawing/2014/main" val="2403298987"/>
                    </a:ext>
                  </a:extLst>
                </a:gridCol>
              </a:tblGrid>
              <a:tr h="542413">
                <a:tc>
                  <a:txBody>
                    <a:bodyPr/>
                    <a:lstStyle/>
                    <a:p>
                      <a:r>
                        <a:rPr lang="en-US" sz="1600" dirty="0"/>
                        <a:t>Parameter</a:t>
                      </a:r>
                    </a:p>
                  </a:txBody>
                  <a:tcPr marL="68580" marR="68580" marT="34290" marB="34290"/>
                </a:tc>
                <a:extLst>
                  <a:ext uri="{0D108BD9-81ED-4DB2-BD59-A6C34878D82A}">
                    <a16:rowId xmlns:a16="http://schemas.microsoft.com/office/drawing/2014/main" val="4015305213"/>
                  </a:ext>
                </a:extLst>
              </a:tr>
              <a:tr h="542413">
                <a:tc>
                  <a:txBody>
                    <a:bodyPr/>
                    <a:lstStyle/>
                    <a:p>
                      <a:r>
                        <a:rPr lang="en-US" sz="1600" dirty="0"/>
                        <a:t>Selling Price/unit</a:t>
                      </a:r>
                    </a:p>
                  </a:txBody>
                  <a:tcPr marL="68580" marR="68580" marT="34290" marB="34290"/>
                </a:tc>
                <a:extLst>
                  <a:ext uri="{0D108BD9-81ED-4DB2-BD59-A6C34878D82A}">
                    <a16:rowId xmlns:a16="http://schemas.microsoft.com/office/drawing/2014/main" val="1497368146"/>
                  </a:ext>
                </a:extLst>
              </a:tr>
              <a:tr h="542413">
                <a:tc>
                  <a:txBody>
                    <a:bodyPr/>
                    <a:lstStyle/>
                    <a:p>
                      <a:r>
                        <a:rPr lang="en-US" sz="1600" dirty="0"/>
                        <a:t>-Variable Cost/unit</a:t>
                      </a:r>
                    </a:p>
                  </a:txBody>
                  <a:tcPr marL="68580" marR="68580" marT="34290" marB="34290"/>
                </a:tc>
                <a:extLst>
                  <a:ext uri="{0D108BD9-81ED-4DB2-BD59-A6C34878D82A}">
                    <a16:rowId xmlns:a16="http://schemas.microsoft.com/office/drawing/2014/main" val="2372033920"/>
                  </a:ext>
                </a:extLst>
              </a:tr>
              <a:tr h="542413">
                <a:tc>
                  <a:txBody>
                    <a:bodyPr/>
                    <a:lstStyle/>
                    <a:p>
                      <a:r>
                        <a:rPr lang="en-US" sz="1600" dirty="0"/>
                        <a:t>=Contribution/unit</a:t>
                      </a:r>
                    </a:p>
                  </a:txBody>
                  <a:tcPr marL="68580" marR="68580" marT="34290" marB="34290"/>
                </a:tc>
                <a:extLst>
                  <a:ext uri="{0D108BD9-81ED-4DB2-BD59-A6C34878D82A}">
                    <a16:rowId xmlns:a16="http://schemas.microsoft.com/office/drawing/2014/main" val="3260372119"/>
                  </a:ext>
                </a:extLst>
              </a:tr>
            </a:tbl>
          </a:graphicData>
        </a:graphic>
      </p:graphicFrame>
      <p:pic>
        <p:nvPicPr>
          <p:cNvPr id="5" name="Picture 4">
            <a:extLst>
              <a:ext uri="{FF2B5EF4-FFF2-40B4-BE49-F238E27FC236}">
                <a16:creationId xmlns:a16="http://schemas.microsoft.com/office/drawing/2014/main" id="{679541EF-94B3-E341-871B-7DF3D0DEE6E3}"/>
              </a:ext>
            </a:extLst>
          </p:cNvPr>
          <p:cNvPicPr>
            <a:picLocks noChangeAspect="1"/>
          </p:cNvPicPr>
          <p:nvPr/>
        </p:nvPicPr>
        <p:blipFill>
          <a:blip r:embed="rId2"/>
          <a:stretch>
            <a:fillRect/>
          </a:stretch>
        </p:blipFill>
        <p:spPr>
          <a:xfrm>
            <a:off x="9642764" y="95378"/>
            <a:ext cx="2408711" cy="547186"/>
          </a:xfrm>
          <a:prstGeom prst="rect">
            <a:avLst/>
          </a:prstGeom>
        </p:spPr>
      </p:pic>
      <p:sp>
        <p:nvSpPr>
          <p:cNvPr id="6" name="Footer Placeholder 4">
            <a:extLst>
              <a:ext uri="{FF2B5EF4-FFF2-40B4-BE49-F238E27FC236}">
                <a16:creationId xmlns:a16="http://schemas.microsoft.com/office/drawing/2014/main" id="{848C4880-B512-744E-A590-41665B77CF12}"/>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17647597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171EB-D251-474C-B3C2-DFBB9E17C8E9}"/>
              </a:ext>
            </a:extLst>
          </p:cNvPr>
          <p:cNvSpPr>
            <a:spLocks noGrp="1"/>
          </p:cNvSpPr>
          <p:nvPr>
            <p:ph type="title"/>
          </p:nvPr>
        </p:nvSpPr>
        <p:spPr/>
        <p:txBody>
          <a:bodyPr/>
          <a:lstStyle/>
          <a:p>
            <a:r>
              <a:rPr lang="en-US" dirty="0">
                <a:solidFill>
                  <a:schemeClr val="accent1"/>
                </a:solidFill>
              </a:rPr>
              <a:t>Profit Equation</a:t>
            </a:r>
          </a:p>
        </p:txBody>
      </p:sp>
      <p:sp>
        <p:nvSpPr>
          <p:cNvPr id="3" name="Content Placeholder 2">
            <a:extLst>
              <a:ext uri="{FF2B5EF4-FFF2-40B4-BE49-F238E27FC236}">
                <a16:creationId xmlns:a16="http://schemas.microsoft.com/office/drawing/2014/main" id="{81EA68B4-2D7E-A440-9F7F-CF59A6966FD3}"/>
              </a:ext>
            </a:extLst>
          </p:cNvPr>
          <p:cNvSpPr>
            <a:spLocks noGrp="1"/>
          </p:cNvSpPr>
          <p:nvPr>
            <p:ph idx="1"/>
          </p:nvPr>
        </p:nvSpPr>
        <p:spPr>
          <a:xfrm>
            <a:off x="838200" y="1825625"/>
            <a:ext cx="10515600" cy="649946"/>
          </a:xfrm>
        </p:spPr>
        <p:txBody>
          <a:bodyPr>
            <a:normAutofit/>
          </a:bodyPr>
          <a:lstStyle/>
          <a:p>
            <a:pPr marL="0" indent="0">
              <a:buNone/>
            </a:pPr>
            <a:r>
              <a:rPr lang="en-IN" sz="1800" dirty="0"/>
              <a:t>A financial gain, especially the difference between the amount earned and the amount spent in buying, operating, or producing something.</a:t>
            </a:r>
            <a:endParaRPr lang="en-US" sz="1800" dirty="0"/>
          </a:p>
        </p:txBody>
      </p:sp>
      <p:sp>
        <p:nvSpPr>
          <p:cNvPr id="4" name="TextBox 3">
            <a:extLst>
              <a:ext uri="{FF2B5EF4-FFF2-40B4-BE49-F238E27FC236}">
                <a16:creationId xmlns:a16="http://schemas.microsoft.com/office/drawing/2014/main" id="{C083130D-ECC7-5740-8A0F-6587A719A092}"/>
              </a:ext>
            </a:extLst>
          </p:cNvPr>
          <p:cNvSpPr txBox="1"/>
          <p:nvPr/>
        </p:nvSpPr>
        <p:spPr>
          <a:xfrm>
            <a:off x="4181707" y="2475571"/>
            <a:ext cx="3222703" cy="369332"/>
          </a:xfrm>
          <a:prstGeom prst="rect">
            <a:avLst/>
          </a:prstGeom>
          <a:noFill/>
        </p:spPr>
        <p:txBody>
          <a:bodyPr wrap="square" rtlCol="0">
            <a:spAutoFit/>
          </a:bodyPr>
          <a:lstStyle/>
          <a:p>
            <a:pPr algn="ctr"/>
            <a:r>
              <a:rPr lang="en-US" dirty="0"/>
              <a:t>Income Statement</a:t>
            </a:r>
          </a:p>
        </p:txBody>
      </p:sp>
      <p:sp>
        <p:nvSpPr>
          <p:cNvPr id="7" name="Rounded Rectangle 6">
            <a:extLst>
              <a:ext uri="{FF2B5EF4-FFF2-40B4-BE49-F238E27FC236}">
                <a16:creationId xmlns:a16="http://schemas.microsoft.com/office/drawing/2014/main" id="{3724D52F-507E-2B44-8B7F-8322A954BAC6}"/>
              </a:ext>
            </a:extLst>
          </p:cNvPr>
          <p:cNvSpPr/>
          <p:nvPr/>
        </p:nvSpPr>
        <p:spPr>
          <a:xfrm>
            <a:off x="3274741" y="2844903"/>
            <a:ext cx="5642518" cy="58409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Profit(Pr) = Total Revenue(TR) – Total Cost(TC)</a:t>
            </a:r>
          </a:p>
        </p:txBody>
      </p:sp>
      <p:sp>
        <p:nvSpPr>
          <p:cNvPr id="8" name="Rounded Rectangle 7">
            <a:extLst>
              <a:ext uri="{FF2B5EF4-FFF2-40B4-BE49-F238E27FC236}">
                <a16:creationId xmlns:a16="http://schemas.microsoft.com/office/drawing/2014/main" id="{4F3570E1-410B-BB4B-B650-A57648E0B0EB}"/>
              </a:ext>
            </a:extLst>
          </p:cNvPr>
          <p:cNvSpPr/>
          <p:nvPr/>
        </p:nvSpPr>
        <p:spPr>
          <a:xfrm>
            <a:off x="916260" y="3990020"/>
            <a:ext cx="4395438" cy="108378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Total Revenue(TR) = </a:t>
            </a:r>
          </a:p>
          <a:p>
            <a:pPr algn="ctr"/>
            <a:r>
              <a:rPr lang="en-US" dirty="0"/>
              <a:t>Average selling price of unit(P) </a:t>
            </a:r>
          </a:p>
          <a:p>
            <a:pPr algn="ctr"/>
            <a:r>
              <a:rPr lang="en-US" dirty="0"/>
              <a:t> </a:t>
            </a:r>
          </a:p>
          <a:p>
            <a:pPr algn="ctr"/>
            <a:r>
              <a:rPr lang="en-US" dirty="0"/>
              <a:t>Units of output produced and sold(X)</a:t>
            </a:r>
          </a:p>
        </p:txBody>
      </p:sp>
      <p:sp>
        <p:nvSpPr>
          <p:cNvPr id="9" name="Rounded Rectangle 8">
            <a:extLst>
              <a:ext uri="{FF2B5EF4-FFF2-40B4-BE49-F238E27FC236}">
                <a16:creationId xmlns:a16="http://schemas.microsoft.com/office/drawing/2014/main" id="{4706AF83-E7F9-D044-AA17-BE4CA5BBF8C8}"/>
              </a:ext>
            </a:extLst>
          </p:cNvPr>
          <p:cNvSpPr/>
          <p:nvPr/>
        </p:nvSpPr>
        <p:spPr>
          <a:xfrm>
            <a:off x="7146073" y="3990019"/>
            <a:ext cx="4395439" cy="108378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Total Cost(TC) = </a:t>
            </a:r>
          </a:p>
          <a:p>
            <a:pPr algn="ctr"/>
            <a:r>
              <a:rPr lang="en-US" dirty="0"/>
              <a:t>[Variable cost per unit * Units of output(X)]</a:t>
            </a:r>
          </a:p>
          <a:p>
            <a:pPr algn="ctr"/>
            <a:r>
              <a:rPr lang="en-US" dirty="0"/>
              <a:t> </a:t>
            </a:r>
          </a:p>
          <a:p>
            <a:pPr algn="ctr"/>
            <a:r>
              <a:rPr lang="en-US" dirty="0"/>
              <a:t>Fixed Cost(F)</a:t>
            </a:r>
          </a:p>
        </p:txBody>
      </p:sp>
      <p:sp>
        <p:nvSpPr>
          <p:cNvPr id="10" name="Multiply 9">
            <a:extLst>
              <a:ext uri="{FF2B5EF4-FFF2-40B4-BE49-F238E27FC236}">
                <a16:creationId xmlns:a16="http://schemas.microsoft.com/office/drawing/2014/main" id="{51F4A4BA-83AD-CF46-8D79-F3128D44CAF4}"/>
              </a:ext>
            </a:extLst>
          </p:cNvPr>
          <p:cNvSpPr/>
          <p:nvPr/>
        </p:nvSpPr>
        <p:spPr>
          <a:xfrm>
            <a:off x="2817075" y="4482791"/>
            <a:ext cx="361021" cy="382601"/>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Plus 10">
            <a:extLst>
              <a:ext uri="{FF2B5EF4-FFF2-40B4-BE49-F238E27FC236}">
                <a16:creationId xmlns:a16="http://schemas.microsoft.com/office/drawing/2014/main" id="{8B6EE742-6503-484D-B9E0-3C95813E31F2}"/>
              </a:ext>
            </a:extLst>
          </p:cNvPr>
          <p:cNvSpPr/>
          <p:nvPr/>
        </p:nvSpPr>
        <p:spPr>
          <a:xfrm>
            <a:off x="9158868" y="4505093"/>
            <a:ext cx="341972" cy="326845"/>
          </a:xfrm>
          <a:prstGeom prst="mathPlus">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4" name="Curved Connector 13">
            <a:extLst>
              <a:ext uri="{FF2B5EF4-FFF2-40B4-BE49-F238E27FC236}">
                <a16:creationId xmlns:a16="http://schemas.microsoft.com/office/drawing/2014/main" id="{BA796CB6-9A37-724C-BC8F-E10DEC8E345A}"/>
              </a:ext>
            </a:extLst>
          </p:cNvPr>
          <p:cNvCxnSpPr>
            <a:stCxn id="7" idx="2"/>
            <a:endCxn id="8" idx="0"/>
          </p:cNvCxnSpPr>
          <p:nvPr/>
        </p:nvCxnSpPr>
        <p:spPr>
          <a:xfrm rot="5400000">
            <a:off x="4324480" y="2218500"/>
            <a:ext cx="561020" cy="298202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5" name="Curved Connector 14">
            <a:extLst>
              <a:ext uri="{FF2B5EF4-FFF2-40B4-BE49-F238E27FC236}">
                <a16:creationId xmlns:a16="http://schemas.microsoft.com/office/drawing/2014/main" id="{EAFD1F3F-F5FB-A84D-8A0F-30FECB6E5A44}"/>
              </a:ext>
            </a:extLst>
          </p:cNvPr>
          <p:cNvCxnSpPr>
            <a:cxnSpLocks/>
            <a:stCxn id="7" idx="2"/>
            <a:endCxn id="9" idx="0"/>
          </p:cNvCxnSpPr>
          <p:nvPr/>
        </p:nvCxnSpPr>
        <p:spPr>
          <a:xfrm rot="16200000" flipH="1">
            <a:off x="7439387" y="2085612"/>
            <a:ext cx="561019" cy="3247793"/>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9" name="Rounded Rectangle 18">
            <a:extLst>
              <a:ext uri="{FF2B5EF4-FFF2-40B4-BE49-F238E27FC236}">
                <a16:creationId xmlns:a16="http://schemas.microsoft.com/office/drawing/2014/main" id="{F9CA3115-2C13-7649-9EB7-0FF477EC39B4}"/>
              </a:ext>
            </a:extLst>
          </p:cNvPr>
          <p:cNvSpPr/>
          <p:nvPr/>
        </p:nvSpPr>
        <p:spPr>
          <a:xfrm>
            <a:off x="4447476" y="5728331"/>
            <a:ext cx="3345366" cy="91433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Pr = TR – TC</a:t>
            </a:r>
          </a:p>
          <a:p>
            <a:pPr algn="ctr"/>
            <a:r>
              <a:rPr lang="en-US" dirty="0"/>
              <a:t>Pr = PX – (VX + F)</a:t>
            </a:r>
          </a:p>
          <a:p>
            <a:pPr algn="ctr"/>
            <a:r>
              <a:rPr lang="en-US" dirty="0"/>
              <a:t>Pr = (P– V)X - F</a:t>
            </a:r>
          </a:p>
        </p:txBody>
      </p:sp>
      <p:cxnSp>
        <p:nvCxnSpPr>
          <p:cNvPr id="20" name="Curved Connector 19">
            <a:extLst>
              <a:ext uri="{FF2B5EF4-FFF2-40B4-BE49-F238E27FC236}">
                <a16:creationId xmlns:a16="http://schemas.microsoft.com/office/drawing/2014/main" id="{2D027284-C265-6A48-95BC-CDF1528D2427}"/>
              </a:ext>
            </a:extLst>
          </p:cNvPr>
          <p:cNvCxnSpPr>
            <a:cxnSpLocks/>
            <a:stCxn id="8" idx="2"/>
            <a:endCxn id="19" idx="0"/>
          </p:cNvCxnSpPr>
          <p:nvPr/>
        </p:nvCxnSpPr>
        <p:spPr>
          <a:xfrm rot="16200000" flipH="1">
            <a:off x="4289806" y="3897978"/>
            <a:ext cx="654526" cy="3006180"/>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3" name="Curved Connector 22">
            <a:extLst>
              <a:ext uri="{FF2B5EF4-FFF2-40B4-BE49-F238E27FC236}">
                <a16:creationId xmlns:a16="http://schemas.microsoft.com/office/drawing/2014/main" id="{ADB649EF-8249-8542-A971-C5DF2643126A}"/>
              </a:ext>
            </a:extLst>
          </p:cNvPr>
          <p:cNvCxnSpPr>
            <a:cxnSpLocks/>
            <a:stCxn id="9" idx="2"/>
            <a:endCxn id="19" idx="0"/>
          </p:cNvCxnSpPr>
          <p:nvPr/>
        </p:nvCxnSpPr>
        <p:spPr>
          <a:xfrm rot="5400000">
            <a:off x="7404713" y="3789250"/>
            <a:ext cx="654527" cy="3223634"/>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pic>
        <p:nvPicPr>
          <p:cNvPr id="16" name="Picture 15">
            <a:extLst>
              <a:ext uri="{FF2B5EF4-FFF2-40B4-BE49-F238E27FC236}">
                <a16:creationId xmlns:a16="http://schemas.microsoft.com/office/drawing/2014/main" id="{E13ACBD9-9E58-FC4A-9AF4-3CE34A33B814}"/>
              </a:ext>
            </a:extLst>
          </p:cNvPr>
          <p:cNvPicPr>
            <a:picLocks noChangeAspect="1"/>
          </p:cNvPicPr>
          <p:nvPr/>
        </p:nvPicPr>
        <p:blipFill>
          <a:blip r:embed="rId2"/>
          <a:stretch>
            <a:fillRect/>
          </a:stretch>
        </p:blipFill>
        <p:spPr>
          <a:xfrm>
            <a:off x="9642764" y="95378"/>
            <a:ext cx="2408711" cy="547186"/>
          </a:xfrm>
          <a:prstGeom prst="rect">
            <a:avLst/>
          </a:prstGeom>
        </p:spPr>
      </p:pic>
      <p:sp>
        <p:nvSpPr>
          <p:cNvPr id="17" name="Footer Placeholder 4">
            <a:extLst>
              <a:ext uri="{FF2B5EF4-FFF2-40B4-BE49-F238E27FC236}">
                <a16:creationId xmlns:a16="http://schemas.microsoft.com/office/drawing/2014/main" id="{5B8E54ED-1AE6-2345-887C-6D03FCC91916}"/>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2531614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BBB8D-4EC2-B940-A3D2-C3417AE231A4}"/>
              </a:ext>
            </a:extLst>
          </p:cNvPr>
          <p:cNvSpPr>
            <a:spLocks noGrp="1"/>
          </p:cNvSpPr>
          <p:nvPr>
            <p:ph type="title"/>
          </p:nvPr>
        </p:nvSpPr>
        <p:spPr/>
        <p:txBody>
          <a:bodyPr/>
          <a:lstStyle/>
          <a:p>
            <a:r>
              <a:rPr lang="en-US" dirty="0">
                <a:solidFill>
                  <a:schemeClr val="accent1"/>
                </a:solidFill>
              </a:rPr>
              <a:t>Contribution Margin</a:t>
            </a:r>
          </a:p>
        </p:txBody>
      </p:sp>
      <p:sp>
        <p:nvSpPr>
          <p:cNvPr id="3" name="Content Placeholder 2">
            <a:extLst>
              <a:ext uri="{FF2B5EF4-FFF2-40B4-BE49-F238E27FC236}">
                <a16:creationId xmlns:a16="http://schemas.microsoft.com/office/drawing/2014/main" id="{F361D325-63EC-2F43-8529-675CE74BD0AD}"/>
              </a:ext>
            </a:extLst>
          </p:cNvPr>
          <p:cNvSpPr>
            <a:spLocks noGrp="1"/>
          </p:cNvSpPr>
          <p:nvPr>
            <p:ph idx="1"/>
          </p:nvPr>
        </p:nvSpPr>
        <p:spPr>
          <a:xfrm>
            <a:off x="838200" y="1690688"/>
            <a:ext cx="5863683" cy="4667250"/>
          </a:xfrm>
        </p:spPr>
        <p:txBody>
          <a:bodyPr>
            <a:normAutofit fontScale="85000" lnSpcReduction="20000"/>
          </a:bodyPr>
          <a:lstStyle/>
          <a:p>
            <a:pPr>
              <a:lnSpc>
                <a:spcPct val="150000"/>
              </a:lnSpc>
            </a:pPr>
            <a:r>
              <a:rPr lang="en-IN" sz="1900" dirty="0"/>
              <a:t>The contribution margin can be stated on a gross or per-unit basis. It represents the incremental money generated for each product/unit sold after deducting the variable portion of the firm's costs.</a:t>
            </a:r>
          </a:p>
          <a:p>
            <a:pPr>
              <a:lnSpc>
                <a:spcPct val="150000"/>
              </a:lnSpc>
            </a:pPr>
            <a:r>
              <a:rPr lang="en-IN" sz="1900" dirty="0"/>
              <a:t>The contribution margin represents the portion of a product's sales revenue that isn't used up by variable costs, and so contributes to covering the company's fixed costs.</a:t>
            </a:r>
          </a:p>
          <a:p>
            <a:pPr>
              <a:lnSpc>
                <a:spcPct val="150000"/>
              </a:lnSpc>
            </a:pPr>
            <a:r>
              <a:rPr lang="en-IN" sz="1900" dirty="0"/>
              <a:t>The concept of contribution margin is one of the fundamental keys in break-even analysis.</a:t>
            </a:r>
          </a:p>
          <a:p>
            <a:pPr>
              <a:lnSpc>
                <a:spcPct val="150000"/>
              </a:lnSpc>
            </a:pPr>
            <a:r>
              <a:rPr lang="en-IN" sz="1900" dirty="0"/>
              <a:t>Low contribution margins are present in labour-intensive companies with few fixed expenses, while capital-intensive, industrial companies have higher fixed costs and thus, higher contribution margins.</a:t>
            </a:r>
          </a:p>
          <a:p>
            <a:endParaRPr lang="en-US" dirty="0"/>
          </a:p>
        </p:txBody>
      </p:sp>
      <p:sp>
        <p:nvSpPr>
          <p:cNvPr id="4" name="Rounded Rectangle 3">
            <a:extLst>
              <a:ext uri="{FF2B5EF4-FFF2-40B4-BE49-F238E27FC236}">
                <a16:creationId xmlns:a16="http://schemas.microsoft.com/office/drawing/2014/main" id="{A533072C-6AD4-F54B-BB3F-143BAA333AB9}"/>
              </a:ext>
            </a:extLst>
          </p:cNvPr>
          <p:cNvSpPr/>
          <p:nvPr/>
        </p:nvSpPr>
        <p:spPr>
          <a:xfrm>
            <a:off x="6452838" y="3299484"/>
            <a:ext cx="5642518" cy="7248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Contribution Margin (C) = Price per unit(P) – Variable cost per unit(V)</a:t>
            </a:r>
          </a:p>
          <a:p>
            <a:r>
              <a:rPr lang="en-US" sz="1400" dirty="0"/>
              <a:t>		     = P - V</a:t>
            </a:r>
          </a:p>
        </p:txBody>
      </p:sp>
      <p:pic>
        <p:nvPicPr>
          <p:cNvPr id="5" name="Picture 4">
            <a:extLst>
              <a:ext uri="{FF2B5EF4-FFF2-40B4-BE49-F238E27FC236}">
                <a16:creationId xmlns:a16="http://schemas.microsoft.com/office/drawing/2014/main" id="{AE9F524D-CF13-F54F-9223-1878959FD925}"/>
              </a:ext>
            </a:extLst>
          </p:cNvPr>
          <p:cNvPicPr>
            <a:picLocks noChangeAspect="1"/>
          </p:cNvPicPr>
          <p:nvPr/>
        </p:nvPicPr>
        <p:blipFill>
          <a:blip r:embed="rId2"/>
          <a:stretch>
            <a:fillRect/>
          </a:stretch>
        </p:blipFill>
        <p:spPr>
          <a:xfrm>
            <a:off x="9642764" y="95378"/>
            <a:ext cx="2408711" cy="547186"/>
          </a:xfrm>
          <a:prstGeom prst="rect">
            <a:avLst/>
          </a:prstGeom>
        </p:spPr>
      </p:pic>
      <p:sp>
        <p:nvSpPr>
          <p:cNvPr id="6" name="Footer Placeholder 4">
            <a:extLst>
              <a:ext uri="{FF2B5EF4-FFF2-40B4-BE49-F238E27FC236}">
                <a16:creationId xmlns:a16="http://schemas.microsoft.com/office/drawing/2014/main" id="{5D137EB8-2955-FA46-8486-63A6B79DC34C}"/>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4010804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49CFA-F448-A347-9D41-F6633CB57E0F}"/>
              </a:ext>
            </a:extLst>
          </p:cNvPr>
          <p:cNvSpPr>
            <a:spLocks noGrp="1"/>
          </p:cNvSpPr>
          <p:nvPr>
            <p:ph type="title"/>
          </p:nvPr>
        </p:nvSpPr>
        <p:spPr/>
        <p:txBody>
          <a:bodyPr/>
          <a:lstStyle/>
          <a:p>
            <a:r>
              <a:rPr lang="en-US" dirty="0">
                <a:solidFill>
                  <a:schemeClr val="accent1"/>
                </a:solidFill>
              </a:rPr>
              <a:t>CVP Example</a:t>
            </a:r>
          </a:p>
        </p:txBody>
      </p:sp>
      <p:graphicFrame>
        <p:nvGraphicFramePr>
          <p:cNvPr id="4" name="Table 3">
            <a:extLst>
              <a:ext uri="{FF2B5EF4-FFF2-40B4-BE49-F238E27FC236}">
                <a16:creationId xmlns:a16="http://schemas.microsoft.com/office/drawing/2014/main" id="{2414A666-67EB-2940-A1F1-14E4EBF8FE33}"/>
              </a:ext>
            </a:extLst>
          </p:cNvPr>
          <p:cNvGraphicFramePr>
            <a:graphicFrameLocks noGrp="1"/>
          </p:cNvGraphicFramePr>
          <p:nvPr/>
        </p:nvGraphicFramePr>
        <p:xfrm>
          <a:off x="3335242" y="1897060"/>
          <a:ext cx="5521516" cy="3063879"/>
        </p:xfrm>
        <a:graphic>
          <a:graphicData uri="http://schemas.openxmlformats.org/drawingml/2006/table">
            <a:tbl>
              <a:tblPr>
                <a:tableStyleId>{74C1A8A3-306A-4EB7-A6B1-4F7E0EB9C5D6}</a:tableStyleId>
              </a:tblPr>
              <a:tblGrid>
                <a:gridCol w="2992184">
                  <a:extLst>
                    <a:ext uri="{9D8B030D-6E8A-4147-A177-3AD203B41FA5}">
                      <a16:colId xmlns:a16="http://schemas.microsoft.com/office/drawing/2014/main" val="2663023824"/>
                    </a:ext>
                  </a:extLst>
                </a:gridCol>
                <a:gridCol w="1264666">
                  <a:extLst>
                    <a:ext uri="{9D8B030D-6E8A-4147-A177-3AD203B41FA5}">
                      <a16:colId xmlns:a16="http://schemas.microsoft.com/office/drawing/2014/main" val="3309314077"/>
                    </a:ext>
                  </a:extLst>
                </a:gridCol>
                <a:gridCol w="1264666">
                  <a:extLst>
                    <a:ext uri="{9D8B030D-6E8A-4147-A177-3AD203B41FA5}">
                      <a16:colId xmlns:a16="http://schemas.microsoft.com/office/drawing/2014/main" val="1169931792"/>
                    </a:ext>
                  </a:extLst>
                </a:gridCol>
              </a:tblGrid>
              <a:tr h="340431">
                <a:tc gridSpan="3">
                  <a:txBody>
                    <a:bodyPr/>
                    <a:lstStyle/>
                    <a:p>
                      <a:pPr algn="ctr" fontAlgn="b"/>
                      <a:r>
                        <a:rPr lang="en-IN" sz="1800" u="none" strike="noStrike" dirty="0">
                          <a:effectLst/>
                        </a:rPr>
                        <a:t>Strategy Corp Prints</a:t>
                      </a:r>
                      <a:endParaRPr lang="en-IN" sz="18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84987480"/>
                  </a:ext>
                </a:extLst>
              </a:tr>
              <a:tr h="340431">
                <a:tc gridSpan="3">
                  <a:txBody>
                    <a:bodyPr/>
                    <a:lstStyle/>
                    <a:p>
                      <a:pPr algn="ctr" fontAlgn="b"/>
                      <a:r>
                        <a:rPr lang="en-IN" sz="1800" u="none" strike="noStrike" dirty="0">
                          <a:effectLst/>
                        </a:rPr>
                        <a:t>Income Statement March</a:t>
                      </a:r>
                      <a:endParaRPr lang="en-IN" sz="18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84319061"/>
                  </a:ext>
                </a:extLst>
              </a:tr>
              <a:tr h="340431">
                <a:tc>
                  <a:txBody>
                    <a:bodyPr/>
                    <a:lstStyle/>
                    <a:p>
                      <a:pPr algn="l" fontAlgn="b"/>
                      <a:r>
                        <a:rPr lang="en-IN" sz="1400" u="none" strike="noStrike">
                          <a:effectLst/>
                        </a:rPr>
                        <a:t>Sales (12,000 prints at Rs. 0.60)</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400" u="none" strike="noStrike">
                          <a:effectLst/>
                        </a:rPr>
                        <a:t> ₹        7,200 </a:t>
                      </a:r>
                      <a:endParaRPr lang="en-IN"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34028600"/>
                  </a:ext>
                </a:extLst>
              </a:tr>
              <a:tr h="340431">
                <a:tc>
                  <a:txBody>
                    <a:bodyPr/>
                    <a:lstStyle/>
                    <a:p>
                      <a:pPr algn="l" fontAlgn="b"/>
                      <a:r>
                        <a:rPr lang="en-IN" sz="1400" u="none" strike="noStrike">
                          <a:effectLst/>
                        </a:rPr>
                        <a:t>Less</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6096538"/>
                  </a:ext>
                </a:extLst>
              </a:tr>
              <a:tr h="340431">
                <a:tc>
                  <a:txBody>
                    <a:bodyPr/>
                    <a:lstStyle/>
                    <a:p>
                      <a:pPr algn="l" fontAlgn="b"/>
                      <a:r>
                        <a:rPr lang="en-IN" sz="1400" u="none" strike="noStrike">
                          <a:effectLst/>
                        </a:rPr>
                        <a:t>Variable cost of goods sold(12,000*0.30)</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400" u="none" strike="noStrike">
                          <a:effectLst/>
                        </a:rPr>
                        <a:t> ₹        3,600 </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53707133"/>
                  </a:ext>
                </a:extLst>
              </a:tr>
              <a:tr h="340431">
                <a:tc>
                  <a:txBody>
                    <a:bodyPr/>
                    <a:lstStyle/>
                    <a:p>
                      <a:pPr algn="l" fontAlgn="b"/>
                      <a:r>
                        <a:rPr lang="en-IN" sz="1400" u="none" strike="noStrike">
                          <a:effectLst/>
                        </a:rPr>
                        <a:t>Variable selling cost(12000*0.06)</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400" u="none" strike="noStrike">
                          <a:effectLst/>
                        </a:rPr>
                        <a:t> ₹           720 </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400" u="none" strike="noStrike">
                          <a:effectLst/>
                        </a:rPr>
                        <a:t> ₹        4,320 </a:t>
                      </a:r>
                      <a:endParaRPr lang="en-IN"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94933482"/>
                  </a:ext>
                </a:extLst>
              </a:tr>
              <a:tr h="340431">
                <a:tc>
                  <a:txBody>
                    <a:bodyPr/>
                    <a:lstStyle/>
                    <a:p>
                      <a:pPr algn="l" fontAlgn="b"/>
                      <a:r>
                        <a:rPr lang="en-IN" sz="1400" u="none" strike="noStrike">
                          <a:effectLst/>
                        </a:rPr>
                        <a:t>Contribution Margin</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400" u="none" strike="noStrike">
                          <a:effectLst/>
                        </a:rPr>
                        <a:t> ₹        2,880 </a:t>
                      </a:r>
                      <a:endParaRPr lang="en-IN"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15701894"/>
                  </a:ext>
                </a:extLst>
              </a:tr>
              <a:tr h="340431">
                <a:tc>
                  <a:txBody>
                    <a:bodyPr/>
                    <a:lstStyle/>
                    <a:p>
                      <a:pPr algn="l" fontAlgn="b"/>
                      <a:r>
                        <a:rPr lang="en-IN" sz="1400" u="none" strike="noStrike">
                          <a:effectLst/>
                        </a:rPr>
                        <a:t>Less Fixed Cost</a:t>
                      </a:r>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400" u="none" strike="noStrike">
                          <a:effectLst/>
                        </a:rPr>
                        <a:t> ₹        1,500 </a:t>
                      </a:r>
                      <a:endParaRPr lang="en-IN"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43725479"/>
                  </a:ext>
                </a:extLst>
              </a:tr>
              <a:tr h="340431">
                <a:tc>
                  <a:txBody>
                    <a:bodyPr/>
                    <a:lstStyle/>
                    <a:p>
                      <a:pPr algn="l" fontAlgn="b"/>
                      <a:r>
                        <a:rPr lang="en-IN" sz="1400" u="none" strike="noStrike" dirty="0">
                          <a:effectLst/>
                        </a:rPr>
                        <a:t>Operating Profit</a:t>
                      </a:r>
                      <a:endParaRPr lang="en-IN"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IN"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400" u="none" strike="noStrike" dirty="0">
                          <a:effectLst/>
                        </a:rPr>
                        <a:t> ₹        1,380 </a:t>
                      </a:r>
                      <a:endParaRPr lang="en-IN"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07534814"/>
                  </a:ext>
                </a:extLst>
              </a:tr>
            </a:tbl>
          </a:graphicData>
        </a:graphic>
      </p:graphicFrame>
      <p:sp>
        <p:nvSpPr>
          <p:cNvPr id="6" name="Rounded Rectangle 5">
            <a:extLst>
              <a:ext uri="{FF2B5EF4-FFF2-40B4-BE49-F238E27FC236}">
                <a16:creationId xmlns:a16="http://schemas.microsoft.com/office/drawing/2014/main" id="{432D1070-7F2C-1E46-8704-499643FFC714}"/>
              </a:ext>
            </a:extLst>
          </p:cNvPr>
          <p:cNvSpPr/>
          <p:nvPr/>
        </p:nvSpPr>
        <p:spPr>
          <a:xfrm>
            <a:off x="2940204" y="5350364"/>
            <a:ext cx="6311590" cy="99245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6249F4CD-7176-3F48-BBD0-60B32D2CD198}"/>
              </a:ext>
            </a:extLst>
          </p:cNvPr>
          <p:cNvSpPr txBox="1"/>
          <p:nvPr/>
        </p:nvSpPr>
        <p:spPr>
          <a:xfrm>
            <a:off x="3074019" y="5419493"/>
            <a:ext cx="6043961" cy="923330"/>
          </a:xfrm>
          <a:prstGeom prst="rect">
            <a:avLst/>
          </a:prstGeom>
          <a:noFill/>
        </p:spPr>
        <p:txBody>
          <a:bodyPr wrap="square" rtlCol="0">
            <a:spAutoFit/>
          </a:bodyPr>
          <a:lstStyle/>
          <a:p>
            <a:r>
              <a:rPr lang="en-US" dirty="0"/>
              <a:t>Contribution margin per unit = Contribution margin/sales unit</a:t>
            </a:r>
          </a:p>
          <a:p>
            <a:r>
              <a:rPr lang="en-US" dirty="0"/>
              <a:t>		                 = 2880/12000</a:t>
            </a:r>
          </a:p>
          <a:p>
            <a:r>
              <a:rPr lang="en-US" dirty="0"/>
              <a:t>		                 = Rs. 0.24</a:t>
            </a:r>
          </a:p>
        </p:txBody>
      </p:sp>
      <p:pic>
        <p:nvPicPr>
          <p:cNvPr id="7" name="Picture 6">
            <a:extLst>
              <a:ext uri="{FF2B5EF4-FFF2-40B4-BE49-F238E27FC236}">
                <a16:creationId xmlns:a16="http://schemas.microsoft.com/office/drawing/2014/main" id="{41BF3585-7774-494F-8E4B-34B6D51C2FAB}"/>
              </a:ext>
            </a:extLst>
          </p:cNvPr>
          <p:cNvPicPr>
            <a:picLocks noChangeAspect="1"/>
          </p:cNvPicPr>
          <p:nvPr/>
        </p:nvPicPr>
        <p:blipFill>
          <a:blip r:embed="rId2"/>
          <a:stretch>
            <a:fillRect/>
          </a:stretch>
        </p:blipFill>
        <p:spPr>
          <a:xfrm>
            <a:off x="9642764" y="95378"/>
            <a:ext cx="2408711" cy="547186"/>
          </a:xfrm>
          <a:prstGeom prst="rect">
            <a:avLst/>
          </a:prstGeom>
        </p:spPr>
      </p:pic>
      <p:sp>
        <p:nvSpPr>
          <p:cNvPr id="8" name="Footer Placeholder 4">
            <a:extLst>
              <a:ext uri="{FF2B5EF4-FFF2-40B4-BE49-F238E27FC236}">
                <a16:creationId xmlns:a16="http://schemas.microsoft.com/office/drawing/2014/main" id="{88FBC1D0-AC2E-9D41-855A-E99EE73D5ED0}"/>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3969595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EC22A-BD84-E047-9818-B1632FDA5F10}"/>
              </a:ext>
            </a:extLst>
          </p:cNvPr>
          <p:cNvSpPr>
            <a:spLocks noGrp="1"/>
          </p:cNvSpPr>
          <p:nvPr>
            <p:ph type="title"/>
          </p:nvPr>
        </p:nvSpPr>
        <p:spPr/>
        <p:txBody>
          <a:bodyPr/>
          <a:lstStyle/>
          <a:p>
            <a:r>
              <a:rPr lang="en-US" dirty="0">
                <a:solidFill>
                  <a:schemeClr val="accent1"/>
                </a:solidFill>
              </a:rPr>
              <a:t>Breakeven Volume Units</a:t>
            </a:r>
          </a:p>
        </p:txBody>
      </p:sp>
      <p:sp>
        <p:nvSpPr>
          <p:cNvPr id="3" name="Content Placeholder 2">
            <a:extLst>
              <a:ext uri="{FF2B5EF4-FFF2-40B4-BE49-F238E27FC236}">
                <a16:creationId xmlns:a16="http://schemas.microsoft.com/office/drawing/2014/main" id="{B3A29E83-17DA-F447-944A-42586A9BC52D}"/>
              </a:ext>
            </a:extLst>
          </p:cNvPr>
          <p:cNvSpPr>
            <a:spLocks noGrp="1"/>
          </p:cNvSpPr>
          <p:nvPr>
            <p:ph idx="1"/>
          </p:nvPr>
        </p:nvSpPr>
        <p:spPr>
          <a:xfrm>
            <a:off x="838200" y="1825624"/>
            <a:ext cx="10515600" cy="862941"/>
          </a:xfrm>
        </p:spPr>
        <p:txBody>
          <a:bodyPr>
            <a:normAutofit fontScale="92500" lnSpcReduction="10000"/>
          </a:bodyPr>
          <a:lstStyle/>
          <a:p>
            <a:r>
              <a:rPr lang="en-IN" sz="1800" dirty="0"/>
              <a:t>Breakeven sales volume is the amount of your product that you will need to produce and sell to cover total costs of production.</a:t>
            </a:r>
          </a:p>
          <a:p>
            <a:r>
              <a:rPr lang="en-IN" sz="1800" dirty="0"/>
              <a:t>This is the volume level at which profits equal to zero.</a:t>
            </a:r>
            <a:endParaRPr lang="en-US" sz="1800" dirty="0"/>
          </a:p>
        </p:txBody>
      </p:sp>
      <p:sp>
        <p:nvSpPr>
          <p:cNvPr id="4" name="Rounded Rectangle 3">
            <a:extLst>
              <a:ext uri="{FF2B5EF4-FFF2-40B4-BE49-F238E27FC236}">
                <a16:creationId xmlns:a16="http://schemas.microsoft.com/office/drawing/2014/main" id="{73819035-8878-1647-9826-8DA5575F50DB}"/>
              </a:ext>
            </a:extLst>
          </p:cNvPr>
          <p:cNvSpPr/>
          <p:nvPr/>
        </p:nvSpPr>
        <p:spPr>
          <a:xfrm>
            <a:off x="5163942" y="3207338"/>
            <a:ext cx="1864114" cy="91433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Pr = PX – (VX + F)</a:t>
            </a:r>
          </a:p>
          <a:p>
            <a:r>
              <a:rPr lang="en-US" dirty="0"/>
              <a:t>0 = (P– V)X – F</a:t>
            </a:r>
          </a:p>
          <a:p>
            <a:r>
              <a:rPr lang="en-US" dirty="0"/>
              <a:t>X = F / (P – V) </a:t>
            </a:r>
          </a:p>
        </p:txBody>
      </p:sp>
      <p:sp>
        <p:nvSpPr>
          <p:cNvPr id="5" name="Rounded Rectangle 4">
            <a:extLst>
              <a:ext uri="{FF2B5EF4-FFF2-40B4-BE49-F238E27FC236}">
                <a16:creationId xmlns:a16="http://schemas.microsoft.com/office/drawing/2014/main" id="{55B1BE61-256A-6647-979A-AE260FC860C3}"/>
              </a:ext>
            </a:extLst>
          </p:cNvPr>
          <p:cNvSpPr/>
          <p:nvPr/>
        </p:nvSpPr>
        <p:spPr>
          <a:xfrm>
            <a:off x="3178096" y="4625536"/>
            <a:ext cx="5835805" cy="99245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6AAE6480-5646-E446-93C5-7FE684E95899}"/>
              </a:ext>
            </a:extLst>
          </p:cNvPr>
          <p:cNvSpPr txBox="1"/>
          <p:nvPr/>
        </p:nvSpPr>
        <p:spPr>
          <a:xfrm>
            <a:off x="3289607" y="4694665"/>
            <a:ext cx="5724294" cy="923330"/>
          </a:xfrm>
          <a:prstGeom prst="rect">
            <a:avLst/>
          </a:prstGeom>
          <a:noFill/>
        </p:spPr>
        <p:txBody>
          <a:bodyPr wrap="square" rtlCol="0">
            <a:spAutoFit/>
          </a:bodyPr>
          <a:lstStyle/>
          <a:p>
            <a:r>
              <a:rPr lang="en-US" dirty="0"/>
              <a:t>Breakeven Sales in units = Fixed Cost/Contribution margin</a:t>
            </a:r>
          </a:p>
          <a:p>
            <a:r>
              <a:rPr lang="en-US" dirty="0"/>
              <a:t>		         = 1500/0.24</a:t>
            </a:r>
          </a:p>
          <a:p>
            <a:r>
              <a:rPr lang="en-US" dirty="0"/>
              <a:t>		         = 6250 prints</a:t>
            </a:r>
          </a:p>
        </p:txBody>
      </p:sp>
      <p:sp>
        <p:nvSpPr>
          <p:cNvPr id="7" name="TextBox 6">
            <a:extLst>
              <a:ext uri="{FF2B5EF4-FFF2-40B4-BE49-F238E27FC236}">
                <a16:creationId xmlns:a16="http://schemas.microsoft.com/office/drawing/2014/main" id="{1F171827-2F32-BD45-8F33-AA8365929E63}"/>
              </a:ext>
            </a:extLst>
          </p:cNvPr>
          <p:cNvSpPr txBox="1"/>
          <p:nvPr/>
        </p:nvSpPr>
        <p:spPr>
          <a:xfrm>
            <a:off x="2609385" y="6212752"/>
            <a:ext cx="7326351" cy="369332"/>
          </a:xfrm>
          <a:prstGeom prst="rect">
            <a:avLst/>
          </a:prstGeom>
          <a:noFill/>
        </p:spPr>
        <p:txBody>
          <a:bodyPr wrap="square" rtlCol="0">
            <a:spAutoFit/>
          </a:bodyPr>
          <a:lstStyle/>
          <a:p>
            <a:r>
              <a:rPr lang="en-US" dirty="0">
                <a:solidFill>
                  <a:schemeClr val="accent6">
                    <a:lumMod val="50000"/>
                  </a:schemeClr>
                </a:solidFill>
              </a:rPr>
              <a:t>This means Strategy Corp prints have to sell 6250 units at least to breakeven.</a:t>
            </a:r>
          </a:p>
        </p:txBody>
      </p:sp>
      <p:pic>
        <p:nvPicPr>
          <p:cNvPr id="8" name="Picture 7">
            <a:extLst>
              <a:ext uri="{FF2B5EF4-FFF2-40B4-BE49-F238E27FC236}">
                <a16:creationId xmlns:a16="http://schemas.microsoft.com/office/drawing/2014/main" id="{7FF9D461-EB88-1F4E-9A0C-E08074F97A18}"/>
              </a:ext>
            </a:extLst>
          </p:cNvPr>
          <p:cNvPicPr>
            <a:picLocks noChangeAspect="1"/>
          </p:cNvPicPr>
          <p:nvPr/>
        </p:nvPicPr>
        <p:blipFill>
          <a:blip r:embed="rId2"/>
          <a:stretch>
            <a:fillRect/>
          </a:stretch>
        </p:blipFill>
        <p:spPr>
          <a:xfrm>
            <a:off x="9642764" y="95378"/>
            <a:ext cx="2408711" cy="547186"/>
          </a:xfrm>
          <a:prstGeom prst="rect">
            <a:avLst/>
          </a:prstGeom>
        </p:spPr>
      </p:pic>
      <p:sp>
        <p:nvSpPr>
          <p:cNvPr id="9" name="Footer Placeholder 4">
            <a:extLst>
              <a:ext uri="{FF2B5EF4-FFF2-40B4-BE49-F238E27FC236}">
                <a16:creationId xmlns:a16="http://schemas.microsoft.com/office/drawing/2014/main" id="{C9F5D111-BEE5-7442-BB1F-905FADA3C157}"/>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292293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30FD0-EB96-7345-B2A5-D40C3295EAEA}"/>
              </a:ext>
            </a:extLst>
          </p:cNvPr>
          <p:cNvSpPr>
            <a:spLocks noGrp="1"/>
          </p:cNvSpPr>
          <p:nvPr>
            <p:ph type="title"/>
          </p:nvPr>
        </p:nvSpPr>
        <p:spPr/>
        <p:txBody>
          <a:bodyPr/>
          <a:lstStyle/>
          <a:p>
            <a:r>
              <a:rPr lang="en-US" dirty="0">
                <a:solidFill>
                  <a:schemeClr val="accent1"/>
                </a:solidFill>
              </a:rPr>
              <a:t>Breakeven Volume in Sales Rupees</a:t>
            </a:r>
          </a:p>
        </p:txBody>
      </p:sp>
      <p:sp>
        <p:nvSpPr>
          <p:cNvPr id="3" name="Content Placeholder 2">
            <a:extLst>
              <a:ext uri="{FF2B5EF4-FFF2-40B4-BE49-F238E27FC236}">
                <a16:creationId xmlns:a16="http://schemas.microsoft.com/office/drawing/2014/main" id="{DE4588D9-F8EC-CE4E-971E-9550BB3CEA8B}"/>
              </a:ext>
            </a:extLst>
          </p:cNvPr>
          <p:cNvSpPr>
            <a:spLocks noGrp="1"/>
          </p:cNvSpPr>
          <p:nvPr>
            <p:ph idx="1"/>
          </p:nvPr>
        </p:nvSpPr>
        <p:spPr>
          <a:xfrm>
            <a:off x="838200" y="1546845"/>
            <a:ext cx="10515600" cy="1753916"/>
          </a:xfrm>
        </p:spPr>
        <p:txBody>
          <a:bodyPr>
            <a:normAutofit/>
          </a:bodyPr>
          <a:lstStyle/>
          <a:p>
            <a:pPr>
              <a:lnSpc>
                <a:spcPct val="100000"/>
              </a:lnSpc>
            </a:pPr>
            <a:r>
              <a:rPr lang="en-IN" sz="1800" dirty="0"/>
              <a:t>The contribution margin ratio is the difference between a company’s sales and variable costs, expressed as a percentage.  </a:t>
            </a:r>
          </a:p>
          <a:p>
            <a:pPr>
              <a:lnSpc>
                <a:spcPct val="100000"/>
              </a:lnSpc>
            </a:pPr>
            <a:r>
              <a:rPr lang="en-IN" sz="1800" dirty="0"/>
              <a:t>This ratio shows the amount of money available to cover fixed costs. </a:t>
            </a:r>
          </a:p>
          <a:p>
            <a:pPr>
              <a:lnSpc>
                <a:spcPct val="100000"/>
              </a:lnSpc>
            </a:pPr>
            <a:r>
              <a:rPr lang="en-IN" sz="1800" dirty="0"/>
              <a:t>It is good to have a high contribution margin ratio, as the higher the ratio, the more money per product sold is available to cover all the other expenses.</a:t>
            </a:r>
            <a:endParaRPr lang="en-US" sz="1800" dirty="0"/>
          </a:p>
        </p:txBody>
      </p:sp>
      <p:sp>
        <p:nvSpPr>
          <p:cNvPr id="4" name="Rounded Rectangle 3">
            <a:extLst>
              <a:ext uri="{FF2B5EF4-FFF2-40B4-BE49-F238E27FC236}">
                <a16:creationId xmlns:a16="http://schemas.microsoft.com/office/drawing/2014/main" id="{007D36BF-61F3-784B-94BA-27E99C182FDD}"/>
              </a:ext>
            </a:extLst>
          </p:cNvPr>
          <p:cNvSpPr/>
          <p:nvPr/>
        </p:nvSpPr>
        <p:spPr>
          <a:xfrm>
            <a:off x="3620428" y="3445727"/>
            <a:ext cx="5642518" cy="8642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Contribution Margin Ratio = (Contribution Margin / Sales Revenue)*100</a:t>
            </a:r>
          </a:p>
          <a:p>
            <a:r>
              <a:rPr lang="en-US" sz="1400" dirty="0"/>
              <a:t>		     = (2880/7200)*100</a:t>
            </a:r>
          </a:p>
          <a:p>
            <a:r>
              <a:rPr lang="en-US" sz="1400" dirty="0"/>
              <a:t>                                                   = 40%</a:t>
            </a:r>
          </a:p>
        </p:txBody>
      </p:sp>
      <p:sp>
        <p:nvSpPr>
          <p:cNvPr id="5" name="Content Placeholder 2">
            <a:extLst>
              <a:ext uri="{FF2B5EF4-FFF2-40B4-BE49-F238E27FC236}">
                <a16:creationId xmlns:a16="http://schemas.microsoft.com/office/drawing/2014/main" id="{42889032-4134-044E-BCB4-75E0D22CD059}"/>
              </a:ext>
            </a:extLst>
          </p:cNvPr>
          <p:cNvSpPr txBox="1">
            <a:spLocks/>
          </p:cNvSpPr>
          <p:nvPr/>
        </p:nvSpPr>
        <p:spPr>
          <a:xfrm>
            <a:off x="838200" y="4573280"/>
            <a:ext cx="10515600" cy="3778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IN" sz="1800" dirty="0"/>
              <a:t>Breakeven in sales rupees is given by fixed cost divided by contribution margin ratio. </a:t>
            </a:r>
            <a:endParaRPr lang="en-US" sz="1800" dirty="0"/>
          </a:p>
        </p:txBody>
      </p:sp>
      <p:sp>
        <p:nvSpPr>
          <p:cNvPr id="6" name="Rounded Rectangle 5">
            <a:extLst>
              <a:ext uri="{FF2B5EF4-FFF2-40B4-BE49-F238E27FC236}">
                <a16:creationId xmlns:a16="http://schemas.microsoft.com/office/drawing/2014/main" id="{07277003-B97F-ED4A-80D0-8864FD821C07}"/>
              </a:ext>
            </a:extLst>
          </p:cNvPr>
          <p:cNvSpPr/>
          <p:nvPr/>
        </p:nvSpPr>
        <p:spPr>
          <a:xfrm>
            <a:off x="3620428" y="5176725"/>
            <a:ext cx="5642518" cy="8642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Breakeven Sales = (Fixed cost / Contribution Margin Ratio)</a:t>
            </a:r>
          </a:p>
          <a:p>
            <a:r>
              <a:rPr lang="en-US" sz="1400" dirty="0"/>
              <a:t>                                             = (1500/40%)</a:t>
            </a:r>
          </a:p>
          <a:p>
            <a:r>
              <a:rPr lang="en-US" sz="1400" dirty="0"/>
              <a:t>                                             = Rs. 3750</a:t>
            </a:r>
          </a:p>
        </p:txBody>
      </p:sp>
      <p:sp>
        <p:nvSpPr>
          <p:cNvPr id="7" name="Content Placeholder 2">
            <a:extLst>
              <a:ext uri="{FF2B5EF4-FFF2-40B4-BE49-F238E27FC236}">
                <a16:creationId xmlns:a16="http://schemas.microsoft.com/office/drawing/2014/main" id="{44F948B6-9B4C-714A-93EE-F008DF1C0CFF}"/>
              </a:ext>
            </a:extLst>
          </p:cNvPr>
          <p:cNvSpPr txBox="1">
            <a:spLocks/>
          </p:cNvSpPr>
          <p:nvPr/>
        </p:nvSpPr>
        <p:spPr>
          <a:xfrm>
            <a:off x="923693" y="6266528"/>
            <a:ext cx="10515600" cy="3778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IN" sz="1800" dirty="0">
                <a:solidFill>
                  <a:schemeClr val="accent6">
                    <a:lumMod val="50000"/>
                  </a:schemeClr>
                </a:solidFill>
              </a:rPr>
              <a:t>This means Strategy Corp print should at least earn a revenue of Rs. 3750 to survive. </a:t>
            </a:r>
            <a:endParaRPr lang="en-US" sz="1800" dirty="0">
              <a:solidFill>
                <a:schemeClr val="accent6">
                  <a:lumMod val="50000"/>
                </a:schemeClr>
              </a:solidFill>
            </a:endParaRPr>
          </a:p>
        </p:txBody>
      </p:sp>
      <p:pic>
        <p:nvPicPr>
          <p:cNvPr id="8" name="Picture 7">
            <a:extLst>
              <a:ext uri="{FF2B5EF4-FFF2-40B4-BE49-F238E27FC236}">
                <a16:creationId xmlns:a16="http://schemas.microsoft.com/office/drawing/2014/main" id="{56EA94E1-8084-364B-B199-90167F98854A}"/>
              </a:ext>
            </a:extLst>
          </p:cNvPr>
          <p:cNvPicPr>
            <a:picLocks noChangeAspect="1"/>
          </p:cNvPicPr>
          <p:nvPr/>
        </p:nvPicPr>
        <p:blipFill>
          <a:blip r:embed="rId2"/>
          <a:stretch>
            <a:fillRect/>
          </a:stretch>
        </p:blipFill>
        <p:spPr>
          <a:xfrm>
            <a:off x="9642764" y="95378"/>
            <a:ext cx="2408711" cy="547186"/>
          </a:xfrm>
          <a:prstGeom prst="rect">
            <a:avLst/>
          </a:prstGeom>
        </p:spPr>
      </p:pic>
      <p:sp>
        <p:nvSpPr>
          <p:cNvPr id="9" name="Footer Placeholder 4">
            <a:extLst>
              <a:ext uri="{FF2B5EF4-FFF2-40B4-BE49-F238E27FC236}">
                <a16:creationId xmlns:a16="http://schemas.microsoft.com/office/drawing/2014/main" id="{FA0D7F3D-90E0-1047-988F-3DEE4F8148B4}"/>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26907342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B31F9-0AFE-D44F-B8C6-DAF4E80418BC}"/>
              </a:ext>
            </a:extLst>
          </p:cNvPr>
          <p:cNvSpPr>
            <a:spLocks noGrp="1"/>
          </p:cNvSpPr>
          <p:nvPr>
            <p:ph type="title"/>
          </p:nvPr>
        </p:nvSpPr>
        <p:spPr/>
        <p:txBody>
          <a:bodyPr/>
          <a:lstStyle/>
          <a:p>
            <a:r>
              <a:rPr lang="en-US" dirty="0">
                <a:solidFill>
                  <a:schemeClr val="accent1"/>
                </a:solidFill>
              </a:rPr>
              <a:t>Margin of Safety</a:t>
            </a:r>
          </a:p>
        </p:txBody>
      </p:sp>
      <p:sp>
        <p:nvSpPr>
          <p:cNvPr id="3" name="Content Placeholder 2">
            <a:extLst>
              <a:ext uri="{FF2B5EF4-FFF2-40B4-BE49-F238E27FC236}">
                <a16:creationId xmlns:a16="http://schemas.microsoft.com/office/drawing/2014/main" id="{AA2C6B06-B091-7A44-A416-A606E11BC722}"/>
              </a:ext>
            </a:extLst>
          </p:cNvPr>
          <p:cNvSpPr>
            <a:spLocks noGrp="1"/>
          </p:cNvSpPr>
          <p:nvPr>
            <p:ph idx="1"/>
          </p:nvPr>
        </p:nvSpPr>
        <p:spPr>
          <a:xfrm>
            <a:off x="728335" y="1690688"/>
            <a:ext cx="5928944" cy="4351338"/>
          </a:xfrm>
        </p:spPr>
        <p:txBody>
          <a:bodyPr>
            <a:normAutofit lnSpcReduction="10000"/>
          </a:bodyPr>
          <a:lstStyle/>
          <a:p>
            <a:pPr>
              <a:lnSpc>
                <a:spcPct val="150000"/>
              </a:lnSpc>
            </a:pPr>
            <a:r>
              <a:rPr lang="en-IN" sz="1800" dirty="0"/>
              <a:t>The margin of safety is a measure of how far off the actual sales (or budgeted sales, as the case may be) is to the break-even sales. </a:t>
            </a:r>
          </a:p>
          <a:p>
            <a:pPr>
              <a:lnSpc>
                <a:spcPct val="150000"/>
              </a:lnSpc>
            </a:pPr>
            <a:r>
              <a:rPr lang="en-IN" sz="1800" dirty="0"/>
              <a:t>The higher the margin of safety, the safer the situation is for the business.</a:t>
            </a:r>
          </a:p>
          <a:p>
            <a:pPr>
              <a:lnSpc>
                <a:spcPct val="150000"/>
              </a:lnSpc>
            </a:pPr>
            <a:r>
              <a:rPr lang="en-IN" sz="1800" dirty="0"/>
              <a:t>Margin of safety determines the level by which sales can drop before a business incurs in operating losses.</a:t>
            </a:r>
          </a:p>
          <a:p>
            <a:pPr>
              <a:lnSpc>
                <a:spcPct val="150000"/>
              </a:lnSpc>
            </a:pPr>
            <a:r>
              <a:rPr lang="en-IN" sz="1800" dirty="0"/>
              <a:t>In other words, it represents the cushion by which actual or budgeted sales can be decreased without resulting in any loss.</a:t>
            </a:r>
          </a:p>
          <a:p>
            <a:endParaRPr lang="en-US" dirty="0"/>
          </a:p>
        </p:txBody>
      </p:sp>
      <p:sp>
        <p:nvSpPr>
          <p:cNvPr id="4" name="Text Box 3">
            <a:extLst>
              <a:ext uri="{FF2B5EF4-FFF2-40B4-BE49-F238E27FC236}">
                <a16:creationId xmlns:a16="http://schemas.microsoft.com/office/drawing/2014/main" id="{CA601FD7-B6F3-AD48-9457-CF6BFFCA9C58}"/>
              </a:ext>
            </a:extLst>
          </p:cNvPr>
          <p:cNvSpPr txBox="1">
            <a:spLocks noChangeArrowheads="1"/>
          </p:cNvSpPr>
          <p:nvPr/>
        </p:nvSpPr>
        <p:spPr bwMode="auto">
          <a:xfrm>
            <a:off x="6993461" y="2859514"/>
            <a:ext cx="5088673" cy="457200"/>
          </a:xfrm>
          <a:prstGeom prst="rect">
            <a:avLst/>
          </a:prstGeom>
          <a:noFill/>
          <a:ln w="9525">
            <a:solidFill>
              <a:schemeClr val="tx1"/>
            </a:solidFill>
            <a:miter lim="800000"/>
            <a:headEnd/>
            <a:tailEnd/>
          </a:ln>
        </p:spPr>
        <p:txBody>
          <a:bodyPr wrap="none"/>
          <a:lstStyle/>
          <a:p>
            <a:pPr defTabSz="273050">
              <a:defRPr/>
            </a:pPr>
            <a:r>
              <a:rPr lang="en-US" sz="1600" dirty="0">
                <a:cs typeface="Arial" pitchFamily="34" charset="0"/>
              </a:rPr>
              <a:t>Suppose Strategy Corp Prints sells 8,000 prints</a:t>
            </a:r>
            <a:r>
              <a:rPr lang="en-US" sz="2400" dirty="0">
                <a:cs typeface="Arial" pitchFamily="34" charset="0"/>
              </a:rPr>
              <a:t>.</a:t>
            </a:r>
          </a:p>
        </p:txBody>
      </p:sp>
      <p:sp>
        <p:nvSpPr>
          <p:cNvPr id="5" name="Text Box 3">
            <a:extLst>
              <a:ext uri="{FF2B5EF4-FFF2-40B4-BE49-F238E27FC236}">
                <a16:creationId xmlns:a16="http://schemas.microsoft.com/office/drawing/2014/main" id="{1FCCF5D6-CD78-5E4F-B829-61F9C881BE44}"/>
              </a:ext>
            </a:extLst>
          </p:cNvPr>
          <p:cNvSpPr txBox="1">
            <a:spLocks noChangeArrowheads="1"/>
          </p:cNvSpPr>
          <p:nvPr/>
        </p:nvSpPr>
        <p:spPr bwMode="auto">
          <a:xfrm>
            <a:off x="6993461" y="3316714"/>
            <a:ext cx="5088673" cy="1369159"/>
          </a:xfrm>
          <a:prstGeom prst="rect">
            <a:avLst/>
          </a:prstGeom>
          <a:noFill/>
          <a:ln w="9525">
            <a:solidFill>
              <a:schemeClr val="tx1"/>
            </a:solidFill>
            <a:miter lim="800000"/>
            <a:headEnd/>
            <a:tailEnd/>
          </a:ln>
        </p:spPr>
        <p:txBody>
          <a:bodyPr/>
          <a:lstStyle>
            <a:lvl1pPr defTabSz="273050">
              <a:defRPr>
                <a:solidFill>
                  <a:schemeClr val="tx1"/>
                </a:solidFill>
                <a:latin typeface="Arial" pitchFamily="34" charset="0"/>
                <a:ea typeface="ＭＳ Ｐゴシック" pitchFamily="34" charset="-128"/>
              </a:defRPr>
            </a:lvl1pPr>
            <a:lvl2pPr marL="742950" indent="-285750" defTabSz="273050">
              <a:defRPr>
                <a:solidFill>
                  <a:schemeClr val="tx1"/>
                </a:solidFill>
                <a:latin typeface="Arial" pitchFamily="34" charset="0"/>
                <a:ea typeface="ＭＳ Ｐゴシック" pitchFamily="34" charset="-128"/>
              </a:defRPr>
            </a:lvl2pPr>
            <a:lvl3pPr marL="1143000" indent="-228600" defTabSz="273050">
              <a:defRPr>
                <a:solidFill>
                  <a:schemeClr val="tx1"/>
                </a:solidFill>
                <a:latin typeface="Arial" pitchFamily="34" charset="0"/>
                <a:ea typeface="ＭＳ Ｐゴシック" pitchFamily="34" charset="-128"/>
              </a:defRPr>
            </a:lvl3pPr>
            <a:lvl4pPr defTabSz="273050">
              <a:defRPr>
                <a:solidFill>
                  <a:schemeClr val="tx1"/>
                </a:solidFill>
                <a:latin typeface="Arial" pitchFamily="34" charset="0"/>
                <a:ea typeface="ＭＳ Ｐゴシック" pitchFamily="34" charset="-128"/>
              </a:defRPr>
            </a:lvl4pPr>
            <a:lvl5pPr marL="2057400" indent="-228600" defTabSz="273050">
              <a:defRPr>
                <a:solidFill>
                  <a:schemeClr val="tx1"/>
                </a:solidFill>
                <a:latin typeface="Arial" pitchFamily="34" charset="0"/>
                <a:ea typeface="ＭＳ Ｐゴシック" pitchFamily="34" charset="-128"/>
              </a:defRPr>
            </a:lvl5pPr>
            <a:lvl6pPr marL="2514600" indent="-228600" defTabSz="27305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27305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27305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27305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defRPr/>
            </a:pPr>
            <a:r>
              <a:rPr lang="en-US" altLang="en-US" sz="1600" dirty="0">
                <a:cs typeface="Arial" pitchFamily="34" charset="0"/>
              </a:rPr>
              <a:t>At a break-even volume of 6,250, its margin of safety is: </a:t>
            </a:r>
          </a:p>
          <a:p>
            <a:pPr lvl="3">
              <a:defRPr/>
            </a:pPr>
            <a:r>
              <a:rPr lang="en-US" altLang="en-US" sz="1600" dirty="0">
                <a:cs typeface="Arial" pitchFamily="34" charset="0"/>
              </a:rPr>
              <a:t>Sales – Break-even</a:t>
            </a:r>
          </a:p>
          <a:p>
            <a:pPr lvl="3">
              <a:defRPr/>
            </a:pPr>
            <a:r>
              <a:rPr lang="en-US" altLang="en-US" sz="1600" dirty="0">
                <a:cs typeface="Arial" pitchFamily="34" charset="0"/>
              </a:rPr>
              <a:t>8,000 – 6,250 = 1,750 prints</a:t>
            </a:r>
          </a:p>
          <a:p>
            <a:pPr>
              <a:defRPr/>
            </a:pPr>
            <a:endParaRPr lang="en-US" altLang="en-US" sz="2400" dirty="0">
              <a:cs typeface="Arial" pitchFamily="34" charset="0"/>
            </a:endParaRPr>
          </a:p>
        </p:txBody>
      </p:sp>
      <p:pic>
        <p:nvPicPr>
          <p:cNvPr id="6" name="Picture 5">
            <a:extLst>
              <a:ext uri="{FF2B5EF4-FFF2-40B4-BE49-F238E27FC236}">
                <a16:creationId xmlns:a16="http://schemas.microsoft.com/office/drawing/2014/main" id="{FBCE941C-9D47-DE49-983E-8FC8B9B905AF}"/>
              </a:ext>
            </a:extLst>
          </p:cNvPr>
          <p:cNvPicPr>
            <a:picLocks noChangeAspect="1"/>
          </p:cNvPicPr>
          <p:nvPr/>
        </p:nvPicPr>
        <p:blipFill>
          <a:blip r:embed="rId2"/>
          <a:stretch>
            <a:fillRect/>
          </a:stretch>
        </p:blipFill>
        <p:spPr>
          <a:xfrm>
            <a:off x="9642764" y="95378"/>
            <a:ext cx="2408711" cy="547186"/>
          </a:xfrm>
          <a:prstGeom prst="rect">
            <a:avLst/>
          </a:prstGeom>
        </p:spPr>
      </p:pic>
      <p:sp>
        <p:nvSpPr>
          <p:cNvPr id="7" name="Footer Placeholder 4">
            <a:extLst>
              <a:ext uri="{FF2B5EF4-FFF2-40B4-BE49-F238E27FC236}">
                <a16:creationId xmlns:a16="http://schemas.microsoft.com/office/drawing/2014/main" id="{43F33B4A-B219-794D-8B8F-8774EAAE4A6E}"/>
              </a:ext>
            </a:extLst>
          </p:cNvPr>
          <p:cNvSpPr>
            <a:spLocks noGrp="1"/>
          </p:cNvSpPr>
          <p:nvPr>
            <p:ph type="ftr" sz="quarter" idx="11"/>
          </p:nvPr>
        </p:nvSpPr>
        <p:spPr>
          <a:xfrm>
            <a:off x="4038600" y="6629399"/>
            <a:ext cx="4114800" cy="228601"/>
          </a:xfrm>
        </p:spPr>
        <p:txBody>
          <a:bodyPr/>
          <a:lstStyle/>
          <a:p>
            <a:r>
              <a:rPr lang="en-US" dirty="0"/>
              <a:t>Confidential | All rights reserved Cesim Oy</a:t>
            </a:r>
          </a:p>
        </p:txBody>
      </p:sp>
    </p:spTree>
    <p:extLst>
      <p:ext uri="{BB962C8B-B14F-4D97-AF65-F5344CB8AC3E}">
        <p14:creationId xmlns:p14="http://schemas.microsoft.com/office/powerpoint/2010/main" val="33626271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1133</Words>
  <Application>Microsoft Macintosh PowerPoint</Application>
  <PresentationFormat>Widescreen</PresentationFormat>
  <Paragraphs>105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Breakeven Analysis</vt:lpstr>
      <vt:lpstr>Step 1: Understanding Market</vt:lpstr>
      <vt:lpstr>Step 2: Understanding Production</vt:lpstr>
      <vt:lpstr>CVP Analysis</vt:lpstr>
      <vt:lpstr>Profit Equation</vt:lpstr>
      <vt:lpstr>Contribution Margin</vt:lpstr>
      <vt:lpstr>CVP Example</vt:lpstr>
      <vt:lpstr>Breakeven Volume Units</vt:lpstr>
      <vt:lpstr>Breakeven Volume in Sales Rupees</vt:lpstr>
      <vt:lpstr>Margin of Safety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Breakeven Analysis</dc:title>
  <dc:creator>Abdul Bazi</dc:creator>
  <cp:lastModifiedBy>Abdul Bazi</cp:lastModifiedBy>
  <cp:revision>6</cp:revision>
  <dcterms:created xsi:type="dcterms:W3CDTF">2022-02-04T05:02:25Z</dcterms:created>
  <dcterms:modified xsi:type="dcterms:W3CDTF">2023-05-04T09:31:23Z</dcterms:modified>
</cp:coreProperties>
</file>