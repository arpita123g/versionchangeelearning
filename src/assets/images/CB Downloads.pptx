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89" r:id="rId7"/>
    <p:sldId id="261" r:id="rId8"/>
    <p:sldId id="262" r:id="rId9"/>
    <p:sldId id="263" r:id="rId10"/>
    <p:sldId id="264" r:id="rId11"/>
    <p:sldId id="290"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1"/>
  </p:normalViewPr>
  <p:slideViewPr>
    <p:cSldViewPr snapToGrid="0" snapToObjects="1">
      <p:cViewPr varScale="1">
        <p:scale>
          <a:sx n="107" d="100"/>
          <a:sy n="107"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EA31E1-5861-AC4D-836A-BE88D45D5691}" type="doc">
      <dgm:prSet loTypeId="urn:microsoft.com/office/officeart/2005/8/layout/hierarchy1" loCatId="" qsTypeId="urn:microsoft.com/office/officeart/2005/8/quickstyle/simple1" qsCatId="simple" csTypeId="urn:microsoft.com/office/officeart/2005/8/colors/colorful5" csCatId="colorful" phldr="1"/>
      <dgm:spPr/>
      <dgm:t>
        <a:bodyPr/>
        <a:lstStyle/>
        <a:p>
          <a:endParaRPr lang="en-GB"/>
        </a:p>
      </dgm:t>
    </dgm:pt>
    <dgm:pt modelId="{7B4F8838-F197-FE4C-B73E-1C84FD267104}">
      <dgm:prSet phldrT="[Text]"/>
      <dgm:spPr/>
      <dgm:t>
        <a:bodyPr/>
        <a:lstStyle/>
        <a:p>
          <a:r>
            <a:rPr lang="en-GB" dirty="0"/>
            <a:t>Investment Criteria</a:t>
          </a:r>
        </a:p>
      </dgm:t>
    </dgm:pt>
    <dgm:pt modelId="{94CEB53F-C143-8A4C-9F3E-D09F6997EC53}" type="parTrans" cxnId="{30D6F2AD-654B-D048-AF38-53B56663727E}">
      <dgm:prSet/>
      <dgm:spPr/>
      <dgm:t>
        <a:bodyPr/>
        <a:lstStyle/>
        <a:p>
          <a:endParaRPr lang="en-GB"/>
        </a:p>
      </dgm:t>
    </dgm:pt>
    <dgm:pt modelId="{9725F1BF-4173-464F-9EA2-0A5EB39DE557}" type="sibTrans" cxnId="{30D6F2AD-654B-D048-AF38-53B56663727E}">
      <dgm:prSet/>
      <dgm:spPr/>
      <dgm:t>
        <a:bodyPr/>
        <a:lstStyle/>
        <a:p>
          <a:endParaRPr lang="en-GB"/>
        </a:p>
      </dgm:t>
    </dgm:pt>
    <dgm:pt modelId="{372F721F-F06A-214C-99F8-66A2F3AD7C33}">
      <dgm:prSet phldrT="[Text]"/>
      <dgm:spPr/>
      <dgm:t>
        <a:bodyPr/>
        <a:lstStyle/>
        <a:p>
          <a:r>
            <a:rPr lang="en-GB" dirty="0"/>
            <a:t>Discounting</a:t>
          </a:r>
        </a:p>
        <a:p>
          <a:r>
            <a:rPr lang="en-GB" dirty="0"/>
            <a:t>Criteria</a:t>
          </a:r>
        </a:p>
      </dgm:t>
    </dgm:pt>
    <dgm:pt modelId="{3EA294A2-0B23-8441-A841-C9D6FAA1F1BB}" type="parTrans" cxnId="{7B26A734-9519-FF49-9DB9-A50B838FC9DA}">
      <dgm:prSet/>
      <dgm:spPr/>
      <dgm:t>
        <a:bodyPr/>
        <a:lstStyle/>
        <a:p>
          <a:endParaRPr lang="en-GB"/>
        </a:p>
      </dgm:t>
    </dgm:pt>
    <dgm:pt modelId="{1301389D-A5A3-FF41-AC42-81F6C57854E0}" type="sibTrans" cxnId="{7B26A734-9519-FF49-9DB9-A50B838FC9DA}">
      <dgm:prSet/>
      <dgm:spPr/>
      <dgm:t>
        <a:bodyPr/>
        <a:lstStyle/>
        <a:p>
          <a:endParaRPr lang="en-GB"/>
        </a:p>
      </dgm:t>
    </dgm:pt>
    <dgm:pt modelId="{CC9C3028-FFA3-0640-A8E3-5EC0F39BF309}">
      <dgm:prSet phldrT="[Text]"/>
      <dgm:spPr/>
      <dgm:t>
        <a:bodyPr/>
        <a:lstStyle/>
        <a:p>
          <a:r>
            <a:rPr lang="en-GB" dirty="0"/>
            <a:t>Net Present Value</a:t>
          </a:r>
        </a:p>
      </dgm:t>
    </dgm:pt>
    <dgm:pt modelId="{BEA612BD-189F-0D4E-973C-CB1DCA3A16E9}" type="parTrans" cxnId="{4BC84AA6-48C0-7048-9D7C-A1E4BBC8C3EB}">
      <dgm:prSet/>
      <dgm:spPr/>
      <dgm:t>
        <a:bodyPr/>
        <a:lstStyle/>
        <a:p>
          <a:endParaRPr lang="en-GB"/>
        </a:p>
      </dgm:t>
    </dgm:pt>
    <dgm:pt modelId="{3FEE02F8-F5A0-424C-9CF8-08D550004FF3}" type="sibTrans" cxnId="{4BC84AA6-48C0-7048-9D7C-A1E4BBC8C3EB}">
      <dgm:prSet/>
      <dgm:spPr/>
      <dgm:t>
        <a:bodyPr/>
        <a:lstStyle/>
        <a:p>
          <a:endParaRPr lang="en-GB"/>
        </a:p>
      </dgm:t>
    </dgm:pt>
    <dgm:pt modelId="{32B996F0-E96E-0C43-AAA6-B262D0C967DF}">
      <dgm:prSet phldrT="[Text]"/>
      <dgm:spPr/>
      <dgm:t>
        <a:bodyPr/>
        <a:lstStyle/>
        <a:p>
          <a:r>
            <a:rPr lang="en-GB" dirty="0"/>
            <a:t>Benefit Cost Ratio</a:t>
          </a:r>
        </a:p>
      </dgm:t>
    </dgm:pt>
    <dgm:pt modelId="{861A8C14-EC63-FE41-A0F5-9E9EA4EC2833}" type="parTrans" cxnId="{AAE86831-27A5-EB43-9DEC-9532B6FB7B52}">
      <dgm:prSet/>
      <dgm:spPr/>
      <dgm:t>
        <a:bodyPr/>
        <a:lstStyle/>
        <a:p>
          <a:endParaRPr lang="en-GB"/>
        </a:p>
      </dgm:t>
    </dgm:pt>
    <dgm:pt modelId="{0029BBCC-0631-9D4A-9266-011E135E33C2}" type="sibTrans" cxnId="{AAE86831-27A5-EB43-9DEC-9532B6FB7B52}">
      <dgm:prSet/>
      <dgm:spPr/>
      <dgm:t>
        <a:bodyPr/>
        <a:lstStyle/>
        <a:p>
          <a:endParaRPr lang="en-GB"/>
        </a:p>
      </dgm:t>
    </dgm:pt>
    <dgm:pt modelId="{67B3F18C-F003-6E40-ABF6-98D47EBD46E5}">
      <dgm:prSet phldrT="[Text]"/>
      <dgm:spPr/>
      <dgm:t>
        <a:bodyPr/>
        <a:lstStyle/>
        <a:p>
          <a:r>
            <a:rPr lang="en-GB" dirty="0"/>
            <a:t>Non-Discounting Criteria</a:t>
          </a:r>
        </a:p>
      </dgm:t>
    </dgm:pt>
    <dgm:pt modelId="{CE27AED8-93E8-0049-B7B7-CD8F96092315}" type="parTrans" cxnId="{19AB4034-1132-FE46-84BE-0E3C09049D10}">
      <dgm:prSet/>
      <dgm:spPr/>
      <dgm:t>
        <a:bodyPr/>
        <a:lstStyle/>
        <a:p>
          <a:endParaRPr lang="en-GB"/>
        </a:p>
      </dgm:t>
    </dgm:pt>
    <dgm:pt modelId="{BF19A707-6671-DA47-9377-C9D70EB19113}" type="sibTrans" cxnId="{19AB4034-1132-FE46-84BE-0E3C09049D10}">
      <dgm:prSet/>
      <dgm:spPr/>
      <dgm:t>
        <a:bodyPr/>
        <a:lstStyle/>
        <a:p>
          <a:endParaRPr lang="en-GB"/>
        </a:p>
      </dgm:t>
    </dgm:pt>
    <dgm:pt modelId="{2509561B-7537-BC4C-80D1-28C9CE4CF93A}">
      <dgm:prSet phldrT="[Text]"/>
      <dgm:spPr/>
      <dgm:t>
        <a:bodyPr/>
        <a:lstStyle/>
        <a:p>
          <a:r>
            <a:rPr lang="en-GB" dirty="0"/>
            <a:t>Payback Period</a:t>
          </a:r>
        </a:p>
      </dgm:t>
    </dgm:pt>
    <dgm:pt modelId="{FFCCD0BA-7A1C-5F43-9562-0EC381E9E14F}" type="parTrans" cxnId="{84150B6D-B0A1-594D-A191-1F2D68281A1E}">
      <dgm:prSet/>
      <dgm:spPr/>
      <dgm:t>
        <a:bodyPr/>
        <a:lstStyle/>
        <a:p>
          <a:endParaRPr lang="en-GB"/>
        </a:p>
      </dgm:t>
    </dgm:pt>
    <dgm:pt modelId="{792D7781-C81D-D14B-B8A5-FE7941ACED3E}" type="sibTrans" cxnId="{84150B6D-B0A1-594D-A191-1F2D68281A1E}">
      <dgm:prSet/>
      <dgm:spPr/>
      <dgm:t>
        <a:bodyPr/>
        <a:lstStyle/>
        <a:p>
          <a:endParaRPr lang="en-GB"/>
        </a:p>
      </dgm:t>
    </dgm:pt>
    <dgm:pt modelId="{176C4956-53E3-C241-91C6-6B391D887EE1}">
      <dgm:prSet phldrT="[Text]"/>
      <dgm:spPr/>
      <dgm:t>
        <a:bodyPr/>
        <a:lstStyle/>
        <a:p>
          <a:r>
            <a:rPr lang="en-GB" dirty="0"/>
            <a:t>Internal Rate of Return</a:t>
          </a:r>
        </a:p>
      </dgm:t>
    </dgm:pt>
    <dgm:pt modelId="{46A467C0-060F-E442-AF39-84386813E7D8}" type="parTrans" cxnId="{5ED63A46-AFFB-5042-B6AD-DD177B22A025}">
      <dgm:prSet/>
      <dgm:spPr/>
      <dgm:t>
        <a:bodyPr/>
        <a:lstStyle/>
        <a:p>
          <a:endParaRPr lang="en-GB"/>
        </a:p>
      </dgm:t>
    </dgm:pt>
    <dgm:pt modelId="{9C03960A-7101-3247-A98E-7EB7A3C6D3B7}" type="sibTrans" cxnId="{5ED63A46-AFFB-5042-B6AD-DD177B22A025}">
      <dgm:prSet/>
      <dgm:spPr/>
      <dgm:t>
        <a:bodyPr/>
        <a:lstStyle/>
        <a:p>
          <a:endParaRPr lang="en-GB"/>
        </a:p>
      </dgm:t>
    </dgm:pt>
    <dgm:pt modelId="{F179DEAD-C9B7-E344-9E9E-67C8A33783B2}">
      <dgm:prSet phldrT="[Text]"/>
      <dgm:spPr/>
      <dgm:t>
        <a:bodyPr/>
        <a:lstStyle/>
        <a:p>
          <a:r>
            <a:rPr lang="en-GB" dirty="0"/>
            <a:t>Accounting Return</a:t>
          </a:r>
        </a:p>
      </dgm:t>
    </dgm:pt>
    <dgm:pt modelId="{6422D7AD-48F5-2446-BAB1-2916951C361B}" type="parTrans" cxnId="{4733CFF6-F264-224B-B9BC-C56524057DEB}">
      <dgm:prSet/>
      <dgm:spPr/>
      <dgm:t>
        <a:bodyPr/>
        <a:lstStyle/>
        <a:p>
          <a:endParaRPr lang="en-GB"/>
        </a:p>
      </dgm:t>
    </dgm:pt>
    <dgm:pt modelId="{3751895C-DBE2-8F4F-B973-18EF86C41147}" type="sibTrans" cxnId="{4733CFF6-F264-224B-B9BC-C56524057DEB}">
      <dgm:prSet/>
      <dgm:spPr/>
      <dgm:t>
        <a:bodyPr/>
        <a:lstStyle/>
        <a:p>
          <a:endParaRPr lang="en-GB"/>
        </a:p>
      </dgm:t>
    </dgm:pt>
    <dgm:pt modelId="{EEF3FC9B-9F82-B042-B21B-DC7949BCD4B3}" type="pres">
      <dgm:prSet presAssocID="{74EA31E1-5861-AC4D-836A-BE88D45D5691}" presName="hierChild1" presStyleCnt="0">
        <dgm:presLayoutVars>
          <dgm:chPref val="1"/>
          <dgm:dir/>
          <dgm:animOne val="branch"/>
          <dgm:animLvl val="lvl"/>
          <dgm:resizeHandles/>
        </dgm:presLayoutVars>
      </dgm:prSet>
      <dgm:spPr/>
    </dgm:pt>
    <dgm:pt modelId="{C14F7DEA-5650-B849-80CE-B4F9565A72F7}" type="pres">
      <dgm:prSet presAssocID="{7B4F8838-F197-FE4C-B73E-1C84FD267104}" presName="hierRoot1" presStyleCnt="0"/>
      <dgm:spPr/>
    </dgm:pt>
    <dgm:pt modelId="{8CFCE800-A8DC-744E-A398-90B27849F316}" type="pres">
      <dgm:prSet presAssocID="{7B4F8838-F197-FE4C-B73E-1C84FD267104}" presName="composite" presStyleCnt="0"/>
      <dgm:spPr/>
    </dgm:pt>
    <dgm:pt modelId="{CEA95FB3-B98C-6F47-807F-F983A276E577}" type="pres">
      <dgm:prSet presAssocID="{7B4F8838-F197-FE4C-B73E-1C84FD267104}" presName="background" presStyleLbl="node0" presStyleIdx="0" presStyleCnt="1"/>
      <dgm:spPr/>
    </dgm:pt>
    <dgm:pt modelId="{F6FC8F27-792A-A248-99A4-C5D829F2217C}" type="pres">
      <dgm:prSet presAssocID="{7B4F8838-F197-FE4C-B73E-1C84FD267104}" presName="text" presStyleLbl="fgAcc0" presStyleIdx="0" presStyleCnt="1">
        <dgm:presLayoutVars>
          <dgm:chPref val="3"/>
        </dgm:presLayoutVars>
      </dgm:prSet>
      <dgm:spPr/>
    </dgm:pt>
    <dgm:pt modelId="{61EA6E6A-FBBD-4A4C-94DB-47378967E222}" type="pres">
      <dgm:prSet presAssocID="{7B4F8838-F197-FE4C-B73E-1C84FD267104}" presName="hierChild2" presStyleCnt="0"/>
      <dgm:spPr/>
    </dgm:pt>
    <dgm:pt modelId="{CB628A08-5EA8-E145-B2A4-08F9F5AD55A6}" type="pres">
      <dgm:prSet presAssocID="{3EA294A2-0B23-8441-A841-C9D6FAA1F1BB}" presName="Name10" presStyleLbl="parChTrans1D2" presStyleIdx="0" presStyleCnt="2"/>
      <dgm:spPr/>
    </dgm:pt>
    <dgm:pt modelId="{9E0ACED6-17D1-F14F-BA98-E4C4DC118800}" type="pres">
      <dgm:prSet presAssocID="{372F721F-F06A-214C-99F8-66A2F3AD7C33}" presName="hierRoot2" presStyleCnt="0"/>
      <dgm:spPr/>
    </dgm:pt>
    <dgm:pt modelId="{F6AD54A3-CE06-F942-A575-8945F97F6A35}" type="pres">
      <dgm:prSet presAssocID="{372F721F-F06A-214C-99F8-66A2F3AD7C33}" presName="composite2" presStyleCnt="0"/>
      <dgm:spPr/>
    </dgm:pt>
    <dgm:pt modelId="{14573B02-73DC-134B-8D3B-2456A5749CD9}" type="pres">
      <dgm:prSet presAssocID="{372F721F-F06A-214C-99F8-66A2F3AD7C33}" presName="background2" presStyleLbl="node2" presStyleIdx="0" presStyleCnt="2"/>
      <dgm:spPr/>
    </dgm:pt>
    <dgm:pt modelId="{0B31B72D-EDCE-EB48-9299-B1AEBF249DB1}" type="pres">
      <dgm:prSet presAssocID="{372F721F-F06A-214C-99F8-66A2F3AD7C33}" presName="text2" presStyleLbl="fgAcc2" presStyleIdx="0" presStyleCnt="2">
        <dgm:presLayoutVars>
          <dgm:chPref val="3"/>
        </dgm:presLayoutVars>
      </dgm:prSet>
      <dgm:spPr/>
    </dgm:pt>
    <dgm:pt modelId="{E6C4059A-C135-4C49-8042-938DCFA9B878}" type="pres">
      <dgm:prSet presAssocID="{372F721F-F06A-214C-99F8-66A2F3AD7C33}" presName="hierChild3" presStyleCnt="0"/>
      <dgm:spPr/>
    </dgm:pt>
    <dgm:pt modelId="{CD6B1602-6A11-0D4F-8805-E2BFE3080361}" type="pres">
      <dgm:prSet presAssocID="{BEA612BD-189F-0D4E-973C-CB1DCA3A16E9}" presName="Name17" presStyleLbl="parChTrans1D3" presStyleIdx="0" presStyleCnt="5"/>
      <dgm:spPr/>
    </dgm:pt>
    <dgm:pt modelId="{2E361AD0-0615-A044-B592-9E2DA1B1BEC8}" type="pres">
      <dgm:prSet presAssocID="{CC9C3028-FFA3-0640-A8E3-5EC0F39BF309}" presName="hierRoot3" presStyleCnt="0"/>
      <dgm:spPr/>
    </dgm:pt>
    <dgm:pt modelId="{EE953937-2EB7-794D-9EBF-B5E0B49521E5}" type="pres">
      <dgm:prSet presAssocID="{CC9C3028-FFA3-0640-A8E3-5EC0F39BF309}" presName="composite3" presStyleCnt="0"/>
      <dgm:spPr/>
    </dgm:pt>
    <dgm:pt modelId="{BC30F0A4-E6FD-4C4F-8EF7-560617178497}" type="pres">
      <dgm:prSet presAssocID="{CC9C3028-FFA3-0640-A8E3-5EC0F39BF309}" presName="background3" presStyleLbl="node3" presStyleIdx="0" presStyleCnt="5"/>
      <dgm:spPr/>
    </dgm:pt>
    <dgm:pt modelId="{97F47BC9-4888-9441-AD34-3D6074CD76A0}" type="pres">
      <dgm:prSet presAssocID="{CC9C3028-FFA3-0640-A8E3-5EC0F39BF309}" presName="text3" presStyleLbl="fgAcc3" presStyleIdx="0" presStyleCnt="5">
        <dgm:presLayoutVars>
          <dgm:chPref val="3"/>
        </dgm:presLayoutVars>
      </dgm:prSet>
      <dgm:spPr/>
    </dgm:pt>
    <dgm:pt modelId="{F4A217E1-BE5A-DE44-A6B6-7D920258E404}" type="pres">
      <dgm:prSet presAssocID="{CC9C3028-FFA3-0640-A8E3-5EC0F39BF309}" presName="hierChild4" presStyleCnt="0"/>
      <dgm:spPr/>
    </dgm:pt>
    <dgm:pt modelId="{58724878-F7CB-FF4A-B953-B9ED7E980C27}" type="pres">
      <dgm:prSet presAssocID="{861A8C14-EC63-FE41-A0F5-9E9EA4EC2833}" presName="Name17" presStyleLbl="parChTrans1D3" presStyleIdx="1" presStyleCnt="5"/>
      <dgm:spPr/>
    </dgm:pt>
    <dgm:pt modelId="{09B659C5-86FD-924D-AC0E-4719C3B4A9C4}" type="pres">
      <dgm:prSet presAssocID="{32B996F0-E96E-0C43-AAA6-B262D0C967DF}" presName="hierRoot3" presStyleCnt="0"/>
      <dgm:spPr/>
    </dgm:pt>
    <dgm:pt modelId="{4F076A43-4EE4-DB45-8BBC-EB4E48F0C19D}" type="pres">
      <dgm:prSet presAssocID="{32B996F0-E96E-0C43-AAA6-B262D0C967DF}" presName="composite3" presStyleCnt="0"/>
      <dgm:spPr/>
    </dgm:pt>
    <dgm:pt modelId="{042314DC-AA28-D846-8116-AD8AC621C912}" type="pres">
      <dgm:prSet presAssocID="{32B996F0-E96E-0C43-AAA6-B262D0C967DF}" presName="background3" presStyleLbl="node3" presStyleIdx="1" presStyleCnt="5"/>
      <dgm:spPr/>
    </dgm:pt>
    <dgm:pt modelId="{C30727F8-4E50-E240-856D-48DF6AA0A60A}" type="pres">
      <dgm:prSet presAssocID="{32B996F0-E96E-0C43-AAA6-B262D0C967DF}" presName="text3" presStyleLbl="fgAcc3" presStyleIdx="1" presStyleCnt="5">
        <dgm:presLayoutVars>
          <dgm:chPref val="3"/>
        </dgm:presLayoutVars>
      </dgm:prSet>
      <dgm:spPr/>
    </dgm:pt>
    <dgm:pt modelId="{C2B6ACFF-5A41-9A4C-9730-414C15AA0875}" type="pres">
      <dgm:prSet presAssocID="{32B996F0-E96E-0C43-AAA6-B262D0C967DF}" presName="hierChild4" presStyleCnt="0"/>
      <dgm:spPr/>
    </dgm:pt>
    <dgm:pt modelId="{5AA60BFB-A28C-1148-84B6-593335BADF59}" type="pres">
      <dgm:prSet presAssocID="{46A467C0-060F-E442-AF39-84386813E7D8}" presName="Name17" presStyleLbl="parChTrans1D3" presStyleIdx="2" presStyleCnt="5"/>
      <dgm:spPr/>
    </dgm:pt>
    <dgm:pt modelId="{8CC2E5B7-11A2-8743-9B9B-3D0579EF247F}" type="pres">
      <dgm:prSet presAssocID="{176C4956-53E3-C241-91C6-6B391D887EE1}" presName="hierRoot3" presStyleCnt="0"/>
      <dgm:spPr/>
    </dgm:pt>
    <dgm:pt modelId="{09AFCCE9-3FD8-0C42-B6EB-003ECE930C89}" type="pres">
      <dgm:prSet presAssocID="{176C4956-53E3-C241-91C6-6B391D887EE1}" presName="composite3" presStyleCnt="0"/>
      <dgm:spPr/>
    </dgm:pt>
    <dgm:pt modelId="{317BA63F-A2C8-3742-B22B-252A90485CCD}" type="pres">
      <dgm:prSet presAssocID="{176C4956-53E3-C241-91C6-6B391D887EE1}" presName="background3" presStyleLbl="node3" presStyleIdx="2" presStyleCnt="5"/>
      <dgm:spPr/>
    </dgm:pt>
    <dgm:pt modelId="{3875F5C1-DFCE-CD41-BC0E-FAC62A3F41A2}" type="pres">
      <dgm:prSet presAssocID="{176C4956-53E3-C241-91C6-6B391D887EE1}" presName="text3" presStyleLbl="fgAcc3" presStyleIdx="2" presStyleCnt="5">
        <dgm:presLayoutVars>
          <dgm:chPref val="3"/>
        </dgm:presLayoutVars>
      </dgm:prSet>
      <dgm:spPr/>
    </dgm:pt>
    <dgm:pt modelId="{25DE3159-0A40-9C46-B946-045A18646C1E}" type="pres">
      <dgm:prSet presAssocID="{176C4956-53E3-C241-91C6-6B391D887EE1}" presName="hierChild4" presStyleCnt="0"/>
      <dgm:spPr/>
    </dgm:pt>
    <dgm:pt modelId="{5FAD1AE8-3FFE-F54D-B79D-1F36B858588A}" type="pres">
      <dgm:prSet presAssocID="{CE27AED8-93E8-0049-B7B7-CD8F96092315}" presName="Name10" presStyleLbl="parChTrans1D2" presStyleIdx="1" presStyleCnt="2"/>
      <dgm:spPr/>
    </dgm:pt>
    <dgm:pt modelId="{E0A3A309-2FE0-E54A-AC44-60EFC86F3F79}" type="pres">
      <dgm:prSet presAssocID="{67B3F18C-F003-6E40-ABF6-98D47EBD46E5}" presName="hierRoot2" presStyleCnt="0"/>
      <dgm:spPr/>
    </dgm:pt>
    <dgm:pt modelId="{764A9D54-539A-B842-A245-F06C5FD8FD8C}" type="pres">
      <dgm:prSet presAssocID="{67B3F18C-F003-6E40-ABF6-98D47EBD46E5}" presName="composite2" presStyleCnt="0"/>
      <dgm:spPr/>
    </dgm:pt>
    <dgm:pt modelId="{D34B49D4-7ABB-F54C-A275-61F5C5EF3A1B}" type="pres">
      <dgm:prSet presAssocID="{67B3F18C-F003-6E40-ABF6-98D47EBD46E5}" presName="background2" presStyleLbl="node2" presStyleIdx="1" presStyleCnt="2"/>
      <dgm:spPr/>
    </dgm:pt>
    <dgm:pt modelId="{1A8E42AF-0954-E341-BDEB-E40D5AACF46B}" type="pres">
      <dgm:prSet presAssocID="{67B3F18C-F003-6E40-ABF6-98D47EBD46E5}" presName="text2" presStyleLbl="fgAcc2" presStyleIdx="1" presStyleCnt="2">
        <dgm:presLayoutVars>
          <dgm:chPref val="3"/>
        </dgm:presLayoutVars>
      </dgm:prSet>
      <dgm:spPr/>
    </dgm:pt>
    <dgm:pt modelId="{1AC90A68-4DD1-4849-944A-56FCFC68903C}" type="pres">
      <dgm:prSet presAssocID="{67B3F18C-F003-6E40-ABF6-98D47EBD46E5}" presName="hierChild3" presStyleCnt="0"/>
      <dgm:spPr/>
    </dgm:pt>
    <dgm:pt modelId="{884F88D2-401C-3246-A398-5FF40AF206E3}" type="pres">
      <dgm:prSet presAssocID="{FFCCD0BA-7A1C-5F43-9562-0EC381E9E14F}" presName="Name17" presStyleLbl="parChTrans1D3" presStyleIdx="3" presStyleCnt="5"/>
      <dgm:spPr/>
    </dgm:pt>
    <dgm:pt modelId="{A920F351-6D26-BA42-9074-E872ED24FE8E}" type="pres">
      <dgm:prSet presAssocID="{2509561B-7537-BC4C-80D1-28C9CE4CF93A}" presName="hierRoot3" presStyleCnt="0"/>
      <dgm:spPr/>
    </dgm:pt>
    <dgm:pt modelId="{262075D0-CAB0-9741-9C00-D36089C65D4A}" type="pres">
      <dgm:prSet presAssocID="{2509561B-7537-BC4C-80D1-28C9CE4CF93A}" presName="composite3" presStyleCnt="0"/>
      <dgm:spPr/>
    </dgm:pt>
    <dgm:pt modelId="{8306943D-FF91-8A4B-BE69-086BF626A178}" type="pres">
      <dgm:prSet presAssocID="{2509561B-7537-BC4C-80D1-28C9CE4CF93A}" presName="background3" presStyleLbl="node3" presStyleIdx="3" presStyleCnt="5"/>
      <dgm:spPr/>
    </dgm:pt>
    <dgm:pt modelId="{25A8F431-1322-C24D-9AD8-2A52A574981C}" type="pres">
      <dgm:prSet presAssocID="{2509561B-7537-BC4C-80D1-28C9CE4CF93A}" presName="text3" presStyleLbl="fgAcc3" presStyleIdx="3" presStyleCnt="5">
        <dgm:presLayoutVars>
          <dgm:chPref val="3"/>
        </dgm:presLayoutVars>
      </dgm:prSet>
      <dgm:spPr/>
    </dgm:pt>
    <dgm:pt modelId="{2249A279-FFE2-2440-97F6-5536FBA1CE10}" type="pres">
      <dgm:prSet presAssocID="{2509561B-7537-BC4C-80D1-28C9CE4CF93A}" presName="hierChild4" presStyleCnt="0"/>
      <dgm:spPr/>
    </dgm:pt>
    <dgm:pt modelId="{560BD99E-1D44-F643-AA5C-417D81A8C990}" type="pres">
      <dgm:prSet presAssocID="{6422D7AD-48F5-2446-BAB1-2916951C361B}" presName="Name17" presStyleLbl="parChTrans1D3" presStyleIdx="4" presStyleCnt="5"/>
      <dgm:spPr/>
    </dgm:pt>
    <dgm:pt modelId="{3B95600E-6933-B64D-A043-67CB906FA67C}" type="pres">
      <dgm:prSet presAssocID="{F179DEAD-C9B7-E344-9E9E-67C8A33783B2}" presName="hierRoot3" presStyleCnt="0"/>
      <dgm:spPr/>
    </dgm:pt>
    <dgm:pt modelId="{44E2DD6A-1A27-4F4F-B8AD-DA9664A4D148}" type="pres">
      <dgm:prSet presAssocID="{F179DEAD-C9B7-E344-9E9E-67C8A33783B2}" presName="composite3" presStyleCnt="0"/>
      <dgm:spPr/>
    </dgm:pt>
    <dgm:pt modelId="{F26B7150-7683-E24E-8486-69494957FA6B}" type="pres">
      <dgm:prSet presAssocID="{F179DEAD-C9B7-E344-9E9E-67C8A33783B2}" presName="background3" presStyleLbl="node3" presStyleIdx="4" presStyleCnt="5"/>
      <dgm:spPr/>
    </dgm:pt>
    <dgm:pt modelId="{DFA29CA6-524B-B741-A43C-DF1E251770BE}" type="pres">
      <dgm:prSet presAssocID="{F179DEAD-C9B7-E344-9E9E-67C8A33783B2}" presName="text3" presStyleLbl="fgAcc3" presStyleIdx="4" presStyleCnt="5">
        <dgm:presLayoutVars>
          <dgm:chPref val="3"/>
        </dgm:presLayoutVars>
      </dgm:prSet>
      <dgm:spPr/>
    </dgm:pt>
    <dgm:pt modelId="{5ECB6D71-5EE0-3249-91F2-CE999E9B969A}" type="pres">
      <dgm:prSet presAssocID="{F179DEAD-C9B7-E344-9E9E-67C8A33783B2}" presName="hierChild4" presStyleCnt="0"/>
      <dgm:spPr/>
    </dgm:pt>
  </dgm:ptLst>
  <dgm:cxnLst>
    <dgm:cxn modelId="{E4A54510-15BC-0F46-9716-2B54888C918B}" type="presOf" srcId="{F179DEAD-C9B7-E344-9E9E-67C8A33783B2}" destId="{DFA29CA6-524B-B741-A43C-DF1E251770BE}" srcOrd="0" destOrd="0" presId="urn:microsoft.com/office/officeart/2005/8/layout/hierarchy1"/>
    <dgm:cxn modelId="{1E4ECE1E-0CE9-834D-AC45-9D28B90A2D1E}" type="presOf" srcId="{CE27AED8-93E8-0049-B7B7-CD8F96092315}" destId="{5FAD1AE8-3FFE-F54D-B79D-1F36B858588A}" srcOrd="0" destOrd="0" presId="urn:microsoft.com/office/officeart/2005/8/layout/hierarchy1"/>
    <dgm:cxn modelId="{3A690028-19C2-0543-BC2C-A13A5B389A80}" type="presOf" srcId="{FFCCD0BA-7A1C-5F43-9562-0EC381E9E14F}" destId="{884F88D2-401C-3246-A398-5FF40AF206E3}" srcOrd="0" destOrd="0" presId="urn:microsoft.com/office/officeart/2005/8/layout/hierarchy1"/>
    <dgm:cxn modelId="{6E04FA2B-1D5F-8E4D-A726-A0EFEBACDD59}" type="presOf" srcId="{CC9C3028-FFA3-0640-A8E3-5EC0F39BF309}" destId="{97F47BC9-4888-9441-AD34-3D6074CD76A0}" srcOrd="0" destOrd="0" presId="urn:microsoft.com/office/officeart/2005/8/layout/hierarchy1"/>
    <dgm:cxn modelId="{AAE86831-27A5-EB43-9DEC-9532B6FB7B52}" srcId="{372F721F-F06A-214C-99F8-66A2F3AD7C33}" destId="{32B996F0-E96E-0C43-AAA6-B262D0C967DF}" srcOrd="1" destOrd="0" parTransId="{861A8C14-EC63-FE41-A0F5-9E9EA4EC2833}" sibTransId="{0029BBCC-0631-9D4A-9266-011E135E33C2}"/>
    <dgm:cxn modelId="{19AB4034-1132-FE46-84BE-0E3C09049D10}" srcId="{7B4F8838-F197-FE4C-B73E-1C84FD267104}" destId="{67B3F18C-F003-6E40-ABF6-98D47EBD46E5}" srcOrd="1" destOrd="0" parTransId="{CE27AED8-93E8-0049-B7B7-CD8F96092315}" sibTransId="{BF19A707-6671-DA47-9377-C9D70EB19113}"/>
    <dgm:cxn modelId="{7B26A734-9519-FF49-9DB9-A50B838FC9DA}" srcId="{7B4F8838-F197-FE4C-B73E-1C84FD267104}" destId="{372F721F-F06A-214C-99F8-66A2F3AD7C33}" srcOrd="0" destOrd="0" parTransId="{3EA294A2-0B23-8441-A841-C9D6FAA1F1BB}" sibTransId="{1301389D-A5A3-FF41-AC42-81F6C57854E0}"/>
    <dgm:cxn modelId="{5ED63A46-AFFB-5042-B6AD-DD177B22A025}" srcId="{372F721F-F06A-214C-99F8-66A2F3AD7C33}" destId="{176C4956-53E3-C241-91C6-6B391D887EE1}" srcOrd="2" destOrd="0" parTransId="{46A467C0-060F-E442-AF39-84386813E7D8}" sibTransId="{9C03960A-7101-3247-A98E-7EB7A3C6D3B7}"/>
    <dgm:cxn modelId="{84150B6D-B0A1-594D-A191-1F2D68281A1E}" srcId="{67B3F18C-F003-6E40-ABF6-98D47EBD46E5}" destId="{2509561B-7537-BC4C-80D1-28C9CE4CF93A}" srcOrd="0" destOrd="0" parTransId="{FFCCD0BA-7A1C-5F43-9562-0EC381E9E14F}" sibTransId="{792D7781-C81D-D14B-B8A5-FE7941ACED3E}"/>
    <dgm:cxn modelId="{EAAF9C82-AE62-F44E-A788-F55010E96FE2}" type="presOf" srcId="{67B3F18C-F003-6E40-ABF6-98D47EBD46E5}" destId="{1A8E42AF-0954-E341-BDEB-E40D5AACF46B}" srcOrd="0" destOrd="0" presId="urn:microsoft.com/office/officeart/2005/8/layout/hierarchy1"/>
    <dgm:cxn modelId="{A45F6A8B-6065-0F43-B267-2C4F073A8D98}" type="presOf" srcId="{BEA612BD-189F-0D4E-973C-CB1DCA3A16E9}" destId="{CD6B1602-6A11-0D4F-8805-E2BFE3080361}" srcOrd="0" destOrd="0" presId="urn:microsoft.com/office/officeart/2005/8/layout/hierarchy1"/>
    <dgm:cxn modelId="{1CCE858C-F5CE-2F4E-87F1-0FEA014DFA8A}" type="presOf" srcId="{2509561B-7537-BC4C-80D1-28C9CE4CF93A}" destId="{25A8F431-1322-C24D-9AD8-2A52A574981C}" srcOrd="0" destOrd="0" presId="urn:microsoft.com/office/officeart/2005/8/layout/hierarchy1"/>
    <dgm:cxn modelId="{0D3CDE8E-AAC6-8945-AD8E-4A1498F75919}" type="presOf" srcId="{32B996F0-E96E-0C43-AAA6-B262D0C967DF}" destId="{C30727F8-4E50-E240-856D-48DF6AA0A60A}" srcOrd="0" destOrd="0" presId="urn:microsoft.com/office/officeart/2005/8/layout/hierarchy1"/>
    <dgm:cxn modelId="{210DBD9E-31BC-2047-A048-E5DC77316C02}" type="presOf" srcId="{7B4F8838-F197-FE4C-B73E-1C84FD267104}" destId="{F6FC8F27-792A-A248-99A4-C5D829F2217C}" srcOrd="0" destOrd="0" presId="urn:microsoft.com/office/officeart/2005/8/layout/hierarchy1"/>
    <dgm:cxn modelId="{8407A1A3-3B96-4843-9467-7F2F2277C15A}" type="presOf" srcId="{6422D7AD-48F5-2446-BAB1-2916951C361B}" destId="{560BD99E-1D44-F643-AA5C-417D81A8C990}" srcOrd="0" destOrd="0" presId="urn:microsoft.com/office/officeart/2005/8/layout/hierarchy1"/>
    <dgm:cxn modelId="{4BC84AA6-48C0-7048-9D7C-A1E4BBC8C3EB}" srcId="{372F721F-F06A-214C-99F8-66A2F3AD7C33}" destId="{CC9C3028-FFA3-0640-A8E3-5EC0F39BF309}" srcOrd="0" destOrd="0" parTransId="{BEA612BD-189F-0D4E-973C-CB1DCA3A16E9}" sibTransId="{3FEE02F8-F5A0-424C-9CF8-08D550004FF3}"/>
    <dgm:cxn modelId="{30D6F2AD-654B-D048-AF38-53B56663727E}" srcId="{74EA31E1-5861-AC4D-836A-BE88D45D5691}" destId="{7B4F8838-F197-FE4C-B73E-1C84FD267104}" srcOrd="0" destOrd="0" parTransId="{94CEB53F-C143-8A4C-9F3E-D09F6997EC53}" sibTransId="{9725F1BF-4173-464F-9EA2-0A5EB39DE557}"/>
    <dgm:cxn modelId="{A17028B5-78DB-6D41-879F-A47D8B35A836}" type="presOf" srcId="{74EA31E1-5861-AC4D-836A-BE88D45D5691}" destId="{EEF3FC9B-9F82-B042-B21B-DC7949BCD4B3}" srcOrd="0" destOrd="0" presId="urn:microsoft.com/office/officeart/2005/8/layout/hierarchy1"/>
    <dgm:cxn modelId="{A63E1DBB-9057-AA48-8566-F436E1A1DF29}" type="presOf" srcId="{372F721F-F06A-214C-99F8-66A2F3AD7C33}" destId="{0B31B72D-EDCE-EB48-9299-B1AEBF249DB1}" srcOrd="0" destOrd="0" presId="urn:microsoft.com/office/officeart/2005/8/layout/hierarchy1"/>
    <dgm:cxn modelId="{E394FFE8-8CAE-BA4C-8CA7-0ED405AE9309}" type="presOf" srcId="{46A467C0-060F-E442-AF39-84386813E7D8}" destId="{5AA60BFB-A28C-1148-84B6-593335BADF59}" srcOrd="0" destOrd="0" presId="urn:microsoft.com/office/officeart/2005/8/layout/hierarchy1"/>
    <dgm:cxn modelId="{F6F803EA-D296-9A43-A59C-B297A5844AB1}" type="presOf" srcId="{176C4956-53E3-C241-91C6-6B391D887EE1}" destId="{3875F5C1-DFCE-CD41-BC0E-FAC62A3F41A2}" srcOrd="0" destOrd="0" presId="urn:microsoft.com/office/officeart/2005/8/layout/hierarchy1"/>
    <dgm:cxn modelId="{DDD484F3-FA7C-184E-AE56-25F1808F3A0E}" type="presOf" srcId="{3EA294A2-0B23-8441-A841-C9D6FAA1F1BB}" destId="{CB628A08-5EA8-E145-B2A4-08F9F5AD55A6}" srcOrd="0" destOrd="0" presId="urn:microsoft.com/office/officeart/2005/8/layout/hierarchy1"/>
    <dgm:cxn modelId="{4733CFF6-F264-224B-B9BC-C56524057DEB}" srcId="{67B3F18C-F003-6E40-ABF6-98D47EBD46E5}" destId="{F179DEAD-C9B7-E344-9E9E-67C8A33783B2}" srcOrd="1" destOrd="0" parTransId="{6422D7AD-48F5-2446-BAB1-2916951C361B}" sibTransId="{3751895C-DBE2-8F4F-B973-18EF86C41147}"/>
    <dgm:cxn modelId="{4B4409FF-1D89-F74D-9047-3700A93B057B}" type="presOf" srcId="{861A8C14-EC63-FE41-A0F5-9E9EA4EC2833}" destId="{58724878-F7CB-FF4A-B953-B9ED7E980C27}" srcOrd="0" destOrd="0" presId="urn:microsoft.com/office/officeart/2005/8/layout/hierarchy1"/>
    <dgm:cxn modelId="{5FC16621-D0F4-EC4D-A188-1133D1F7C3EB}" type="presParOf" srcId="{EEF3FC9B-9F82-B042-B21B-DC7949BCD4B3}" destId="{C14F7DEA-5650-B849-80CE-B4F9565A72F7}" srcOrd="0" destOrd="0" presId="urn:microsoft.com/office/officeart/2005/8/layout/hierarchy1"/>
    <dgm:cxn modelId="{4B467DBC-2A89-0A43-801E-1E0CF069614C}" type="presParOf" srcId="{C14F7DEA-5650-B849-80CE-B4F9565A72F7}" destId="{8CFCE800-A8DC-744E-A398-90B27849F316}" srcOrd="0" destOrd="0" presId="urn:microsoft.com/office/officeart/2005/8/layout/hierarchy1"/>
    <dgm:cxn modelId="{2FF3A00B-BBCC-344B-A880-E0AE8FFE1D8B}" type="presParOf" srcId="{8CFCE800-A8DC-744E-A398-90B27849F316}" destId="{CEA95FB3-B98C-6F47-807F-F983A276E577}" srcOrd="0" destOrd="0" presId="urn:microsoft.com/office/officeart/2005/8/layout/hierarchy1"/>
    <dgm:cxn modelId="{C10A68B8-E3EE-AC42-8792-6DA17E5E1B31}" type="presParOf" srcId="{8CFCE800-A8DC-744E-A398-90B27849F316}" destId="{F6FC8F27-792A-A248-99A4-C5D829F2217C}" srcOrd="1" destOrd="0" presId="urn:microsoft.com/office/officeart/2005/8/layout/hierarchy1"/>
    <dgm:cxn modelId="{ABFD820B-4831-E84F-9D25-C0E89602D42C}" type="presParOf" srcId="{C14F7DEA-5650-B849-80CE-B4F9565A72F7}" destId="{61EA6E6A-FBBD-4A4C-94DB-47378967E222}" srcOrd="1" destOrd="0" presId="urn:microsoft.com/office/officeart/2005/8/layout/hierarchy1"/>
    <dgm:cxn modelId="{44759E7E-A349-D842-8036-E1A6162C1788}" type="presParOf" srcId="{61EA6E6A-FBBD-4A4C-94DB-47378967E222}" destId="{CB628A08-5EA8-E145-B2A4-08F9F5AD55A6}" srcOrd="0" destOrd="0" presId="urn:microsoft.com/office/officeart/2005/8/layout/hierarchy1"/>
    <dgm:cxn modelId="{EE721A89-0DD3-C049-9E33-1555A146DD82}" type="presParOf" srcId="{61EA6E6A-FBBD-4A4C-94DB-47378967E222}" destId="{9E0ACED6-17D1-F14F-BA98-E4C4DC118800}" srcOrd="1" destOrd="0" presId="urn:microsoft.com/office/officeart/2005/8/layout/hierarchy1"/>
    <dgm:cxn modelId="{16BA728B-1F9B-4A4F-87E4-B062AFA75880}" type="presParOf" srcId="{9E0ACED6-17D1-F14F-BA98-E4C4DC118800}" destId="{F6AD54A3-CE06-F942-A575-8945F97F6A35}" srcOrd="0" destOrd="0" presId="urn:microsoft.com/office/officeart/2005/8/layout/hierarchy1"/>
    <dgm:cxn modelId="{4C38645D-873B-0945-887C-A86E6DA536D8}" type="presParOf" srcId="{F6AD54A3-CE06-F942-A575-8945F97F6A35}" destId="{14573B02-73DC-134B-8D3B-2456A5749CD9}" srcOrd="0" destOrd="0" presId="urn:microsoft.com/office/officeart/2005/8/layout/hierarchy1"/>
    <dgm:cxn modelId="{98B421C9-EFDD-874F-9AF1-E35C3CD0479C}" type="presParOf" srcId="{F6AD54A3-CE06-F942-A575-8945F97F6A35}" destId="{0B31B72D-EDCE-EB48-9299-B1AEBF249DB1}" srcOrd="1" destOrd="0" presId="urn:microsoft.com/office/officeart/2005/8/layout/hierarchy1"/>
    <dgm:cxn modelId="{FEE60B2C-F346-E64E-9D4B-A8D171D2D43D}" type="presParOf" srcId="{9E0ACED6-17D1-F14F-BA98-E4C4DC118800}" destId="{E6C4059A-C135-4C49-8042-938DCFA9B878}" srcOrd="1" destOrd="0" presId="urn:microsoft.com/office/officeart/2005/8/layout/hierarchy1"/>
    <dgm:cxn modelId="{36A8FF4D-27D5-AA4C-8B15-23E9BB61BD27}" type="presParOf" srcId="{E6C4059A-C135-4C49-8042-938DCFA9B878}" destId="{CD6B1602-6A11-0D4F-8805-E2BFE3080361}" srcOrd="0" destOrd="0" presId="urn:microsoft.com/office/officeart/2005/8/layout/hierarchy1"/>
    <dgm:cxn modelId="{1B660452-CC56-134A-A0EB-E28931D2DDAD}" type="presParOf" srcId="{E6C4059A-C135-4C49-8042-938DCFA9B878}" destId="{2E361AD0-0615-A044-B592-9E2DA1B1BEC8}" srcOrd="1" destOrd="0" presId="urn:microsoft.com/office/officeart/2005/8/layout/hierarchy1"/>
    <dgm:cxn modelId="{C0560D90-48C1-2442-83CE-227398E7ECD6}" type="presParOf" srcId="{2E361AD0-0615-A044-B592-9E2DA1B1BEC8}" destId="{EE953937-2EB7-794D-9EBF-B5E0B49521E5}" srcOrd="0" destOrd="0" presId="urn:microsoft.com/office/officeart/2005/8/layout/hierarchy1"/>
    <dgm:cxn modelId="{FEDD1C94-D217-C34F-A563-B36CD5D70045}" type="presParOf" srcId="{EE953937-2EB7-794D-9EBF-B5E0B49521E5}" destId="{BC30F0A4-E6FD-4C4F-8EF7-560617178497}" srcOrd="0" destOrd="0" presId="urn:microsoft.com/office/officeart/2005/8/layout/hierarchy1"/>
    <dgm:cxn modelId="{EB0C8920-B716-354D-AEAD-FEDCED43B526}" type="presParOf" srcId="{EE953937-2EB7-794D-9EBF-B5E0B49521E5}" destId="{97F47BC9-4888-9441-AD34-3D6074CD76A0}" srcOrd="1" destOrd="0" presId="urn:microsoft.com/office/officeart/2005/8/layout/hierarchy1"/>
    <dgm:cxn modelId="{42799F56-0171-1948-A887-7E85E18E940A}" type="presParOf" srcId="{2E361AD0-0615-A044-B592-9E2DA1B1BEC8}" destId="{F4A217E1-BE5A-DE44-A6B6-7D920258E404}" srcOrd="1" destOrd="0" presId="urn:microsoft.com/office/officeart/2005/8/layout/hierarchy1"/>
    <dgm:cxn modelId="{7A28DC5C-335F-344C-9A98-5CB8F6A06EDD}" type="presParOf" srcId="{E6C4059A-C135-4C49-8042-938DCFA9B878}" destId="{58724878-F7CB-FF4A-B953-B9ED7E980C27}" srcOrd="2" destOrd="0" presId="urn:microsoft.com/office/officeart/2005/8/layout/hierarchy1"/>
    <dgm:cxn modelId="{22454C95-282B-B54F-8D3F-BC6095AB4060}" type="presParOf" srcId="{E6C4059A-C135-4C49-8042-938DCFA9B878}" destId="{09B659C5-86FD-924D-AC0E-4719C3B4A9C4}" srcOrd="3" destOrd="0" presId="urn:microsoft.com/office/officeart/2005/8/layout/hierarchy1"/>
    <dgm:cxn modelId="{165CA95E-78EB-CF4D-97DF-E2D245A99F67}" type="presParOf" srcId="{09B659C5-86FD-924D-AC0E-4719C3B4A9C4}" destId="{4F076A43-4EE4-DB45-8BBC-EB4E48F0C19D}" srcOrd="0" destOrd="0" presId="urn:microsoft.com/office/officeart/2005/8/layout/hierarchy1"/>
    <dgm:cxn modelId="{9BFDFD75-E60C-9141-AC4B-63D62E68D7CA}" type="presParOf" srcId="{4F076A43-4EE4-DB45-8BBC-EB4E48F0C19D}" destId="{042314DC-AA28-D846-8116-AD8AC621C912}" srcOrd="0" destOrd="0" presId="urn:microsoft.com/office/officeart/2005/8/layout/hierarchy1"/>
    <dgm:cxn modelId="{33220518-0B87-CB44-8B87-68C90ED311FD}" type="presParOf" srcId="{4F076A43-4EE4-DB45-8BBC-EB4E48F0C19D}" destId="{C30727F8-4E50-E240-856D-48DF6AA0A60A}" srcOrd="1" destOrd="0" presId="urn:microsoft.com/office/officeart/2005/8/layout/hierarchy1"/>
    <dgm:cxn modelId="{80424E63-3095-224F-89B2-24D6A627B7C9}" type="presParOf" srcId="{09B659C5-86FD-924D-AC0E-4719C3B4A9C4}" destId="{C2B6ACFF-5A41-9A4C-9730-414C15AA0875}" srcOrd="1" destOrd="0" presId="urn:microsoft.com/office/officeart/2005/8/layout/hierarchy1"/>
    <dgm:cxn modelId="{0DBF44A2-C112-0B4A-83DA-25A870DA8602}" type="presParOf" srcId="{E6C4059A-C135-4C49-8042-938DCFA9B878}" destId="{5AA60BFB-A28C-1148-84B6-593335BADF59}" srcOrd="4" destOrd="0" presId="urn:microsoft.com/office/officeart/2005/8/layout/hierarchy1"/>
    <dgm:cxn modelId="{96F154C7-2E8B-1546-B0D5-CC5F7D1285DE}" type="presParOf" srcId="{E6C4059A-C135-4C49-8042-938DCFA9B878}" destId="{8CC2E5B7-11A2-8743-9B9B-3D0579EF247F}" srcOrd="5" destOrd="0" presId="urn:microsoft.com/office/officeart/2005/8/layout/hierarchy1"/>
    <dgm:cxn modelId="{90ACD31D-9F1A-784F-8797-BAC66226ADEC}" type="presParOf" srcId="{8CC2E5B7-11A2-8743-9B9B-3D0579EF247F}" destId="{09AFCCE9-3FD8-0C42-B6EB-003ECE930C89}" srcOrd="0" destOrd="0" presId="urn:microsoft.com/office/officeart/2005/8/layout/hierarchy1"/>
    <dgm:cxn modelId="{FB2BDA8A-5D25-CB4A-AC1F-02656543812D}" type="presParOf" srcId="{09AFCCE9-3FD8-0C42-B6EB-003ECE930C89}" destId="{317BA63F-A2C8-3742-B22B-252A90485CCD}" srcOrd="0" destOrd="0" presId="urn:microsoft.com/office/officeart/2005/8/layout/hierarchy1"/>
    <dgm:cxn modelId="{94151CD8-C3AC-E144-B346-EBD05577508B}" type="presParOf" srcId="{09AFCCE9-3FD8-0C42-B6EB-003ECE930C89}" destId="{3875F5C1-DFCE-CD41-BC0E-FAC62A3F41A2}" srcOrd="1" destOrd="0" presId="urn:microsoft.com/office/officeart/2005/8/layout/hierarchy1"/>
    <dgm:cxn modelId="{A5C75FCA-6D13-7649-878C-9D252269EAC4}" type="presParOf" srcId="{8CC2E5B7-11A2-8743-9B9B-3D0579EF247F}" destId="{25DE3159-0A40-9C46-B946-045A18646C1E}" srcOrd="1" destOrd="0" presId="urn:microsoft.com/office/officeart/2005/8/layout/hierarchy1"/>
    <dgm:cxn modelId="{AC7F1398-A368-904B-B896-2DE33AF93610}" type="presParOf" srcId="{61EA6E6A-FBBD-4A4C-94DB-47378967E222}" destId="{5FAD1AE8-3FFE-F54D-B79D-1F36B858588A}" srcOrd="2" destOrd="0" presId="urn:microsoft.com/office/officeart/2005/8/layout/hierarchy1"/>
    <dgm:cxn modelId="{06D0287A-6FD0-B346-9DA8-23F019AFC23C}" type="presParOf" srcId="{61EA6E6A-FBBD-4A4C-94DB-47378967E222}" destId="{E0A3A309-2FE0-E54A-AC44-60EFC86F3F79}" srcOrd="3" destOrd="0" presId="urn:microsoft.com/office/officeart/2005/8/layout/hierarchy1"/>
    <dgm:cxn modelId="{D820A2D7-7EEF-1B4C-8A25-0D883B63B80D}" type="presParOf" srcId="{E0A3A309-2FE0-E54A-AC44-60EFC86F3F79}" destId="{764A9D54-539A-B842-A245-F06C5FD8FD8C}" srcOrd="0" destOrd="0" presId="urn:microsoft.com/office/officeart/2005/8/layout/hierarchy1"/>
    <dgm:cxn modelId="{28040877-0C92-1644-8061-B8D2CF6254FB}" type="presParOf" srcId="{764A9D54-539A-B842-A245-F06C5FD8FD8C}" destId="{D34B49D4-7ABB-F54C-A275-61F5C5EF3A1B}" srcOrd="0" destOrd="0" presId="urn:microsoft.com/office/officeart/2005/8/layout/hierarchy1"/>
    <dgm:cxn modelId="{D23CCF84-DE36-6040-A265-C6420663DF5B}" type="presParOf" srcId="{764A9D54-539A-B842-A245-F06C5FD8FD8C}" destId="{1A8E42AF-0954-E341-BDEB-E40D5AACF46B}" srcOrd="1" destOrd="0" presId="urn:microsoft.com/office/officeart/2005/8/layout/hierarchy1"/>
    <dgm:cxn modelId="{6D4FF117-8555-ED40-B443-06D8E27D7A35}" type="presParOf" srcId="{E0A3A309-2FE0-E54A-AC44-60EFC86F3F79}" destId="{1AC90A68-4DD1-4849-944A-56FCFC68903C}" srcOrd="1" destOrd="0" presId="urn:microsoft.com/office/officeart/2005/8/layout/hierarchy1"/>
    <dgm:cxn modelId="{DEF4858B-6522-244A-BFF4-9E32E925EF94}" type="presParOf" srcId="{1AC90A68-4DD1-4849-944A-56FCFC68903C}" destId="{884F88D2-401C-3246-A398-5FF40AF206E3}" srcOrd="0" destOrd="0" presId="urn:microsoft.com/office/officeart/2005/8/layout/hierarchy1"/>
    <dgm:cxn modelId="{1E69F312-3E84-7D46-9152-6CC11D255160}" type="presParOf" srcId="{1AC90A68-4DD1-4849-944A-56FCFC68903C}" destId="{A920F351-6D26-BA42-9074-E872ED24FE8E}" srcOrd="1" destOrd="0" presId="urn:microsoft.com/office/officeart/2005/8/layout/hierarchy1"/>
    <dgm:cxn modelId="{0EB0AC86-D990-274B-9C23-4B82FCC91BC0}" type="presParOf" srcId="{A920F351-6D26-BA42-9074-E872ED24FE8E}" destId="{262075D0-CAB0-9741-9C00-D36089C65D4A}" srcOrd="0" destOrd="0" presId="urn:microsoft.com/office/officeart/2005/8/layout/hierarchy1"/>
    <dgm:cxn modelId="{EA6FF98A-176D-9F49-81C3-A400A35E087A}" type="presParOf" srcId="{262075D0-CAB0-9741-9C00-D36089C65D4A}" destId="{8306943D-FF91-8A4B-BE69-086BF626A178}" srcOrd="0" destOrd="0" presId="urn:microsoft.com/office/officeart/2005/8/layout/hierarchy1"/>
    <dgm:cxn modelId="{6D7617CE-CDA9-BC4A-A3DB-25F009C0D296}" type="presParOf" srcId="{262075D0-CAB0-9741-9C00-D36089C65D4A}" destId="{25A8F431-1322-C24D-9AD8-2A52A574981C}" srcOrd="1" destOrd="0" presId="urn:microsoft.com/office/officeart/2005/8/layout/hierarchy1"/>
    <dgm:cxn modelId="{71AA6E5D-A15E-B040-AAA0-EE95DF5EC9CB}" type="presParOf" srcId="{A920F351-6D26-BA42-9074-E872ED24FE8E}" destId="{2249A279-FFE2-2440-97F6-5536FBA1CE10}" srcOrd="1" destOrd="0" presId="urn:microsoft.com/office/officeart/2005/8/layout/hierarchy1"/>
    <dgm:cxn modelId="{A509282D-378F-FE4D-AECB-E2B69EC0265B}" type="presParOf" srcId="{1AC90A68-4DD1-4849-944A-56FCFC68903C}" destId="{560BD99E-1D44-F643-AA5C-417D81A8C990}" srcOrd="2" destOrd="0" presId="urn:microsoft.com/office/officeart/2005/8/layout/hierarchy1"/>
    <dgm:cxn modelId="{64C63218-3665-8B41-B579-50A2D5B0441B}" type="presParOf" srcId="{1AC90A68-4DD1-4849-944A-56FCFC68903C}" destId="{3B95600E-6933-B64D-A043-67CB906FA67C}" srcOrd="3" destOrd="0" presId="urn:microsoft.com/office/officeart/2005/8/layout/hierarchy1"/>
    <dgm:cxn modelId="{57F7237C-6307-7C4F-8E90-0C1C48F23789}" type="presParOf" srcId="{3B95600E-6933-B64D-A043-67CB906FA67C}" destId="{44E2DD6A-1A27-4F4F-B8AD-DA9664A4D148}" srcOrd="0" destOrd="0" presId="urn:microsoft.com/office/officeart/2005/8/layout/hierarchy1"/>
    <dgm:cxn modelId="{25285599-2496-6241-934B-9403AF9A85DD}" type="presParOf" srcId="{44E2DD6A-1A27-4F4F-B8AD-DA9664A4D148}" destId="{F26B7150-7683-E24E-8486-69494957FA6B}" srcOrd="0" destOrd="0" presId="urn:microsoft.com/office/officeart/2005/8/layout/hierarchy1"/>
    <dgm:cxn modelId="{8EA32FBA-D0B4-084E-9F06-0679DF2A1C7C}" type="presParOf" srcId="{44E2DD6A-1A27-4F4F-B8AD-DA9664A4D148}" destId="{DFA29CA6-524B-B741-A43C-DF1E251770BE}" srcOrd="1" destOrd="0" presId="urn:microsoft.com/office/officeart/2005/8/layout/hierarchy1"/>
    <dgm:cxn modelId="{0DFD7FB6-BC22-344C-9E08-43806FED1453}" type="presParOf" srcId="{3B95600E-6933-B64D-A043-67CB906FA67C}" destId="{5ECB6D71-5EE0-3249-91F2-CE999E9B969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0BD99E-1D44-F643-AA5C-417D81A8C990}">
      <dsp:nvSpPr>
        <dsp:cNvPr id="0" name=""/>
        <dsp:cNvSpPr/>
      </dsp:nvSpPr>
      <dsp:spPr>
        <a:xfrm>
          <a:off x="8282378" y="3111376"/>
          <a:ext cx="1058919" cy="503949"/>
        </a:xfrm>
        <a:custGeom>
          <a:avLst/>
          <a:gdLst/>
          <a:ahLst/>
          <a:cxnLst/>
          <a:rect l="0" t="0" r="0" b="0"/>
          <a:pathLst>
            <a:path>
              <a:moveTo>
                <a:pt x="0" y="0"/>
              </a:moveTo>
              <a:lnTo>
                <a:pt x="0" y="343426"/>
              </a:lnTo>
              <a:lnTo>
                <a:pt x="1058919" y="343426"/>
              </a:lnTo>
              <a:lnTo>
                <a:pt x="1058919" y="5039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4F88D2-401C-3246-A398-5FF40AF206E3}">
      <dsp:nvSpPr>
        <dsp:cNvPr id="0" name=""/>
        <dsp:cNvSpPr/>
      </dsp:nvSpPr>
      <dsp:spPr>
        <a:xfrm>
          <a:off x="7223459" y="3111376"/>
          <a:ext cx="1058919" cy="503949"/>
        </a:xfrm>
        <a:custGeom>
          <a:avLst/>
          <a:gdLst/>
          <a:ahLst/>
          <a:cxnLst/>
          <a:rect l="0" t="0" r="0" b="0"/>
          <a:pathLst>
            <a:path>
              <a:moveTo>
                <a:pt x="1058919" y="0"/>
              </a:moveTo>
              <a:lnTo>
                <a:pt x="1058919" y="343426"/>
              </a:lnTo>
              <a:lnTo>
                <a:pt x="0" y="343426"/>
              </a:lnTo>
              <a:lnTo>
                <a:pt x="0" y="5039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AD1AE8-3FFE-F54D-B79D-1F36B858588A}">
      <dsp:nvSpPr>
        <dsp:cNvPr id="0" name=""/>
        <dsp:cNvSpPr/>
      </dsp:nvSpPr>
      <dsp:spPr>
        <a:xfrm>
          <a:off x="5635080" y="1507113"/>
          <a:ext cx="2647297" cy="503949"/>
        </a:xfrm>
        <a:custGeom>
          <a:avLst/>
          <a:gdLst/>
          <a:ahLst/>
          <a:cxnLst/>
          <a:rect l="0" t="0" r="0" b="0"/>
          <a:pathLst>
            <a:path>
              <a:moveTo>
                <a:pt x="0" y="0"/>
              </a:moveTo>
              <a:lnTo>
                <a:pt x="0" y="343426"/>
              </a:lnTo>
              <a:lnTo>
                <a:pt x="2647297" y="343426"/>
              </a:lnTo>
              <a:lnTo>
                <a:pt x="2647297" y="50394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A60BFB-A28C-1148-84B6-593335BADF59}">
      <dsp:nvSpPr>
        <dsp:cNvPr id="0" name=""/>
        <dsp:cNvSpPr/>
      </dsp:nvSpPr>
      <dsp:spPr>
        <a:xfrm>
          <a:off x="2987782" y="3111376"/>
          <a:ext cx="2117838" cy="503949"/>
        </a:xfrm>
        <a:custGeom>
          <a:avLst/>
          <a:gdLst/>
          <a:ahLst/>
          <a:cxnLst/>
          <a:rect l="0" t="0" r="0" b="0"/>
          <a:pathLst>
            <a:path>
              <a:moveTo>
                <a:pt x="0" y="0"/>
              </a:moveTo>
              <a:lnTo>
                <a:pt x="0" y="343426"/>
              </a:lnTo>
              <a:lnTo>
                <a:pt x="2117838" y="343426"/>
              </a:lnTo>
              <a:lnTo>
                <a:pt x="2117838" y="5039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724878-F7CB-FF4A-B953-B9ED7E980C27}">
      <dsp:nvSpPr>
        <dsp:cNvPr id="0" name=""/>
        <dsp:cNvSpPr/>
      </dsp:nvSpPr>
      <dsp:spPr>
        <a:xfrm>
          <a:off x="2942062" y="3111376"/>
          <a:ext cx="91440" cy="503949"/>
        </a:xfrm>
        <a:custGeom>
          <a:avLst/>
          <a:gdLst/>
          <a:ahLst/>
          <a:cxnLst/>
          <a:rect l="0" t="0" r="0" b="0"/>
          <a:pathLst>
            <a:path>
              <a:moveTo>
                <a:pt x="45720" y="0"/>
              </a:moveTo>
              <a:lnTo>
                <a:pt x="45720" y="5039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6B1602-6A11-0D4F-8805-E2BFE3080361}">
      <dsp:nvSpPr>
        <dsp:cNvPr id="0" name=""/>
        <dsp:cNvSpPr/>
      </dsp:nvSpPr>
      <dsp:spPr>
        <a:xfrm>
          <a:off x="869944" y="3111376"/>
          <a:ext cx="2117838" cy="503949"/>
        </a:xfrm>
        <a:custGeom>
          <a:avLst/>
          <a:gdLst/>
          <a:ahLst/>
          <a:cxnLst/>
          <a:rect l="0" t="0" r="0" b="0"/>
          <a:pathLst>
            <a:path>
              <a:moveTo>
                <a:pt x="2117838" y="0"/>
              </a:moveTo>
              <a:lnTo>
                <a:pt x="2117838" y="343426"/>
              </a:lnTo>
              <a:lnTo>
                <a:pt x="0" y="343426"/>
              </a:lnTo>
              <a:lnTo>
                <a:pt x="0" y="50394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628A08-5EA8-E145-B2A4-08F9F5AD55A6}">
      <dsp:nvSpPr>
        <dsp:cNvPr id="0" name=""/>
        <dsp:cNvSpPr/>
      </dsp:nvSpPr>
      <dsp:spPr>
        <a:xfrm>
          <a:off x="2987782" y="1507113"/>
          <a:ext cx="2647297" cy="503949"/>
        </a:xfrm>
        <a:custGeom>
          <a:avLst/>
          <a:gdLst/>
          <a:ahLst/>
          <a:cxnLst/>
          <a:rect l="0" t="0" r="0" b="0"/>
          <a:pathLst>
            <a:path>
              <a:moveTo>
                <a:pt x="2647297" y="0"/>
              </a:moveTo>
              <a:lnTo>
                <a:pt x="2647297" y="343426"/>
              </a:lnTo>
              <a:lnTo>
                <a:pt x="0" y="343426"/>
              </a:lnTo>
              <a:lnTo>
                <a:pt x="0" y="50394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A95FB3-B98C-6F47-807F-F983A276E577}">
      <dsp:nvSpPr>
        <dsp:cNvPr id="0" name=""/>
        <dsp:cNvSpPr/>
      </dsp:nvSpPr>
      <dsp:spPr>
        <a:xfrm>
          <a:off x="4768692" y="406800"/>
          <a:ext cx="1732776" cy="110031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FC8F27-792A-A248-99A4-C5D829F2217C}">
      <dsp:nvSpPr>
        <dsp:cNvPr id="0" name=""/>
        <dsp:cNvSpPr/>
      </dsp:nvSpPr>
      <dsp:spPr>
        <a:xfrm>
          <a:off x="4961223" y="589704"/>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Investment Criteria</a:t>
          </a:r>
        </a:p>
      </dsp:txBody>
      <dsp:txXfrm>
        <a:off x="4993450" y="621931"/>
        <a:ext cx="1668322" cy="1035859"/>
      </dsp:txXfrm>
    </dsp:sp>
    <dsp:sp modelId="{14573B02-73DC-134B-8D3B-2456A5749CD9}">
      <dsp:nvSpPr>
        <dsp:cNvPr id="0" name=""/>
        <dsp:cNvSpPr/>
      </dsp:nvSpPr>
      <dsp:spPr>
        <a:xfrm>
          <a:off x="2121394" y="2011062"/>
          <a:ext cx="1732776" cy="110031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31B72D-EDCE-EB48-9299-B1AEBF249DB1}">
      <dsp:nvSpPr>
        <dsp:cNvPr id="0" name=""/>
        <dsp:cNvSpPr/>
      </dsp:nvSpPr>
      <dsp:spPr>
        <a:xfrm>
          <a:off x="2313925" y="2193966"/>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Discounting</a:t>
          </a:r>
        </a:p>
        <a:p>
          <a:pPr marL="0" lvl="0" indent="0" algn="ctr" defTabSz="889000">
            <a:lnSpc>
              <a:spcPct val="90000"/>
            </a:lnSpc>
            <a:spcBef>
              <a:spcPct val="0"/>
            </a:spcBef>
            <a:spcAft>
              <a:spcPct val="35000"/>
            </a:spcAft>
            <a:buNone/>
          </a:pPr>
          <a:r>
            <a:rPr lang="en-GB" sz="2000" kern="1200" dirty="0"/>
            <a:t>Criteria</a:t>
          </a:r>
        </a:p>
      </dsp:txBody>
      <dsp:txXfrm>
        <a:off x="2346152" y="2226193"/>
        <a:ext cx="1668322" cy="1035859"/>
      </dsp:txXfrm>
    </dsp:sp>
    <dsp:sp modelId="{BC30F0A4-E6FD-4C4F-8EF7-560617178497}">
      <dsp:nvSpPr>
        <dsp:cNvPr id="0" name=""/>
        <dsp:cNvSpPr/>
      </dsp:nvSpPr>
      <dsp:spPr>
        <a:xfrm>
          <a:off x="3555" y="3615325"/>
          <a:ext cx="1732776" cy="11003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F47BC9-4888-9441-AD34-3D6074CD76A0}">
      <dsp:nvSpPr>
        <dsp:cNvPr id="0" name=""/>
        <dsp:cNvSpPr/>
      </dsp:nvSpPr>
      <dsp:spPr>
        <a:xfrm>
          <a:off x="196086" y="3798229"/>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Net Present Value</a:t>
          </a:r>
        </a:p>
      </dsp:txBody>
      <dsp:txXfrm>
        <a:off x="228313" y="3830456"/>
        <a:ext cx="1668322" cy="1035859"/>
      </dsp:txXfrm>
    </dsp:sp>
    <dsp:sp modelId="{042314DC-AA28-D846-8116-AD8AC621C912}">
      <dsp:nvSpPr>
        <dsp:cNvPr id="0" name=""/>
        <dsp:cNvSpPr/>
      </dsp:nvSpPr>
      <dsp:spPr>
        <a:xfrm>
          <a:off x="2121394" y="3615325"/>
          <a:ext cx="1732776" cy="11003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0727F8-4E50-E240-856D-48DF6AA0A60A}">
      <dsp:nvSpPr>
        <dsp:cNvPr id="0" name=""/>
        <dsp:cNvSpPr/>
      </dsp:nvSpPr>
      <dsp:spPr>
        <a:xfrm>
          <a:off x="2313925" y="3798229"/>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Benefit Cost Ratio</a:t>
          </a:r>
        </a:p>
      </dsp:txBody>
      <dsp:txXfrm>
        <a:off x="2346152" y="3830456"/>
        <a:ext cx="1668322" cy="1035859"/>
      </dsp:txXfrm>
    </dsp:sp>
    <dsp:sp modelId="{317BA63F-A2C8-3742-B22B-252A90485CCD}">
      <dsp:nvSpPr>
        <dsp:cNvPr id="0" name=""/>
        <dsp:cNvSpPr/>
      </dsp:nvSpPr>
      <dsp:spPr>
        <a:xfrm>
          <a:off x="4239232" y="3615325"/>
          <a:ext cx="1732776" cy="11003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75F5C1-DFCE-CD41-BC0E-FAC62A3F41A2}">
      <dsp:nvSpPr>
        <dsp:cNvPr id="0" name=""/>
        <dsp:cNvSpPr/>
      </dsp:nvSpPr>
      <dsp:spPr>
        <a:xfrm>
          <a:off x="4431763" y="3798229"/>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Internal Rate of Return</a:t>
          </a:r>
        </a:p>
      </dsp:txBody>
      <dsp:txXfrm>
        <a:off x="4463990" y="3830456"/>
        <a:ext cx="1668322" cy="1035859"/>
      </dsp:txXfrm>
    </dsp:sp>
    <dsp:sp modelId="{D34B49D4-7ABB-F54C-A275-61F5C5EF3A1B}">
      <dsp:nvSpPr>
        <dsp:cNvPr id="0" name=""/>
        <dsp:cNvSpPr/>
      </dsp:nvSpPr>
      <dsp:spPr>
        <a:xfrm>
          <a:off x="7415990" y="2011062"/>
          <a:ext cx="1732776" cy="1100313"/>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E42AF-0954-E341-BDEB-E40D5AACF46B}">
      <dsp:nvSpPr>
        <dsp:cNvPr id="0" name=""/>
        <dsp:cNvSpPr/>
      </dsp:nvSpPr>
      <dsp:spPr>
        <a:xfrm>
          <a:off x="7608521" y="2193966"/>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Non-Discounting Criteria</a:t>
          </a:r>
        </a:p>
      </dsp:txBody>
      <dsp:txXfrm>
        <a:off x="7640748" y="2226193"/>
        <a:ext cx="1668322" cy="1035859"/>
      </dsp:txXfrm>
    </dsp:sp>
    <dsp:sp modelId="{8306943D-FF91-8A4B-BE69-086BF626A178}">
      <dsp:nvSpPr>
        <dsp:cNvPr id="0" name=""/>
        <dsp:cNvSpPr/>
      </dsp:nvSpPr>
      <dsp:spPr>
        <a:xfrm>
          <a:off x="6357071" y="3615325"/>
          <a:ext cx="1732776" cy="11003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A8F431-1322-C24D-9AD8-2A52A574981C}">
      <dsp:nvSpPr>
        <dsp:cNvPr id="0" name=""/>
        <dsp:cNvSpPr/>
      </dsp:nvSpPr>
      <dsp:spPr>
        <a:xfrm>
          <a:off x="6549601" y="3798229"/>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Payback Period</a:t>
          </a:r>
        </a:p>
      </dsp:txBody>
      <dsp:txXfrm>
        <a:off x="6581828" y="3830456"/>
        <a:ext cx="1668322" cy="1035859"/>
      </dsp:txXfrm>
    </dsp:sp>
    <dsp:sp modelId="{F26B7150-7683-E24E-8486-69494957FA6B}">
      <dsp:nvSpPr>
        <dsp:cNvPr id="0" name=""/>
        <dsp:cNvSpPr/>
      </dsp:nvSpPr>
      <dsp:spPr>
        <a:xfrm>
          <a:off x="8474909" y="3615325"/>
          <a:ext cx="1732776" cy="11003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A29CA6-524B-B741-A43C-DF1E251770BE}">
      <dsp:nvSpPr>
        <dsp:cNvPr id="0" name=""/>
        <dsp:cNvSpPr/>
      </dsp:nvSpPr>
      <dsp:spPr>
        <a:xfrm>
          <a:off x="8667440" y="3798229"/>
          <a:ext cx="1732776" cy="11003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Accounting Return</a:t>
          </a:r>
        </a:p>
      </dsp:txBody>
      <dsp:txXfrm>
        <a:off x="8699667" y="3830456"/>
        <a:ext cx="1668322" cy="10358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0754-B15B-7646-A1A0-46175759E86C}" type="datetimeFigureOut">
              <a:rPr lang="en-US" smtClean="0"/>
              <a:t>4/24/23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6DB86-1329-2E4B-842B-FD52AFC0B301}" type="slidenum">
              <a:rPr lang="en-US" smtClean="0"/>
              <a:t>‹#›</a:t>
            </a:fld>
            <a:endParaRPr lang="en-US"/>
          </a:p>
        </p:txBody>
      </p:sp>
    </p:spTree>
    <p:extLst>
      <p:ext uri="{BB962C8B-B14F-4D97-AF65-F5344CB8AC3E}">
        <p14:creationId xmlns:p14="http://schemas.microsoft.com/office/powerpoint/2010/main" val="340031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C440-60EE-7240-AC8A-B08664AED3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D1FAE02-9E9D-524A-94FF-717EE39C13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B795550-8F1B-3B40-B92D-80AA152B9A02}"/>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4AC7643A-2235-2D45-8225-7305D3B57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5ECD3-AFD8-5B47-B048-D187374886F6}"/>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970885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9249B-CDE4-5149-AAA1-BAD7F028050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E31E46-C815-754A-8959-C8ED95B76C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F44B72E-F63F-A248-B835-77EDBCEAFDFE}"/>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732F3995-047C-3742-B859-18048F034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37549-7595-E24D-99D2-3D2AADB37289}"/>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1973074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DD021-47E3-714E-ADDB-307427AA591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06595B5-0FD4-0440-8D5C-5A404ADA67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BC0862-EDAD-D64D-A6A0-F84A788B8B44}"/>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8BE12FED-E049-1C4F-BF55-966E07BE4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58C12-A287-D84C-9518-A52EA08CE257}"/>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305155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91CD3-9103-0E42-A350-9919E0EE84D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80935DE-238E-3347-BCF6-11EF32A9385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598F26B-F535-4242-B89D-8B83FB1D10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F9E3ADF-432F-074F-9BFD-FE55502FF2F7}"/>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6" name="Footer Placeholder 5">
            <a:extLst>
              <a:ext uri="{FF2B5EF4-FFF2-40B4-BE49-F238E27FC236}">
                <a16:creationId xmlns:a16="http://schemas.microsoft.com/office/drawing/2014/main" id="{3964E719-BB50-E146-BD39-727C5E68D3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D69D6-8E6A-DA48-9F70-2F185FA18439}"/>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4112348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7955B-2C9D-674F-8B4A-7BC93C6F27C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FF0B6C-406D-FF42-8C62-DABE9E8774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51E5E26-1346-EE44-954E-58BBB598B91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7A0AE84-8458-994A-886B-C4A1BD582D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6D5CA81-0BF6-0A41-9E0B-1C3D46B59FA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59E69DE-BAB6-CC4C-96A0-D09293E4800A}"/>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8" name="Footer Placeholder 7">
            <a:extLst>
              <a:ext uri="{FF2B5EF4-FFF2-40B4-BE49-F238E27FC236}">
                <a16:creationId xmlns:a16="http://schemas.microsoft.com/office/drawing/2014/main" id="{4DB003E5-1268-344A-8F1B-739B8506F4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EC27C0-82E4-0D43-8A12-759447F35A94}"/>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1974497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193F-C9CE-7249-BD8C-3B9CB684E54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12657F3-1028-824D-A136-32760E904582}"/>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4" name="Footer Placeholder 3">
            <a:extLst>
              <a:ext uri="{FF2B5EF4-FFF2-40B4-BE49-F238E27FC236}">
                <a16:creationId xmlns:a16="http://schemas.microsoft.com/office/drawing/2014/main" id="{28636B94-F3A0-4A42-AB07-97F0698507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9C220E-DC12-B547-8737-F8D661D090D6}"/>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31062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A8A1EB-35CD-CC43-B74E-41F036EC41B5}"/>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3" name="Footer Placeholder 2">
            <a:extLst>
              <a:ext uri="{FF2B5EF4-FFF2-40B4-BE49-F238E27FC236}">
                <a16:creationId xmlns:a16="http://schemas.microsoft.com/office/drawing/2014/main" id="{6963EF0C-6723-E142-91FD-4783AAD9DF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E21702-D4DC-9E4C-B655-76BE62237336}"/>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2961639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94B80-6A6B-2A44-A606-3D2C1E98781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7094B8B-5566-1149-A1AF-507DD4B9C9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121D317-C751-AF47-97E7-80C6164CF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DB9AF3-A610-4B4B-A41A-73290BC45195}"/>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6" name="Footer Placeholder 5">
            <a:extLst>
              <a:ext uri="{FF2B5EF4-FFF2-40B4-BE49-F238E27FC236}">
                <a16:creationId xmlns:a16="http://schemas.microsoft.com/office/drawing/2014/main" id="{4CA506BB-E942-D84F-A126-34BCFF732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55BA46-6946-1344-A53D-339686C4BA9A}"/>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2832065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32560-AC94-BD4B-BDA9-8EB0B15384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9EAB3EB-C6AC-8E4A-ADC1-007D123D4A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76F01-83EC-9743-9769-2298EB2A2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59C3E74-04D3-BF49-B02F-1DAC0578795A}"/>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6" name="Footer Placeholder 5">
            <a:extLst>
              <a:ext uri="{FF2B5EF4-FFF2-40B4-BE49-F238E27FC236}">
                <a16:creationId xmlns:a16="http://schemas.microsoft.com/office/drawing/2014/main" id="{162D2BC3-562D-4C46-B2F8-F89A7FDF5C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049C35-70F2-FC4C-9138-E4D51819E1FA}"/>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2425388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4871-5661-8646-91C6-DD86EA95783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8CB942-2B30-BF4E-B59F-B1B2FCA53A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5529DC9-97FB-C64D-AAF9-8377C473B474}"/>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F89D62FC-B99E-E548-AC56-0E540D164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3AFB1-3769-DF43-864E-7B46EB54F7CF}"/>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324402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B55759-30E4-BB4A-A76C-5ED24929BC1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31495B-D30C-554E-8563-F79534867D7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388AE8-A341-C74D-AC4C-B0B87739D256}"/>
              </a:ext>
            </a:extLst>
          </p:cNvPr>
          <p:cNvSpPr>
            <a:spLocks noGrp="1"/>
          </p:cNvSpPr>
          <p:nvPr>
            <p:ph type="dt" sz="half" idx="10"/>
          </p:nvPr>
        </p:nvSpPr>
        <p:spPr/>
        <p:txBody>
          <a:body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E91F4582-59C3-EC42-9594-4737312D8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31289-2DB6-6142-8A2F-356F36BBFC50}"/>
              </a:ext>
            </a:extLst>
          </p:cNvPr>
          <p:cNvSpPr>
            <a:spLocks noGrp="1"/>
          </p:cNvSpPr>
          <p:nvPr>
            <p:ph type="sldNum" sz="quarter" idx="12"/>
          </p:nvPr>
        </p:nvSpPr>
        <p:spPr/>
        <p:txBody>
          <a:bodyPr/>
          <a:lstStyle/>
          <a:p>
            <a:fld id="{410CBA5A-5E59-AA4E-BC1D-FAA0E1A7824E}" type="slidenum">
              <a:rPr lang="en-US" smtClean="0"/>
              <a:t>‹#›</a:t>
            </a:fld>
            <a:endParaRPr lang="en-US"/>
          </a:p>
        </p:txBody>
      </p:sp>
    </p:spTree>
    <p:extLst>
      <p:ext uri="{BB962C8B-B14F-4D97-AF65-F5344CB8AC3E}">
        <p14:creationId xmlns:p14="http://schemas.microsoft.com/office/powerpoint/2010/main" val="2927179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BCF535-43FB-3849-8261-0D030BD57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C723612-87B3-E949-A490-A9ACCB0C3F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6DCAE0-2F84-6B4B-A9DE-75033F9A54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152E51-2224-5C4C-893B-7C9D2AC41F11}" type="datetimeFigureOut">
              <a:rPr lang="en-US" smtClean="0"/>
              <a:t>4/24/23</a:t>
            </a:fld>
            <a:endParaRPr lang="en-US"/>
          </a:p>
        </p:txBody>
      </p:sp>
      <p:sp>
        <p:nvSpPr>
          <p:cNvPr id="5" name="Footer Placeholder 4">
            <a:extLst>
              <a:ext uri="{FF2B5EF4-FFF2-40B4-BE49-F238E27FC236}">
                <a16:creationId xmlns:a16="http://schemas.microsoft.com/office/drawing/2014/main" id="{DDCD1E4B-92CF-C245-A3D4-422323906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FAB3D-227E-9345-805B-97CEB21C6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CBA5A-5E59-AA4E-BC1D-FAA0E1A7824E}" type="slidenum">
              <a:rPr lang="en-US" smtClean="0"/>
              <a:t>‹#›</a:t>
            </a:fld>
            <a:endParaRPr lang="en-US"/>
          </a:p>
        </p:txBody>
      </p:sp>
    </p:spTree>
    <p:extLst>
      <p:ext uri="{BB962C8B-B14F-4D97-AF65-F5344CB8AC3E}">
        <p14:creationId xmlns:p14="http://schemas.microsoft.com/office/powerpoint/2010/main" val="1644934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7C1A-9480-B642-A5FA-E32A64B8ED1E}"/>
              </a:ext>
            </a:extLst>
          </p:cNvPr>
          <p:cNvSpPr>
            <a:spLocks noGrp="1"/>
          </p:cNvSpPr>
          <p:nvPr>
            <p:ph type="ctrTitle"/>
          </p:nvPr>
        </p:nvSpPr>
        <p:spPr>
          <a:xfrm>
            <a:off x="1524000" y="1273815"/>
            <a:ext cx="9144000" cy="2387600"/>
          </a:xfrm>
        </p:spPr>
        <p:txBody>
          <a:bodyPr/>
          <a:lstStyle/>
          <a:p>
            <a:r>
              <a:rPr lang="en-US" dirty="0">
                <a:solidFill>
                  <a:schemeClr val="accent1"/>
                </a:solidFill>
              </a:rPr>
              <a:t>Capital Budgeting</a:t>
            </a:r>
          </a:p>
        </p:txBody>
      </p:sp>
      <p:pic>
        <p:nvPicPr>
          <p:cNvPr id="7" name="Picture 6">
            <a:extLst>
              <a:ext uri="{FF2B5EF4-FFF2-40B4-BE49-F238E27FC236}">
                <a16:creationId xmlns:a16="http://schemas.microsoft.com/office/drawing/2014/main" id="{8E90836A-C949-4A40-8C4A-7487FDB641EF}"/>
              </a:ext>
            </a:extLst>
          </p:cNvPr>
          <p:cNvPicPr>
            <a:picLocks noChangeAspect="1"/>
          </p:cNvPicPr>
          <p:nvPr/>
        </p:nvPicPr>
        <p:blipFill>
          <a:blip r:embed="rId2"/>
          <a:stretch>
            <a:fillRect/>
          </a:stretch>
        </p:blipFill>
        <p:spPr>
          <a:xfrm>
            <a:off x="9642764" y="95378"/>
            <a:ext cx="2408711" cy="547186"/>
          </a:xfrm>
          <a:prstGeom prst="rect">
            <a:avLst/>
          </a:prstGeom>
        </p:spPr>
      </p:pic>
      <p:sp>
        <p:nvSpPr>
          <p:cNvPr id="8" name="Footer Placeholder 4">
            <a:extLst>
              <a:ext uri="{FF2B5EF4-FFF2-40B4-BE49-F238E27FC236}">
                <a16:creationId xmlns:a16="http://schemas.microsoft.com/office/drawing/2014/main" id="{99AA01A5-A7BA-274D-A92F-DBE927E020F8}"/>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417069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5B487-1017-5343-AD2D-E573382B162D}"/>
              </a:ext>
            </a:extLst>
          </p:cNvPr>
          <p:cNvSpPr>
            <a:spLocks noGrp="1"/>
          </p:cNvSpPr>
          <p:nvPr>
            <p:ph type="title"/>
          </p:nvPr>
        </p:nvSpPr>
        <p:spPr/>
        <p:txBody>
          <a:bodyPr/>
          <a:lstStyle/>
          <a:p>
            <a:r>
              <a:rPr lang="en-US" dirty="0">
                <a:solidFill>
                  <a:schemeClr val="accent1"/>
                </a:solidFill>
              </a:rPr>
              <a:t>Capital Expenditure</a:t>
            </a:r>
          </a:p>
        </p:txBody>
      </p:sp>
      <p:sp>
        <p:nvSpPr>
          <p:cNvPr id="3" name="Content Placeholder 2">
            <a:extLst>
              <a:ext uri="{FF2B5EF4-FFF2-40B4-BE49-F238E27FC236}">
                <a16:creationId xmlns:a16="http://schemas.microsoft.com/office/drawing/2014/main" id="{A776401D-940F-F749-A84B-B75A46FC09B6}"/>
              </a:ext>
            </a:extLst>
          </p:cNvPr>
          <p:cNvSpPr>
            <a:spLocks noGrp="1"/>
          </p:cNvSpPr>
          <p:nvPr>
            <p:ph idx="1"/>
          </p:nvPr>
        </p:nvSpPr>
        <p:spPr/>
        <p:txBody>
          <a:bodyPr/>
          <a:lstStyle/>
          <a:p>
            <a:pPr marL="0" indent="0">
              <a:lnSpc>
                <a:spcPct val="150000"/>
              </a:lnSpc>
              <a:buNone/>
            </a:pPr>
            <a:r>
              <a:rPr lang="en-IN" sz="2000" dirty="0"/>
              <a:t>The basic characteristics of a capital expenditure(also referred to as a capital investment or just project) is that it involves a current spend of funds in order to buy or maintain a fixed assets to get the benefits in future.</a:t>
            </a:r>
          </a:p>
          <a:p>
            <a:pPr marL="0" indent="0">
              <a:lnSpc>
                <a:spcPct val="150000"/>
              </a:lnSpc>
              <a:buNone/>
            </a:pPr>
            <a:endParaRPr lang="en-IN" sz="2000" dirty="0"/>
          </a:p>
          <a:p>
            <a:pPr marL="0" indent="0">
              <a:lnSpc>
                <a:spcPct val="150000"/>
              </a:lnSpc>
              <a:buNone/>
            </a:pPr>
            <a:r>
              <a:rPr lang="en-IN" sz="2000" dirty="0">
                <a:solidFill>
                  <a:schemeClr val="accent6">
                    <a:lumMod val="50000"/>
                  </a:schemeClr>
                </a:solidFill>
              </a:rPr>
              <a:t>Importance of funds from</a:t>
            </a:r>
          </a:p>
          <a:p>
            <a:pPr lvl="1">
              <a:lnSpc>
                <a:spcPct val="150000"/>
              </a:lnSpc>
            </a:pPr>
            <a:r>
              <a:rPr lang="en-IN" sz="1600" dirty="0"/>
              <a:t>Long-term consequences</a:t>
            </a:r>
          </a:p>
          <a:p>
            <a:pPr lvl="1">
              <a:lnSpc>
                <a:spcPct val="150000"/>
              </a:lnSpc>
            </a:pPr>
            <a:r>
              <a:rPr lang="en-IN" sz="1600" dirty="0"/>
              <a:t>Substantial spending</a:t>
            </a:r>
          </a:p>
          <a:p>
            <a:pPr lvl="1">
              <a:lnSpc>
                <a:spcPct val="150000"/>
              </a:lnSpc>
            </a:pPr>
            <a:r>
              <a:rPr lang="en-IN" sz="1600" dirty="0"/>
              <a:t>Difficulty in reversing </a:t>
            </a:r>
          </a:p>
          <a:p>
            <a:pPr marL="0" indent="0">
              <a:buNone/>
            </a:pPr>
            <a:endParaRPr lang="en-IN" sz="2000" dirty="0"/>
          </a:p>
          <a:p>
            <a:pPr marL="0" indent="0">
              <a:buNone/>
            </a:pPr>
            <a:endParaRPr lang="en-US" dirty="0"/>
          </a:p>
        </p:txBody>
      </p:sp>
      <p:pic>
        <p:nvPicPr>
          <p:cNvPr id="4" name="Picture 3">
            <a:extLst>
              <a:ext uri="{FF2B5EF4-FFF2-40B4-BE49-F238E27FC236}">
                <a16:creationId xmlns:a16="http://schemas.microsoft.com/office/drawing/2014/main" id="{376FF7D2-8887-7849-ADED-1F4D4F877693}"/>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13159065-EEC3-C84F-B106-D162F40F0E58}"/>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190494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9CE86-B9E9-114D-86AE-B7AA9148F9C2}"/>
              </a:ext>
            </a:extLst>
          </p:cNvPr>
          <p:cNvSpPr>
            <a:spLocks noGrp="1"/>
          </p:cNvSpPr>
          <p:nvPr>
            <p:ph type="title"/>
          </p:nvPr>
        </p:nvSpPr>
        <p:spPr/>
        <p:txBody>
          <a:bodyPr/>
          <a:lstStyle/>
          <a:p>
            <a:r>
              <a:rPr lang="en-US" dirty="0">
                <a:solidFill>
                  <a:schemeClr val="accent1"/>
                </a:solidFill>
              </a:rPr>
              <a:t>Capital Expenditure Process</a:t>
            </a:r>
          </a:p>
        </p:txBody>
      </p:sp>
      <p:sp>
        <p:nvSpPr>
          <p:cNvPr id="3" name="Content Placeholder 2">
            <a:extLst>
              <a:ext uri="{FF2B5EF4-FFF2-40B4-BE49-F238E27FC236}">
                <a16:creationId xmlns:a16="http://schemas.microsoft.com/office/drawing/2014/main" id="{A72C3B9C-862A-2047-839B-38921DF931ED}"/>
              </a:ext>
            </a:extLst>
          </p:cNvPr>
          <p:cNvSpPr>
            <a:spLocks noGrp="1"/>
          </p:cNvSpPr>
          <p:nvPr>
            <p:ph idx="1"/>
          </p:nvPr>
        </p:nvSpPr>
        <p:spPr/>
        <p:txBody>
          <a:bodyPr>
            <a:normAutofit lnSpcReduction="10000"/>
          </a:bodyPr>
          <a:lstStyle/>
          <a:p>
            <a:pPr>
              <a:lnSpc>
                <a:spcPct val="200000"/>
              </a:lnSpc>
            </a:pPr>
            <a:r>
              <a:rPr lang="en-IN" sz="2000" dirty="0"/>
              <a:t>Identification of Potential Investment Opportunities</a:t>
            </a:r>
          </a:p>
          <a:p>
            <a:pPr>
              <a:lnSpc>
                <a:spcPct val="200000"/>
              </a:lnSpc>
            </a:pPr>
            <a:r>
              <a:rPr lang="en-IN" sz="2000" dirty="0"/>
              <a:t>Assembling of Investment Proposals</a:t>
            </a:r>
          </a:p>
          <a:p>
            <a:pPr>
              <a:lnSpc>
                <a:spcPct val="200000"/>
              </a:lnSpc>
            </a:pPr>
            <a:r>
              <a:rPr lang="en-IN" sz="2000" dirty="0"/>
              <a:t>Decision Making</a:t>
            </a:r>
          </a:p>
          <a:p>
            <a:pPr>
              <a:lnSpc>
                <a:spcPct val="200000"/>
              </a:lnSpc>
            </a:pPr>
            <a:r>
              <a:rPr lang="en-IN" sz="2000" dirty="0"/>
              <a:t>Preparation of Capital Budget </a:t>
            </a:r>
          </a:p>
          <a:p>
            <a:pPr>
              <a:lnSpc>
                <a:spcPct val="200000"/>
              </a:lnSpc>
            </a:pPr>
            <a:r>
              <a:rPr lang="en-IN" sz="2000" dirty="0"/>
              <a:t>Implementation</a:t>
            </a:r>
          </a:p>
          <a:p>
            <a:pPr>
              <a:lnSpc>
                <a:spcPct val="200000"/>
              </a:lnSpc>
            </a:pPr>
            <a:r>
              <a:rPr lang="en-IN" sz="2000" dirty="0"/>
              <a:t>Performance Review </a:t>
            </a:r>
          </a:p>
          <a:p>
            <a:pPr marL="0" indent="0">
              <a:buNone/>
            </a:pPr>
            <a:endParaRPr lang="en-US" dirty="0"/>
          </a:p>
        </p:txBody>
      </p:sp>
      <p:pic>
        <p:nvPicPr>
          <p:cNvPr id="4" name="Picture 3">
            <a:extLst>
              <a:ext uri="{FF2B5EF4-FFF2-40B4-BE49-F238E27FC236}">
                <a16:creationId xmlns:a16="http://schemas.microsoft.com/office/drawing/2014/main" id="{9508D3FF-EF9B-8B4E-8DF8-5F14B1C3271A}"/>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49BD87E0-A2B1-E64C-8D68-9C79A9B165AD}"/>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27664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77F7-EAC0-4C40-8918-E1D16008AD4D}"/>
              </a:ext>
            </a:extLst>
          </p:cNvPr>
          <p:cNvSpPr>
            <a:spLocks noGrp="1"/>
          </p:cNvSpPr>
          <p:nvPr>
            <p:ph type="title"/>
          </p:nvPr>
        </p:nvSpPr>
        <p:spPr/>
        <p:txBody>
          <a:bodyPr/>
          <a:lstStyle/>
          <a:p>
            <a:r>
              <a:rPr lang="en-US" dirty="0">
                <a:solidFill>
                  <a:schemeClr val="accent1"/>
                </a:solidFill>
              </a:rPr>
              <a:t>Type of Projects – Capital Expenditure</a:t>
            </a:r>
          </a:p>
        </p:txBody>
      </p:sp>
      <p:sp>
        <p:nvSpPr>
          <p:cNvPr id="3" name="Content Placeholder 2">
            <a:extLst>
              <a:ext uri="{FF2B5EF4-FFF2-40B4-BE49-F238E27FC236}">
                <a16:creationId xmlns:a16="http://schemas.microsoft.com/office/drawing/2014/main" id="{7BA34EA6-0740-F44E-AD57-BB425E28668C}"/>
              </a:ext>
            </a:extLst>
          </p:cNvPr>
          <p:cNvSpPr>
            <a:spLocks noGrp="1"/>
          </p:cNvSpPr>
          <p:nvPr>
            <p:ph idx="1"/>
          </p:nvPr>
        </p:nvSpPr>
        <p:spPr/>
        <p:txBody>
          <a:bodyPr>
            <a:normAutofit lnSpcReduction="10000"/>
          </a:bodyPr>
          <a:lstStyle/>
          <a:p>
            <a:pPr>
              <a:lnSpc>
                <a:spcPct val="200000"/>
              </a:lnSpc>
            </a:pPr>
            <a:r>
              <a:rPr lang="en-IN" sz="2000" dirty="0"/>
              <a:t>Mandatory Investments</a:t>
            </a:r>
          </a:p>
          <a:p>
            <a:pPr>
              <a:lnSpc>
                <a:spcPct val="200000"/>
              </a:lnSpc>
            </a:pPr>
            <a:r>
              <a:rPr lang="en-IN" sz="2000" dirty="0"/>
              <a:t>Replacement Projects</a:t>
            </a:r>
          </a:p>
          <a:p>
            <a:pPr>
              <a:lnSpc>
                <a:spcPct val="200000"/>
              </a:lnSpc>
            </a:pPr>
            <a:r>
              <a:rPr lang="en-IN" sz="2000" dirty="0"/>
              <a:t>Expansion Projects</a:t>
            </a:r>
          </a:p>
          <a:p>
            <a:pPr>
              <a:lnSpc>
                <a:spcPct val="200000"/>
              </a:lnSpc>
            </a:pPr>
            <a:r>
              <a:rPr lang="en-IN" sz="2000" dirty="0"/>
              <a:t>Diversification Projects</a:t>
            </a:r>
          </a:p>
          <a:p>
            <a:pPr>
              <a:lnSpc>
                <a:spcPct val="200000"/>
              </a:lnSpc>
            </a:pPr>
            <a:r>
              <a:rPr lang="en-IN" sz="2000" dirty="0"/>
              <a:t>Research and Development Projects</a:t>
            </a:r>
          </a:p>
          <a:p>
            <a:pPr>
              <a:lnSpc>
                <a:spcPct val="200000"/>
              </a:lnSpc>
            </a:pPr>
            <a:r>
              <a:rPr lang="en-IN" sz="2000" dirty="0"/>
              <a:t>Miscellaneous Projects</a:t>
            </a:r>
          </a:p>
          <a:p>
            <a:pPr marL="0" indent="0">
              <a:buNone/>
            </a:pPr>
            <a:endParaRPr lang="en-US" dirty="0"/>
          </a:p>
        </p:txBody>
      </p:sp>
      <p:pic>
        <p:nvPicPr>
          <p:cNvPr id="4" name="Picture 3">
            <a:extLst>
              <a:ext uri="{FF2B5EF4-FFF2-40B4-BE49-F238E27FC236}">
                <a16:creationId xmlns:a16="http://schemas.microsoft.com/office/drawing/2014/main" id="{4D1986B0-AB45-4C4B-A678-B94E2955918D}"/>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F4672987-5D1B-614A-9790-10A9E1D7FFC7}"/>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1947865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0E246-C8EE-C346-8EA3-BEC7BC14A18A}"/>
              </a:ext>
            </a:extLst>
          </p:cNvPr>
          <p:cNvSpPr>
            <a:spLocks noGrp="1"/>
          </p:cNvSpPr>
          <p:nvPr>
            <p:ph type="title"/>
          </p:nvPr>
        </p:nvSpPr>
        <p:spPr/>
        <p:txBody>
          <a:bodyPr/>
          <a:lstStyle/>
          <a:p>
            <a:r>
              <a:rPr lang="en-US" dirty="0">
                <a:solidFill>
                  <a:schemeClr val="accent1"/>
                </a:solidFill>
              </a:rPr>
              <a:t>Capital Expenditure Criteria</a:t>
            </a:r>
          </a:p>
        </p:txBody>
      </p:sp>
      <p:graphicFrame>
        <p:nvGraphicFramePr>
          <p:cNvPr id="4" name="Diagram 3">
            <a:extLst>
              <a:ext uri="{FF2B5EF4-FFF2-40B4-BE49-F238E27FC236}">
                <a16:creationId xmlns:a16="http://schemas.microsoft.com/office/drawing/2014/main" id="{F92F60D2-DEB5-7641-8D2F-B8FC0116F9A7}"/>
              </a:ext>
            </a:extLst>
          </p:cNvPr>
          <p:cNvGraphicFramePr/>
          <p:nvPr>
            <p:extLst>
              <p:ext uri="{D42A27DB-BD31-4B8C-83A1-F6EECF244321}">
                <p14:modId xmlns:p14="http://schemas.microsoft.com/office/powerpoint/2010/main" val="715059242"/>
              </p:ext>
            </p:extLst>
          </p:nvPr>
        </p:nvGraphicFramePr>
        <p:xfrm>
          <a:off x="950026" y="1187532"/>
          <a:ext cx="10403773" cy="5305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EA5CBE38-D527-4346-B7DD-E6F3E6AE7324}"/>
              </a:ext>
            </a:extLst>
          </p:cNvPr>
          <p:cNvPicPr>
            <a:picLocks noChangeAspect="1"/>
          </p:cNvPicPr>
          <p:nvPr/>
        </p:nvPicPr>
        <p:blipFill>
          <a:blip r:embed="rId7"/>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D7C4E3B6-CB91-A141-9095-A63EFA4C7A97}"/>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825585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5C51-1759-7B4C-A3B6-B30ABB56432F}"/>
              </a:ext>
            </a:extLst>
          </p:cNvPr>
          <p:cNvSpPr>
            <a:spLocks noGrp="1"/>
          </p:cNvSpPr>
          <p:nvPr>
            <p:ph type="title"/>
          </p:nvPr>
        </p:nvSpPr>
        <p:spPr>
          <a:xfrm>
            <a:off x="956953" y="2766218"/>
            <a:ext cx="10515600" cy="1325563"/>
          </a:xfrm>
        </p:spPr>
        <p:txBody>
          <a:bodyPr/>
          <a:lstStyle/>
          <a:p>
            <a:pPr algn="ctr"/>
            <a:r>
              <a:rPr lang="en-US" dirty="0">
                <a:solidFill>
                  <a:schemeClr val="accent1"/>
                </a:solidFill>
              </a:rPr>
              <a:t>Non Discounting Criteria</a:t>
            </a:r>
          </a:p>
        </p:txBody>
      </p:sp>
      <p:pic>
        <p:nvPicPr>
          <p:cNvPr id="3" name="Picture 2">
            <a:extLst>
              <a:ext uri="{FF2B5EF4-FFF2-40B4-BE49-F238E27FC236}">
                <a16:creationId xmlns:a16="http://schemas.microsoft.com/office/drawing/2014/main" id="{3E5840FB-545A-6141-B1D3-AC2FA4C1C5A8}"/>
              </a:ext>
            </a:extLst>
          </p:cNvPr>
          <p:cNvPicPr>
            <a:picLocks noChangeAspect="1"/>
          </p:cNvPicPr>
          <p:nvPr/>
        </p:nvPicPr>
        <p:blipFill>
          <a:blip r:embed="rId2"/>
          <a:stretch>
            <a:fillRect/>
          </a:stretch>
        </p:blipFill>
        <p:spPr>
          <a:xfrm>
            <a:off x="9642764" y="95378"/>
            <a:ext cx="2408711" cy="547186"/>
          </a:xfrm>
          <a:prstGeom prst="rect">
            <a:avLst/>
          </a:prstGeom>
        </p:spPr>
      </p:pic>
      <p:sp>
        <p:nvSpPr>
          <p:cNvPr id="4" name="Footer Placeholder 4">
            <a:extLst>
              <a:ext uri="{FF2B5EF4-FFF2-40B4-BE49-F238E27FC236}">
                <a16:creationId xmlns:a16="http://schemas.microsoft.com/office/drawing/2014/main" id="{D05A9F9F-047F-474A-894F-AC780C554CC8}"/>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407751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2F7D-A86A-1245-8E29-43D297E2F6C4}"/>
              </a:ext>
            </a:extLst>
          </p:cNvPr>
          <p:cNvSpPr>
            <a:spLocks noGrp="1"/>
          </p:cNvSpPr>
          <p:nvPr>
            <p:ph type="title"/>
          </p:nvPr>
        </p:nvSpPr>
        <p:spPr/>
        <p:txBody>
          <a:bodyPr/>
          <a:lstStyle/>
          <a:p>
            <a:r>
              <a:rPr lang="en-US" dirty="0">
                <a:solidFill>
                  <a:schemeClr val="accent1"/>
                </a:solidFill>
              </a:rPr>
              <a:t>Payback Period</a:t>
            </a:r>
          </a:p>
        </p:txBody>
      </p:sp>
      <p:sp>
        <p:nvSpPr>
          <p:cNvPr id="3" name="Content Placeholder 2">
            <a:extLst>
              <a:ext uri="{FF2B5EF4-FFF2-40B4-BE49-F238E27FC236}">
                <a16:creationId xmlns:a16="http://schemas.microsoft.com/office/drawing/2014/main" id="{C77D6BEF-4446-714F-A51F-653F92429CED}"/>
              </a:ext>
            </a:extLst>
          </p:cNvPr>
          <p:cNvSpPr>
            <a:spLocks noGrp="1"/>
          </p:cNvSpPr>
          <p:nvPr>
            <p:ph idx="1"/>
          </p:nvPr>
        </p:nvSpPr>
        <p:spPr>
          <a:xfrm>
            <a:off x="838200" y="1825625"/>
            <a:ext cx="10515600" cy="1603375"/>
          </a:xfrm>
        </p:spPr>
        <p:txBody>
          <a:bodyPr/>
          <a:lstStyle/>
          <a:p>
            <a:pPr>
              <a:lnSpc>
                <a:spcPct val="150000"/>
              </a:lnSpc>
            </a:pPr>
            <a:r>
              <a:rPr lang="en-IN" sz="2000" dirty="0"/>
              <a:t>The payback period of a project is the number of years it takes before the cumulative forecasted cash flow equals the initial spending.</a:t>
            </a:r>
          </a:p>
          <a:p>
            <a:pPr>
              <a:lnSpc>
                <a:spcPct val="150000"/>
              </a:lnSpc>
            </a:pPr>
            <a:r>
              <a:rPr lang="en-IN" sz="2000" dirty="0"/>
              <a:t>The payback rule says only accept projects that “payback” in the desired time frame. </a:t>
            </a:r>
          </a:p>
          <a:p>
            <a:endParaRPr lang="en-IN" dirty="0"/>
          </a:p>
          <a:p>
            <a:pPr marL="0" indent="0">
              <a:buNone/>
            </a:pPr>
            <a:endParaRPr lang="en-US" dirty="0"/>
          </a:p>
        </p:txBody>
      </p:sp>
      <p:graphicFrame>
        <p:nvGraphicFramePr>
          <p:cNvPr id="4" name="Table 3">
            <a:extLst>
              <a:ext uri="{FF2B5EF4-FFF2-40B4-BE49-F238E27FC236}">
                <a16:creationId xmlns:a16="http://schemas.microsoft.com/office/drawing/2014/main" id="{09602D50-2294-2947-BCEA-7C6353C20FB7}"/>
              </a:ext>
            </a:extLst>
          </p:cNvPr>
          <p:cNvGraphicFramePr>
            <a:graphicFrameLocks noGrp="1"/>
          </p:cNvGraphicFramePr>
          <p:nvPr>
            <p:extLst>
              <p:ext uri="{D42A27DB-BD31-4B8C-83A1-F6EECF244321}">
                <p14:modId xmlns:p14="http://schemas.microsoft.com/office/powerpoint/2010/main" val="2104968444"/>
              </p:ext>
            </p:extLst>
          </p:nvPr>
        </p:nvGraphicFramePr>
        <p:xfrm>
          <a:off x="3146960" y="3705104"/>
          <a:ext cx="5569529" cy="2787771"/>
        </p:xfrm>
        <a:graphic>
          <a:graphicData uri="http://schemas.openxmlformats.org/drawingml/2006/table">
            <a:tbl>
              <a:tblPr>
                <a:tableStyleId>{EB344D84-9AFB-497E-A393-DC336BA19D2E}</a:tableStyleId>
              </a:tblPr>
              <a:tblGrid>
                <a:gridCol w="1472793">
                  <a:extLst>
                    <a:ext uri="{9D8B030D-6E8A-4147-A177-3AD203B41FA5}">
                      <a16:colId xmlns:a16="http://schemas.microsoft.com/office/drawing/2014/main" val="2813163749"/>
                    </a:ext>
                  </a:extLst>
                </a:gridCol>
                <a:gridCol w="1472793">
                  <a:extLst>
                    <a:ext uri="{9D8B030D-6E8A-4147-A177-3AD203B41FA5}">
                      <a16:colId xmlns:a16="http://schemas.microsoft.com/office/drawing/2014/main" val="1271795653"/>
                    </a:ext>
                  </a:extLst>
                </a:gridCol>
                <a:gridCol w="2623943">
                  <a:extLst>
                    <a:ext uri="{9D8B030D-6E8A-4147-A177-3AD203B41FA5}">
                      <a16:colId xmlns:a16="http://schemas.microsoft.com/office/drawing/2014/main" val="3411174887"/>
                    </a:ext>
                  </a:extLst>
                </a:gridCol>
              </a:tblGrid>
              <a:tr h="398253">
                <a:tc gridSpan="3">
                  <a:txBody>
                    <a:bodyPr/>
                    <a:lstStyle/>
                    <a:p>
                      <a:pPr algn="ctr" fontAlgn="ctr"/>
                      <a:r>
                        <a:rPr lang="en-IN" sz="1400" b="1" u="none" strike="noStrike" dirty="0">
                          <a:effectLst/>
                        </a:rPr>
                        <a:t>Capital Project</a:t>
                      </a:r>
                      <a:endParaRPr lang="en-IN" sz="1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29372822"/>
                  </a:ext>
                </a:extLst>
              </a:tr>
              <a:tr h="398253">
                <a:tc>
                  <a:txBody>
                    <a:bodyPr/>
                    <a:lstStyle/>
                    <a:p>
                      <a:pPr algn="ctr" fontAlgn="ctr"/>
                      <a:r>
                        <a:rPr lang="en-IN" sz="1400" b="1" u="none" strike="noStrike" dirty="0">
                          <a:effectLst/>
                        </a:rPr>
                        <a:t>Year</a:t>
                      </a:r>
                      <a:endParaRPr lang="en-IN"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b="1" u="none" strike="noStrike" dirty="0">
                          <a:effectLst/>
                        </a:rPr>
                        <a:t>Cash Flow</a:t>
                      </a:r>
                      <a:endParaRPr lang="en-IN"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b="1" u="none" strike="noStrike" dirty="0">
                          <a:effectLst/>
                        </a:rPr>
                        <a:t>Cumulative Cash Flow</a:t>
                      </a:r>
                      <a:endParaRPr lang="en-IN"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89944305"/>
                  </a:ext>
                </a:extLst>
              </a:tr>
              <a:tr h="398253">
                <a:tc>
                  <a:txBody>
                    <a:bodyPr/>
                    <a:lstStyle/>
                    <a:p>
                      <a:pPr algn="ctr"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60802627"/>
                  </a:ext>
                </a:extLst>
              </a:tr>
              <a:tr h="398253">
                <a:tc>
                  <a:txBody>
                    <a:bodyPr/>
                    <a:lstStyle/>
                    <a:p>
                      <a:pPr algn="ctr" fontAlgn="ctr"/>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a:effectLst/>
                        </a:rPr>
                        <a:t>34</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-66</a:t>
                      </a:r>
                      <a:endParaRPr lang="en-IN"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1919953"/>
                  </a:ext>
                </a:extLst>
              </a:tr>
              <a:tr h="398253">
                <a:tc>
                  <a:txBody>
                    <a:bodyPr/>
                    <a:lstStyle/>
                    <a:p>
                      <a:pPr algn="ctr" fontAlgn="ctr"/>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a:effectLst/>
                        </a:rPr>
                        <a:t>32.5</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-33.5</a:t>
                      </a:r>
                      <a:endParaRPr lang="en-IN"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73654104"/>
                  </a:ext>
                </a:extLst>
              </a:tr>
              <a:tr h="398253">
                <a:tc>
                  <a:txBody>
                    <a:bodyPr/>
                    <a:lstStyle/>
                    <a:p>
                      <a:pPr algn="ctr" fontAlgn="ctr"/>
                      <a:r>
                        <a:rPr lang="en-IN" sz="1400" u="none" strike="noStrike" dirty="0">
                          <a:effectLst/>
                        </a:rPr>
                        <a:t>3</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31.37</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-2.13</a:t>
                      </a:r>
                      <a:endParaRPr lang="en-IN"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4851841"/>
                  </a:ext>
                </a:extLst>
              </a:tr>
              <a:tr h="398253">
                <a:tc>
                  <a:txBody>
                    <a:bodyPr/>
                    <a:lstStyle/>
                    <a:p>
                      <a:pPr algn="ctr" fontAlgn="ctr"/>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30.53</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400" u="none" strike="noStrike" dirty="0">
                          <a:effectLst/>
                        </a:rPr>
                        <a:t>28.4</a:t>
                      </a:r>
                      <a:endParaRPr lang="en-IN"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1776661"/>
                  </a:ext>
                </a:extLst>
              </a:tr>
            </a:tbl>
          </a:graphicData>
        </a:graphic>
      </p:graphicFrame>
      <p:pic>
        <p:nvPicPr>
          <p:cNvPr id="5" name="Picture 4">
            <a:extLst>
              <a:ext uri="{FF2B5EF4-FFF2-40B4-BE49-F238E27FC236}">
                <a16:creationId xmlns:a16="http://schemas.microsoft.com/office/drawing/2014/main" id="{C4566456-3771-B543-ABE8-7B929DD26AB5}"/>
              </a:ext>
            </a:extLst>
          </p:cNvPr>
          <p:cNvPicPr>
            <a:picLocks noChangeAspect="1"/>
          </p:cNvPicPr>
          <p:nvPr/>
        </p:nvPicPr>
        <p:blipFill>
          <a:blip r:embed="rId2"/>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EE8E7D56-1990-B94A-A778-C464CA0E1811}"/>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601017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BE7C-0042-3342-BBFB-07D621B4BB35}"/>
              </a:ext>
            </a:extLst>
          </p:cNvPr>
          <p:cNvSpPr>
            <a:spLocks noGrp="1"/>
          </p:cNvSpPr>
          <p:nvPr>
            <p:ph type="title"/>
          </p:nvPr>
        </p:nvSpPr>
        <p:spPr/>
        <p:txBody>
          <a:bodyPr/>
          <a:lstStyle/>
          <a:p>
            <a:r>
              <a:rPr lang="en-US" dirty="0">
                <a:solidFill>
                  <a:schemeClr val="accent1"/>
                </a:solidFill>
              </a:rPr>
              <a:t>Payback Period Continued…</a:t>
            </a:r>
          </a:p>
        </p:txBody>
      </p:sp>
      <p:sp>
        <p:nvSpPr>
          <p:cNvPr id="3" name="Content Placeholder 2">
            <a:extLst>
              <a:ext uri="{FF2B5EF4-FFF2-40B4-BE49-F238E27FC236}">
                <a16:creationId xmlns:a16="http://schemas.microsoft.com/office/drawing/2014/main" id="{861D0B04-FE2C-BD4C-843A-A17F1C80F02B}"/>
              </a:ext>
            </a:extLst>
          </p:cNvPr>
          <p:cNvSpPr>
            <a:spLocks noGrp="1"/>
          </p:cNvSpPr>
          <p:nvPr>
            <p:ph idx="1"/>
          </p:nvPr>
        </p:nvSpPr>
        <p:spPr>
          <a:xfrm>
            <a:off x="838200" y="1825625"/>
            <a:ext cx="10515600" cy="644443"/>
          </a:xfrm>
        </p:spPr>
        <p:txBody>
          <a:bodyPr/>
          <a:lstStyle/>
          <a:p>
            <a:r>
              <a:rPr lang="en-IN" sz="2000" dirty="0"/>
              <a:t>This method is flawed, primarily because it ignores later year cash flows and the the present value of future cash flows.</a:t>
            </a:r>
          </a:p>
          <a:p>
            <a:pPr marL="0" indent="0">
              <a:buNone/>
            </a:pPr>
            <a:endParaRPr lang="en-IN" dirty="0"/>
          </a:p>
          <a:p>
            <a:pPr marL="0" indent="0">
              <a:buNone/>
            </a:pPr>
            <a:endParaRPr lang="en-US" dirty="0"/>
          </a:p>
        </p:txBody>
      </p:sp>
      <p:graphicFrame>
        <p:nvGraphicFramePr>
          <p:cNvPr id="4" name="Table 4">
            <a:extLst>
              <a:ext uri="{FF2B5EF4-FFF2-40B4-BE49-F238E27FC236}">
                <a16:creationId xmlns:a16="http://schemas.microsoft.com/office/drawing/2014/main" id="{5D3F059F-EB9F-1E45-8ABC-3A7988C6EA02}"/>
              </a:ext>
            </a:extLst>
          </p:cNvPr>
          <p:cNvGraphicFramePr>
            <a:graphicFrameLocks noGrp="1"/>
          </p:cNvGraphicFramePr>
          <p:nvPr>
            <p:extLst>
              <p:ext uri="{D42A27DB-BD31-4B8C-83A1-F6EECF244321}">
                <p14:modId xmlns:p14="http://schemas.microsoft.com/office/powerpoint/2010/main" val="2136613967"/>
              </p:ext>
            </p:extLst>
          </p:nvPr>
        </p:nvGraphicFramePr>
        <p:xfrm>
          <a:off x="2838202" y="3037907"/>
          <a:ext cx="6792686" cy="2021840"/>
        </p:xfrm>
        <a:graphic>
          <a:graphicData uri="http://schemas.openxmlformats.org/drawingml/2006/table">
            <a:tbl>
              <a:tblPr firstRow="1" bandRow="1">
                <a:tableStyleId>{74C1A8A3-306A-4EB7-A6B1-4F7E0EB9C5D6}</a:tableStyleId>
              </a:tblPr>
              <a:tblGrid>
                <a:gridCol w="3396343">
                  <a:extLst>
                    <a:ext uri="{9D8B030D-6E8A-4147-A177-3AD203B41FA5}">
                      <a16:colId xmlns:a16="http://schemas.microsoft.com/office/drawing/2014/main" val="3619931373"/>
                    </a:ext>
                  </a:extLst>
                </a:gridCol>
                <a:gridCol w="3396343">
                  <a:extLst>
                    <a:ext uri="{9D8B030D-6E8A-4147-A177-3AD203B41FA5}">
                      <a16:colId xmlns:a16="http://schemas.microsoft.com/office/drawing/2014/main" val="1117747931"/>
                    </a:ext>
                  </a:extLst>
                </a:gridCol>
              </a:tblGrid>
              <a:tr h="370840">
                <a:tc>
                  <a:txBody>
                    <a:bodyPr/>
                    <a:lstStyle/>
                    <a:p>
                      <a:pPr algn="ctr"/>
                      <a:r>
                        <a:rPr lang="en-US" dirty="0"/>
                        <a:t>Pro</a:t>
                      </a:r>
                    </a:p>
                  </a:txBody>
                  <a:tcPr/>
                </a:tc>
                <a:tc>
                  <a:txBody>
                    <a:bodyPr/>
                    <a:lstStyle/>
                    <a:p>
                      <a:pPr algn="ctr"/>
                      <a:r>
                        <a:rPr lang="en-US" dirty="0"/>
                        <a:t>Cons</a:t>
                      </a:r>
                    </a:p>
                  </a:txBody>
                  <a:tcPr/>
                </a:tc>
                <a:extLst>
                  <a:ext uri="{0D108BD9-81ED-4DB2-BD59-A6C34878D82A}">
                    <a16:rowId xmlns:a16="http://schemas.microsoft.com/office/drawing/2014/main" val="3554752155"/>
                  </a:ext>
                </a:extLst>
              </a:tr>
              <a:tr h="370840">
                <a:tc>
                  <a:txBody>
                    <a:bodyPr/>
                    <a:lstStyle/>
                    <a:p>
                      <a:r>
                        <a:rPr lang="en-US" dirty="0"/>
                        <a:t>Simple</a:t>
                      </a:r>
                    </a:p>
                  </a:txBody>
                  <a:tcPr/>
                </a:tc>
                <a:tc>
                  <a:txBody>
                    <a:bodyPr/>
                    <a:lstStyle/>
                    <a:p>
                      <a:r>
                        <a:rPr lang="en-US" dirty="0"/>
                        <a:t>Fails to consider time value of money</a:t>
                      </a:r>
                    </a:p>
                  </a:txBody>
                  <a:tcPr/>
                </a:tc>
                <a:extLst>
                  <a:ext uri="{0D108BD9-81ED-4DB2-BD59-A6C34878D82A}">
                    <a16:rowId xmlns:a16="http://schemas.microsoft.com/office/drawing/2014/main" val="745350359"/>
                  </a:ext>
                </a:extLst>
              </a:tr>
              <a:tr h="370840">
                <a:tc>
                  <a:txBody>
                    <a:bodyPr/>
                    <a:lstStyle/>
                    <a:p>
                      <a:r>
                        <a:rPr lang="en-US" dirty="0"/>
                        <a:t>Rough &amp; ready method for dealing with risk</a:t>
                      </a:r>
                    </a:p>
                  </a:txBody>
                  <a:tcPr/>
                </a:tc>
                <a:tc>
                  <a:txBody>
                    <a:bodyPr/>
                    <a:lstStyle/>
                    <a:p>
                      <a:r>
                        <a:rPr lang="en-US" dirty="0"/>
                        <a:t>Ignores cash flow beyond payback period.</a:t>
                      </a:r>
                    </a:p>
                  </a:txBody>
                  <a:tcPr/>
                </a:tc>
                <a:extLst>
                  <a:ext uri="{0D108BD9-81ED-4DB2-BD59-A6C34878D82A}">
                    <a16:rowId xmlns:a16="http://schemas.microsoft.com/office/drawing/2014/main" val="3929756352"/>
                  </a:ext>
                </a:extLst>
              </a:tr>
              <a:tr h="370840">
                <a:tc>
                  <a:txBody>
                    <a:bodyPr/>
                    <a:lstStyle/>
                    <a:p>
                      <a:r>
                        <a:rPr lang="en-US" dirty="0"/>
                        <a:t>Emphasize earlier cash inflows</a:t>
                      </a:r>
                    </a:p>
                  </a:txBody>
                  <a:tcPr/>
                </a:tc>
                <a:tc>
                  <a:txBody>
                    <a:bodyPr/>
                    <a:lstStyle/>
                    <a:p>
                      <a:endParaRPr lang="en-US" dirty="0"/>
                    </a:p>
                  </a:txBody>
                  <a:tcPr/>
                </a:tc>
                <a:extLst>
                  <a:ext uri="{0D108BD9-81ED-4DB2-BD59-A6C34878D82A}">
                    <a16:rowId xmlns:a16="http://schemas.microsoft.com/office/drawing/2014/main" val="1403015631"/>
                  </a:ext>
                </a:extLst>
              </a:tr>
            </a:tbl>
          </a:graphicData>
        </a:graphic>
      </p:graphicFrame>
      <p:sp>
        <p:nvSpPr>
          <p:cNvPr id="6" name="TextBox 5">
            <a:extLst>
              <a:ext uri="{FF2B5EF4-FFF2-40B4-BE49-F238E27FC236}">
                <a16:creationId xmlns:a16="http://schemas.microsoft.com/office/drawing/2014/main" id="{9BB75470-4F9A-C146-ADCC-9621F878A25D}"/>
              </a:ext>
            </a:extLst>
          </p:cNvPr>
          <p:cNvSpPr txBox="1"/>
          <p:nvPr/>
        </p:nvSpPr>
        <p:spPr>
          <a:xfrm>
            <a:off x="3473532" y="6308209"/>
            <a:ext cx="5522026" cy="369332"/>
          </a:xfrm>
          <a:prstGeom prst="rect">
            <a:avLst/>
          </a:prstGeom>
          <a:noFill/>
        </p:spPr>
        <p:txBody>
          <a:bodyPr wrap="square" rtlCol="0">
            <a:spAutoFit/>
          </a:bodyPr>
          <a:lstStyle/>
          <a:p>
            <a:r>
              <a:rPr lang="en-US" dirty="0">
                <a:solidFill>
                  <a:schemeClr val="accent6">
                    <a:lumMod val="50000"/>
                  </a:schemeClr>
                </a:solidFill>
              </a:rPr>
              <a:t>Present value of cash flow is discussed in upcoming slide.</a:t>
            </a:r>
          </a:p>
        </p:txBody>
      </p:sp>
      <p:pic>
        <p:nvPicPr>
          <p:cNvPr id="7" name="Picture 6">
            <a:extLst>
              <a:ext uri="{FF2B5EF4-FFF2-40B4-BE49-F238E27FC236}">
                <a16:creationId xmlns:a16="http://schemas.microsoft.com/office/drawing/2014/main" id="{5110D1EB-4C25-0742-A933-4FB363E75C67}"/>
              </a:ext>
            </a:extLst>
          </p:cNvPr>
          <p:cNvPicPr>
            <a:picLocks noChangeAspect="1"/>
          </p:cNvPicPr>
          <p:nvPr/>
        </p:nvPicPr>
        <p:blipFill>
          <a:blip r:embed="rId2"/>
          <a:stretch>
            <a:fillRect/>
          </a:stretch>
        </p:blipFill>
        <p:spPr>
          <a:xfrm>
            <a:off x="9642764" y="95378"/>
            <a:ext cx="2408711" cy="547186"/>
          </a:xfrm>
          <a:prstGeom prst="rect">
            <a:avLst/>
          </a:prstGeom>
        </p:spPr>
      </p:pic>
      <p:sp>
        <p:nvSpPr>
          <p:cNvPr id="8" name="Footer Placeholder 4">
            <a:extLst>
              <a:ext uri="{FF2B5EF4-FFF2-40B4-BE49-F238E27FC236}">
                <a16:creationId xmlns:a16="http://schemas.microsoft.com/office/drawing/2014/main" id="{D84C0D9C-3BF6-B445-9369-231AEA50010A}"/>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925515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2BDFA-5DF4-CE4B-8083-1E7829A55FFA}"/>
              </a:ext>
            </a:extLst>
          </p:cNvPr>
          <p:cNvSpPr>
            <a:spLocks noGrp="1"/>
          </p:cNvSpPr>
          <p:nvPr>
            <p:ph type="title"/>
          </p:nvPr>
        </p:nvSpPr>
        <p:spPr/>
        <p:txBody>
          <a:bodyPr/>
          <a:lstStyle/>
          <a:p>
            <a:r>
              <a:rPr lang="en-US" dirty="0">
                <a:solidFill>
                  <a:schemeClr val="accent1"/>
                </a:solidFill>
              </a:rPr>
              <a:t>Payback Example</a:t>
            </a:r>
          </a:p>
        </p:txBody>
      </p:sp>
      <p:sp>
        <p:nvSpPr>
          <p:cNvPr id="3" name="Content Placeholder 2">
            <a:extLst>
              <a:ext uri="{FF2B5EF4-FFF2-40B4-BE49-F238E27FC236}">
                <a16:creationId xmlns:a16="http://schemas.microsoft.com/office/drawing/2014/main" id="{CF382762-88A2-A64D-9AB8-9B7211174D91}"/>
              </a:ext>
            </a:extLst>
          </p:cNvPr>
          <p:cNvSpPr>
            <a:spLocks noGrp="1"/>
          </p:cNvSpPr>
          <p:nvPr>
            <p:ph idx="1"/>
          </p:nvPr>
        </p:nvSpPr>
        <p:spPr>
          <a:xfrm>
            <a:off x="838200" y="1825625"/>
            <a:ext cx="10515600" cy="763196"/>
          </a:xfrm>
        </p:spPr>
        <p:txBody>
          <a:bodyPr/>
          <a:lstStyle/>
          <a:p>
            <a:r>
              <a:rPr lang="en-IN" sz="2000" dirty="0"/>
              <a:t>Examine the three projects and note the mistake we would make if we insisted on only taking projects with a payback period of 2 years or less</a:t>
            </a:r>
          </a:p>
          <a:p>
            <a:pPr marL="0" indent="0">
              <a:buNone/>
            </a:pPr>
            <a:endParaRPr lang="en-US" dirty="0"/>
          </a:p>
        </p:txBody>
      </p:sp>
      <p:graphicFrame>
        <p:nvGraphicFramePr>
          <p:cNvPr id="4" name="Table 3">
            <a:extLst>
              <a:ext uri="{FF2B5EF4-FFF2-40B4-BE49-F238E27FC236}">
                <a16:creationId xmlns:a16="http://schemas.microsoft.com/office/drawing/2014/main" id="{8B8FCDC9-A782-6847-B96D-EBAE2E5EEAF5}"/>
              </a:ext>
            </a:extLst>
          </p:cNvPr>
          <p:cNvGraphicFramePr>
            <a:graphicFrameLocks noGrp="1"/>
          </p:cNvGraphicFramePr>
          <p:nvPr>
            <p:extLst>
              <p:ext uri="{D42A27DB-BD31-4B8C-83A1-F6EECF244321}">
                <p14:modId xmlns:p14="http://schemas.microsoft.com/office/powerpoint/2010/main" val="2619058863"/>
              </p:ext>
            </p:extLst>
          </p:nvPr>
        </p:nvGraphicFramePr>
        <p:xfrm>
          <a:off x="1923802" y="3081626"/>
          <a:ext cx="7944591" cy="2375108"/>
        </p:xfrm>
        <a:graphic>
          <a:graphicData uri="http://schemas.openxmlformats.org/drawingml/2006/table">
            <a:tbl>
              <a:tblPr>
                <a:tableStyleId>{EB9631B5-78F2-41C9-869B-9F39066F8104}</a:tableStyleId>
              </a:tblPr>
              <a:tblGrid>
                <a:gridCol w="1066456">
                  <a:extLst>
                    <a:ext uri="{9D8B030D-6E8A-4147-A177-3AD203B41FA5}">
                      <a16:colId xmlns:a16="http://schemas.microsoft.com/office/drawing/2014/main" val="1396335252"/>
                    </a:ext>
                  </a:extLst>
                </a:gridCol>
                <a:gridCol w="1066456">
                  <a:extLst>
                    <a:ext uri="{9D8B030D-6E8A-4147-A177-3AD203B41FA5}">
                      <a16:colId xmlns:a16="http://schemas.microsoft.com/office/drawing/2014/main" val="76734811"/>
                    </a:ext>
                  </a:extLst>
                </a:gridCol>
                <a:gridCol w="1232020">
                  <a:extLst>
                    <a:ext uri="{9D8B030D-6E8A-4147-A177-3AD203B41FA5}">
                      <a16:colId xmlns:a16="http://schemas.microsoft.com/office/drawing/2014/main" val="1845123175"/>
                    </a:ext>
                  </a:extLst>
                </a:gridCol>
                <a:gridCol w="1103027">
                  <a:extLst>
                    <a:ext uri="{9D8B030D-6E8A-4147-A177-3AD203B41FA5}">
                      <a16:colId xmlns:a16="http://schemas.microsoft.com/office/drawing/2014/main" val="3790498997"/>
                    </a:ext>
                  </a:extLst>
                </a:gridCol>
                <a:gridCol w="1103028">
                  <a:extLst>
                    <a:ext uri="{9D8B030D-6E8A-4147-A177-3AD203B41FA5}">
                      <a16:colId xmlns:a16="http://schemas.microsoft.com/office/drawing/2014/main" val="818220506"/>
                    </a:ext>
                  </a:extLst>
                </a:gridCol>
                <a:gridCol w="1228690">
                  <a:extLst>
                    <a:ext uri="{9D8B030D-6E8A-4147-A177-3AD203B41FA5}">
                      <a16:colId xmlns:a16="http://schemas.microsoft.com/office/drawing/2014/main" val="2284495010"/>
                    </a:ext>
                  </a:extLst>
                </a:gridCol>
                <a:gridCol w="1144914">
                  <a:extLst>
                    <a:ext uri="{9D8B030D-6E8A-4147-A177-3AD203B41FA5}">
                      <a16:colId xmlns:a16="http://schemas.microsoft.com/office/drawing/2014/main" val="920695550"/>
                    </a:ext>
                  </a:extLst>
                </a:gridCol>
              </a:tblGrid>
              <a:tr h="593777">
                <a:tc>
                  <a:txBody>
                    <a:bodyPr/>
                    <a:lstStyle/>
                    <a:p>
                      <a:pPr algn="ctr" fontAlgn="b"/>
                      <a:r>
                        <a:rPr lang="en-IN" sz="1600" b="1" u="none" strike="noStrike" dirty="0">
                          <a:effectLst/>
                        </a:rPr>
                        <a:t>Project </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C0</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C1</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C2</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C3</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Payback Period</a:t>
                      </a:r>
                      <a:endParaRPr lang="en-IN"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NPV@10%</a:t>
                      </a:r>
                      <a:endParaRPr lang="en-IN"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89929916"/>
                  </a:ext>
                </a:extLst>
              </a:tr>
              <a:tr h="593777">
                <a:tc>
                  <a:txBody>
                    <a:bodyPr/>
                    <a:lstStyle/>
                    <a:p>
                      <a:pPr algn="ctr" fontAlgn="b"/>
                      <a:r>
                        <a:rPr lang="en-IN" sz="1600" u="none" strike="noStrike" dirty="0">
                          <a:effectLst/>
                        </a:rPr>
                        <a:t>A</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-2000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500</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5000</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3</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2624</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03100732"/>
                  </a:ext>
                </a:extLst>
              </a:tr>
              <a:tr h="593777">
                <a:tc>
                  <a:txBody>
                    <a:bodyPr/>
                    <a:lstStyle/>
                    <a:p>
                      <a:pPr algn="ctr" fontAlgn="b"/>
                      <a:r>
                        <a:rPr lang="en-IN" sz="1600" u="none" strike="noStrike">
                          <a:effectLst/>
                        </a:rPr>
                        <a:t>B</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-2000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1800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2</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-58</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85681058"/>
                  </a:ext>
                </a:extLst>
              </a:tr>
              <a:tr h="593777">
                <a:tc>
                  <a:txBody>
                    <a:bodyPr/>
                    <a:lstStyle/>
                    <a:p>
                      <a:pPr algn="ctr" fontAlgn="b"/>
                      <a:r>
                        <a:rPr lang="en-IN" sz="1600" u="none" strike="noStrike">
                          <a:effectLst/>
                        </a:rPr>
                        <a:t>C</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a:effectLst/>
                        </a:rPr>
                        <a:t>-2000</a:t>
                      </a:r>
                      <a:endParaRPr lang="en-IN"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1800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500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0</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2</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600" u="none" strike="noStrike" dirty="0">
                          <a:effectLst/>
                        </a:rPr>
                        <a:t>50</a:t>
                      </a:r>
                      <a:endParaRPr lang="en-IN"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0355899"/>
                  </a:ext>
                </a:extLst>
              </a:tr>
            </a:tbl>
          </a:graphicData>
        </a:graphic>
      </p:graphicFrame>
      <p:sp>
        <p:nvSpPr>
          <p:cNvPr id="6" name="TextBox 5">
            <a:extLst>
              <a:ext uri="{FF2B5EF4-FFF2-40B4-BE49-F238E27FC236}">
                <a16:creationId xmlns:a16="http://schemas.microsoft.com/office/drawing/2014/main" id="{104E8825-FE35-774F-99C9-98227F4B29E3}"/>
              </a:ext>
            </a:extLst>
          </p:cNvPr>
          <p:cNvSpPr txBox="1"/>
          <p:nvPr/>
        </p:nvSpPr>
        <p:spPr>
          <a:xfrm>
            <a:off x="4011880" y="6123543"/>
            <a:ext cx="4168239" cy="369332"/>
          </a:xfrm>
          <a:prstGeom prst="rect">
            <a:avLst/>
          </a:prstGeom>
          <a:noFill/>
        </p:spPr>
        <p:txBody>
          <a:bodyPr wrap="square" rtlCol="0">
            <a:spAutoFit/>
          </a:bodyPr>
          <a:lstStyle/>
          <a:p>
            <a:r>
              <a:rPr lang="en-US" dirty="0">
                <a:solidFill>
                  <a:schemeClr val="accent6">
                    <a:lumMod val="50000"/>
                  </a:schemeClr>
                </a:solidFill>
              </a:rPr>
              <a:t>We will discuss NPV in the upcoming slide.</a:t>
            </a:r>
          </a:p>
        </p:txBody>
      </p:sp>
      <p:pic>
        <p:nvPicPr>
          <p:cNvPr id="7" name="Picture 6">
            <a:extLst>
              <a:ext uri="{FF2B5EF4-FFF2-40B4-BE49-F238E27FC236}">
                <a16:creationId xmlns:a16="http://schemas.microsoft.com/office/drawing/2014/main" id="{84AF88ED-68FE-1F4E-AA35-46B9624BE6A2}"/>
              </a:ext>
            </a:extLst>
          </p:cNvPr>
          <p:cNvPicPr>
            <a:picLocks noChangeAspect="1"/>
          </p:cNvPicPr>
          <p:nvPr/>
        </p:nvPicPr>
        <p:blipFill>
          <a:blip r:embed="rId2"/>
          <a:stretch>
            <a:fillRect/>
          </a:stretch>
        </p:blipFill>
        <p:spPr>
          <a:xfrm>
            <a:off x="9642764" y="95378"/>
            <a:ext cx="2408711" cy="547186"/>
          </a:xfrm>
          <a:prstGeom prst="rect">
            <a:avLst/>
          </a:prstGeom>
        </p:spPr>
      </p:pic>
      <p:sp>
        <p:nvSpPr>
          <p:cNvPr id="8" name="Footer Placeholder 4">
            <a:extLst>
              <a:ext uri="{FF2B5EF4-FFF2-40B4-BE49-F238E27FC236}">
                <a16:creationId xmlns:a16="http://schemas.microsoft.com/office/drawing/2014/main" id="{ADB47385-CDD8-A148-80A3-B9E04B460491}"/>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1750662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1E2F-EFB0-7040-BF59-B646D70803BE}"/>
              </a:ext>
            </a:extLst>
          </p:cNvPr>
          <p:cNvSpPr>
            <a:spLocks noGrp="1"/>
          </p:cNvSpPr>
          <p:nvPr>
            <p:ph type="title"/>
          </p:nvPr>
        </p:nvSpPr>
        <p:spPr/>
        <p:txBody>
          <a:bodyPr/>
          <a:lstStyle/>
          <a:p>
            <a:r>
              <a:rPr lang="en-US" dirty="0">
                <a:solidFill>
                  <a:schemeClr val="accent1"/>
                </a:solidFill>
              </a:rPr>
              <a:t>Accounting Rate of Return</a:t>
            </a:r>
          </a:p>
        </p:txBody>
      </p:sp>
      <p:sp>
        <p:nvSpPr>
          <p:cNvPr id="3" name="Content Placeholder 2">
            <a:extLst>
              <a:ext uri="{FF2B5EF4-FFF2-40B4-BE49-F238E27FC236}">
                <a16:creationId xmlns:a16="http://schemas.microsoft.com/office/drawing/2014/main" id="{AEAD8430-412A-B84E-B343-602816A74EB6}"/>
              </a:ext>
            </a:extLst>
          </p:cNvPr>
          <p:cNvSpPr>
            <a:spLocks noGrp="1"/>
          </p:cNvSpPr>
          <p:nvPr>
            <p:ph idx="1"/>
          </p:nvPr>
        </p:nvSpPr>
        <p:spPr>
          <a:xfrm>
            <a:off x="838200" y="1825625"/>
            <a:ext cx="10515600" cy="739445"/>
          </a:xfrm>
        </p:spPr>
        <p:txBody>
          <a:bodyPr/>
          <a:lstStyle/>
          <a:p>
            <a:pPr marL="0" indent="0">
              <a:buNone/>
            </a:pPr>
            <a:r>
              <a:rPr lang="en-IN" sz="2000" dirty="0">
                <a:solidFill>
                  <a:schemeClr val="accent6">
                    <a:lumMod val="50000"/>
                  </a:schemeClr>
                </a:solidFill>
              </a:rPr>
              <a:t>Accounting Rate of Return </a:t>
            </a:r>
            <a:r>
              <a:rPr lang="en-IN" sz="2000" dirty="0"/>
              <a:t>- Average income divided by average book value over project life. Also called </a:t>
            </a:r>
            <a:r>
              <a:rPr lang="en-IN" sz="2000" i="1" dirty="0"/>
              <a:t>book rate of return</a:t>
            </a:r>
            <a:r>
              <a:rPr lang="en-IN" sz="2000" dirty="0"/>
              <a:t>.</a:t>
            </a:r>
          </a:p>
          <a:p>
            <a:pPr marL="0" indent="0">
              <a:buNone/>
            </a:pPr>
            <a:endParaRPr lang="en-US" dirty="0"/>
          </a:p>
        </p:txBody>
      </p:sp>
      <p:sp>
        <p:nvSpPr>
          <p:cNvPr id="4" name="TextBox 3">
            <a:extLst>
              <a:ext uri="{FF2B5EF4-FFF2-40B4-BE49-F238E27FC236}">
                <a16:creationId xmlns:a16="http://schemas.microsoft.com/office/drawing/2014/main" id="{7F6BC00A-89FC-9840-BC63-826BCF6B7507}"/>
              </a:ext>
            </a:extLst>
          </p:cNvPr>
          <p:cNvSpPr txBox="1"/>
          <p:nvPr/>
        </p:nvSpPr>
        <p:spPr>
          <a:xfrm>
            <a:off x="3170711" y="3244334"/>
            <a:ext cx="2280063" cy="369332"/>
          </a:xfrm>
          <a:prstGeom prst="rect">
            <a:avLst/>
          </a:prstGeom>
          <a:noFill/>
        </p:spPr>
        <p:txBody>
          <a:bodyPr wrap="square" rtlCol="0">
            <a:spAutoFit/>
          </a:bodyPr>
          <a:lstStyle/>
          <a:p>
            <a:r>
              <a:rPr lang="en-US" dirty="0"/>
              <a:t>Book Rate of Return = </a:t>
            </a:r>
          </a:p>
        </p:txBody>
      </p:sp>
      <p:cxnSp>
        <p:nvCxnSpPr>
          <p:cNvPr id="6" name="Straight Connector 5">
            <a:extLst>
              <a:ext uri="{FF2B5EF4-FFF2-40B4-BE49-F238E27FC236}">
                <a16:creationId xmlns:a16="http://schemas.microsoft.com/office/drawing/2014/main" id="{3256C537-0726-1040-8C3C-32E72BB226BC}"/>
              </a:ext>
            </a:extLst>
          </p:cNvPr>
          <p:cNvCxnSpPr>
            <a:cxnSpLocks/>
          </p:cNvCxnSpPr>
          <p:nvPr/>
        </p:nvCxnSpPr>
        <p:spPr>
          <a:xfrm>
            <a:off x="5450774" y="3429000"/>
            <a:ext cx="2612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CC52799-1780-864B-9683-DF89B6A16D23}"/>
              </a:ext>
            </a:extLst>
          </p:cNvPr>
          <p:cNvSpPr txBox="1"/>
          <p:nvPr/>
        </p:nvSpPr>
        <p:spPr>
          <a:xfrm>
            <a:off x="5601195" y="3484812"/>
            <a:ext cx="2280063" cy="369332"/>
          </a:xfrm>
          <a:prstGeom prst="rect">
            <a:avLst/>
          </a:prstGeom>
          <a:noFill/>
        </p:spPr>
        <p:txBody>
          <a:bodyPr wrap="square" rtlCol="0">
            <a:spAutoFit/>
          </a:bodyPr>
          <a:lstStyle/>
          <a:p>
            <a:pPr algn="ctr"/>
            <a:r>
              <a:rPr lang="en-US" dirty="0"/>
              <a:t>Book Assets</a:t>
            </a:r>
          </a:p>
        </p:txBody>
      </p:sp>
      <p:sp>
        <p:nvSpPr>
          <p:cNvPr id="9" name="TextBox 8">
            <a:extLst>
              <a:ext uri="{FF2B5EF4-FFF2-40B4-BE49-F238E27FC236}">
                <a16:creationId xmlns:a16="http://schemas.microsoft.com/office/drawing/2014/main" id="{7FF0DA66-C176-2D4F-86B2-B575E35F8ED3}"/>
              </a:ext>
            </a:extLst>
          </p:cNvPr>
          <p:cNvSpPr txBox="1"/>
          <p:nvPr/>
        </p:nvSpPr>
        <p:spPr>
          <a:xfrm>
            <a:off x="5601196" y="3024941"/>
            <a:ext cx="2280063" cy="369332"/>
          </a:xfrm>
          <a:prstGeom prst="rect">
            <a:avLst/>
          </a:prstGeom>
          <a:noFill/>
        </p:spPr>
        <p:txBody>
          <a:bodyPr wrap="square" rtlCol="0">
            <a:spAutoFit/>
          </a:bodyPr>
          <a:lstStyle/>
          <a:p>
            <a:pPr algn="ctr"/>
            <a:r>
              <a:rPr lang="en-US" dirty="0"/>
              <a:t>Book Income</a:t>
            </a:r>
          </a:p>
        </p:txBody>
      </p:sp>
      <p:sp>
        <p:nvSpPr>
          <p:cNvPr id="10" name="TextBox 9">
            <a:extLst>
              <a:ext uri="{FF2B5EF4-FFF2-40B4-BE49-F238E27FC236}">
                <a16:creationId xmlns:a16="http://schemas.microsoft.com/office/drawing/2014/main" id="{7CBF0DB4-63E9-1D4C-BD2D-EF0A7DDDDE47}"/>
              </a:ext>
            </a:extLst>
          </p:cNvPr>
          <p:cNvSpPr txBox="1"/>
          <p:nvPr/>
        </p:nvSpPr>
        <p:spPr>
          <a:xfrm>
            <a:off x="838200" y="4750131"/>
            <a:ext cx="10212779" cy="707886"/>
          </a:xfrm>
          <a:prstGeom prst="rect">
            <a:avLst/>
          </a:prstGeom>
          <a:noFill/>
        </p:spPr>
        <p:txBody>
          <a:bodyPr wrap="square" rtlCol="0">
            <a:spAutoFit/>
          </a:bodyPr>
          <a:lstStyle/>
          <a:p>
            <a:r>
              <a:rPr lang="en-IN" sz="2000" dirty="0"/>
              <a:t>Managers rarely use this measurement to make decisions. The components reflect tax and accounting figures, not market values or cash flows. </a:t>
            </a:r>
          </a:p>
        </p:txBody>
      </p:sp>
      <p:pic>
        <p:nvPicPr>
          <p:cNvPr id="11" name="Picture 10">
            <a:extLst>
              <a:ext uri="{FF2B5EF4-FFF2-40B4-BE49-F238E27FC236}">
                <a16:creationId xmlns:a16="http://schemas.microsoft.com/office/drawing/2014/main" id="{1EF34C04-A5FC-0E4A-A566-E9070E563D95}"/>
              </a:ext>
            </a:extLst>
          </p:cNvPr>
          <p:cNvPicPr>
            <a:picLocks noChangeAspect="1"/>
          </p:cNvPicPr>
          <p:nvPr/>
        </p:nvPicPr>
        <p:blipFill>
          <a:blip r:embed="rId2"/>
          <a:stretch>
            <a:fillRect/>
          </a:stretch>
        </p:blipFill>
        <p:spPr>
          <a:xfrm>
            <a:off x="9642764" y="95378"/>
            <a:ext cx="2408711" cy="547186"/>
          </a:xfrm>
          <a:prstGeom prst="rect">
            <a:avLst/>
          </a:prstGeom>
        </p:spPr>
      </p:pic>
      <p:sp>
        <p:nvSpPr>
          <p:cNvPr id="12" name="Footer Placeholder 4">
            <a:extLst>
              <a:ext uri="{FF2B5EF4-FFF2-40B4-BE49-F238E27FC236}">
                <a16:creationId xmlns:a16="http://schemas.microsoft.com/office/drawing/2014/main" id="{95D51BB8-323C-A140-AB81-1677F7F92E88}"/>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99209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921D-3980-3C4B-847D-CDE6FAF8DBDB}"/>
              </a:ext>
            </a:extLst>
          </p:cNvPr>
          <p:cNvSpPr>
            <a:spLocks noGrp="1"/>
          </p:cNvSpPr>
          <p:nvPr>
            <p:ph type="title"/>
          </p:nvPr>
        </p:nvSpPr>
        <p:spPr>
          <a:xfrm>
            <a:off x="838200" y="2766218"/>
            <a:ext cx="10515600" cy="1325563"/>
          </a:xfrm>
        </p:spPr>
        <p:txBody>
          <a:bodyPr/>
          <a:lstStyle/>
          <a:p>
            <a:pPr algn="ctr"/>
            <a:r>
              <a:rPr lang="en-US" dirty="0">
                <a:solidFill>
                  <a:schemeClr val="accent1"/>
                </a:solidFill>
              </a:rPr>
              <a:t>Discounting Criteria</a:t>
            </a:r>
          </a:p>
        </p:txBody>
      </p:sp>
      <p:pic>
        <p:nvPicPr>
          <p:cNvPr id="3" name="Picture 2">
            <a:extLst>
              <a:ext uri="{FF2B5EF4-FFF2-40B4-BE49-F238E27FC236}">
                <a16:creationId xmlns:a16="http://schemas.microsoft.com/office/drawing/2014/main" id="{DA520E77-EFCB-6E4F-8861-CBE10E4BC7FE}"/>
              </a:ext>
            </a:extLst>
          </p:cNvPr>
          <p:cNvPicPr>
            <a:picLocks noChangeAspect="1"/>
          </p:cNvPicPr>
          <p:nvPr/>
        </p:nvPicPr>
        <p:blipFill>
          <a:blip r:embed="rId2"/>
          <a:stretch>
            <a:fillRect/>
          </a:stretch>
        </p:blipFill>
        <p:spPr>
          <a:xfrm>
            <a:off x="9642764" y="95378"/>
            <a:ext cx="2408711" cy="547186"/>
          </a:xfrm>
          <a:prstGeom prst="rect">
            <a:avLst/>
          </a:prstGeom>
        </p:spPr>
      </p:pic>
      <p:sp>
        <p:nvSpPr>
          <p:cNvPr id="4" name="Footer Placeholder 4">
            <a:extLst>
              <a:ext uri="{FF2B5EF4-FFF2-40B4-BE49-F238E27FC236}">
                <a16:creationId xmlns:a16="http://schemas.microsoft.com/office/drawing/2014/main" id="{71ED5831-6776-3D4C-A4CE-77B8A658C54F}"/>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44469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33966-0E53-E548-B66C-0DC3D229D199}"/>
              </a:ext>
            </a:extLst>
          </p:cNvPr>
          <p:cNvSpPr>
            <a:spLocks noGrp="1"/>
          </p:cNvSpPr>
          <p:nvPr>
            <p:ph type="title"/>
          </p:nvPr>
        </p:nvSpPr>
        <p:spPr/>
        <p:txBody>
          <a:bodyPr/>
          <a:lstStyle/>
          <a:p>
            <a:r>
              <a:rPr lang="en-US" dirty="0">
                <a:solidFill>
                  <a:schemeClr val="accent1"/>
                </a:solidFill>
              </a:rPr>
              <a:t>Time Value of Money</a:t>
            </a:r>
          </a:p>
        </p:txBody>
      </p:sp>
      <p:sp>
        <p:nvSpPr>
          <p:cNvPr id="3" name="Content Placeholder 2">
            <a:extLst>
              <a:ext uri="{FF2B5EF4-FFF2-40B4-BE49-F238E27FC236}">
                <a16:creationId xmlns:a16="http://schemas.microsoft.com/office/drawing/2014/main" id="{C98AFF63-9C8E-3D40-85D1-819901F5AFBD}"/>
              </a:ext>
            </a:extLst>
          </p:cNvPr>
          <p:cNvSpPr>
            <a:spLocks noGrp="1"/>
          </p:cNvSpPr>
          <p:nvPr>
            <p:ph idx="1"/>
          </p:nvPr>
        </p:nvSpPr>
        <p:spPr>
          <a:xfrm>
            <a:off x="838200" y="1490192"/>
            <a:ext cx="10515600" cy="2707715"/>
          </a:xfrm>
        </p:spPr>
        <p:txBody>
          <a:bodyPr>
            <a:normAutofit fontScale="85000" lnSpcReduction="10000"/>
          </a:bodyPr>
          <a:lstStyle/>
          <a:p>
            <a:pPr>
              <a:lnSpc>
                <a:spcPct val="150000"/>
              </a:lnSpc>
            </a:pPr>
            <a:r>
              <a:rPr lang="en-US" sz="2000" dirty="0"/>
              <a:t>A concept that says: A rupee today is always worth more than rupee tomorrow. </a:t>
            </a:r>
          </a:p>
          <a:p>
            <a:pPr>
              <a:lnSpc>
                <a:spcPct val="150000"/>
              </a:lnSpc>
            </a:pPr>
            <a:r>
              <a:rPr lang="en-US" sz="2000" dirty="0"/>
              <a:t>In order to evaluate the future money worth it has to be converted into present value.</a:t>
            </a:r>
          </a:p>
          <a:p>
            <a:pPr>
              <a:lnSpc>
                <a:spcPct val="150000"/>
              </a:lnSpc>
            </a:pPr>
            <a:r>
              <a:rPr lang="en-US" sz="2000" dirty="0"/>
              <a:t>This present value will help to determine if we should invest in project or not. If present value of future cash flow is more than actual money you would be receiving today then you should opt for future cash flow option.</a:t>
            </a:r>
          </a:p>
          <a:p>
            <a:pPr marL="0" indent="0">
              <a:lnSpc>
                <a:spcPct val="150000"/>
              </a:lnSpc>
              <a:buNone/>
            </a:pPr>
            <a:r>
              <a:rPr lang="en-US" sz="2000" b="1" dirty="0"/>
              <a:t>Example</a:t>
            </a:r>
            <a:r>
              <a:rPr lang="en-US" sz="2000" dirty="0"/>
              <a:t>: Suppose you win a lottery today worth Rs. 100000 and given an option you can collect it today or you can collect it after 1 year and they would pay Rs. 102,000. What will you do?</a:t>
            </a:r>
          </a:p>
        </p:txBody>
      </p:sp>
      <p:sp>
        <p:nvSpPr>
          <p:cNvPr id="4" name="TextBox 3">
            <a:extLst>
              <a:ext uri="{FF2B5EF4-FFF2-40B4-BE49-F238E27FC236}">
                <a16:creationId xmlns:a16="http://schemas.microsoft.com/office/drawing/2014/main" id="{EDF4A795-5663-8341-9FD1-6E09D8804128}"/>
              </a:ext>
            </a:extLst>
          </p:cNvPr>
          <p:cNvSpPr txBox="1"/>
          <p:nvPr/>
        </p:nvSpPr>
        <p:spPr>
          <a:xfrm>
            <a:off x="3610099" y="4704998"/>
            <a:ext cx="1733798" cy="369332"/>
          </a:xfrm>
          <a:prstGeom prst="rect">
            <a:avLst/>
          </a:prstGeom>
          <a:noFill/>
        </p:spPr>
        <p:txBody>
          <a:bodyPr wrap="square" rtlCol="0">
            <a:spAutoFit/>
          </a:bodyPr>
          <a:lstStyle/>
          <a:p>
            <a:r>
              <a:rPr lang="en-US" dirty="0"/>
              <a:t>Present Value = </a:t>
            </a:r>
          </a:p>
        </p:txBody>
      </p:sp>
      <p:cxnSp>
        <p:nvCxnSpPr>
          <p:cNvPr id="5" name="Straight Connector 4">
            <a:extLst>
              <a:ext uri="{FF2B5EF4-FFF2-40B4-BE49-F238E27FC236}">
                <a16:creationId xmlns:a16="http://schemas.microsoft.com/office/drawing/2014/main" id="{466D61D8-3E4D-4F43-87AE-46ED5585A665}"/>
              </a:ext>
            </a:extLst>
          </p:cNvPr>
          <p:cNvCxnSpPr>
            <a:cxnSpLocks/>
          </p:cNvCxnSpPr>
          <p:nvPr/>
        </p:nvCxnSpPr>
        <p:spPr>
          <a:xfrm>
            <a:off x="5237018" y="4901540"/>
            <a:ext cx="2612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2391816-25A6-384C-8B27-F03DDE76AC5F}"/>
              </a:ext>
            </a:extLst>
          </p:cNvPr>
          <p:cNvSpPr txBox="1"/>
          <p:nvPr/>
        </p:nvSpPr>
        <p:spPr>
          <a:xfrm>
            <a:off x="5237018" y="4520332"/>
            <a:ext cx="2280063" cy="369332"/>
          </a:xfrm>
          <a:prstGeom prst="rect">
            <a:avLst/>
          </a:prstGeom>
          <a:noFill/>
        </p:spPr>
        <p:txBody>
          <a:bodyPr wrap="square" rtlCol="0">
            <a:spAutoFit/>
          </a:bodyPr>
          <a:lstStyle/>
          <a:p>
            <a:pPr algn="ctr"/>
            <a:r>
              <a:rPr lang="en-US" dirty="0"/>
              <a:t>Future Value</a:t>
            </a:r>
          </a:p>
        </p:txBody>
      </p:sp>
      <p:sp>
        <p:nvSpPr>
          <p:cNvPr id="7" name="TextBox 6">
            <a:extLst>
              <a:ext uri="{FF2B5EF4-FFF2-40B4-BE49-F238E27FC236}">
                <a16:creationId xmlns:a16="http://schemas.microsoft.com/office/drawing/2014/main" id="{BE7AE646-B5BE-334E-A40A-39A71D8FFA81}"/>
              </a:ext>
            </a:extLst>
          </p:cNvPr>
          <p:cNvSpPr txBox="1"/>
          <p:nvPr/>
        </p:nvSpPr>
        <p:spPr>
          <a:xfrm>
            <a:off x="5237017" y="4976059"/>
            <a:ext cx="2280063" cy="369332"/>
          </a:xfrm>
          <a:prstGeom prst="rect">
            <a:avLst/>
          </a:prstGeom>
          <a:noFill/>
        </p:spPr>
        <p:txBody>
          <a:bodyPr wrap="square" rtlCol="0">
            <a:spAutoFit/>
          </a:bodyPr>
          <a:lstStyle/>
          <a:p>
            <a:pPr algn="ctr"/>
            <a:r>
              <a:rPr lang="en-US" dirty="0"/>
              <a:t>∑(1 + r)^n</a:t>
            </a:r>
          </a:p>
        </p:txBody>
      </p:sp>
      <p:sp>
        <p:nvSpPr>
          <p:cNvPr id="8" name="TextBox 7">
            <a:extLst>
              <a:ext uri="{FF2B5EF4-FFF2-40B4-BE49-F238E27FC236}">
                <a16:creationId xmlns:a16="http://schemas.microsoft.com/office/drawing/2014/main" id="{A8782D1E-E9ED-AC44-ABFC-3D9A8253225F}"/>
              </a:ext>
            </a:extLst>
          </p:cNvPr>
          <p:cNvSpPr txBox="1"/>
          <p:nvPr/>
        </p:nvSpPr>
        <p:spPr>
          <a:xfrm>
            <a:off x="8668989" y="4301375"/>
            <a:ext cx="3265714" cy="1200329"/>
          </a:xfrm>
          <a:prstGeom prst="rect">
            <a:avLst/>
          </a:prstGeom>
          <a:noFill/>
        </p:spPr>
        <p:txBody>
          <a:bodyPr wrap="square" rtlCol="0">
            <a:spAutoFit/>
          </a:bodyPr>
          <a:lstStyle/>
          <a:p>
            <a:r>
              <a:rPr lang="en-US" dirty="0"/>
              <a:t>r = opportunity cost or cost of capital or discount rate</a:t>
            </a:r>
          </a:p>
          <a:p>
            <a:endParaRPr lang="en-US" dirty="0"/>
          </a:p>
          <a:p>
            <a:r>
              <a:rPr lang="en-US" dirty="0"/>
              <a:t>n = number of years.</a:t>
            </a:r>
          </a:p>
        </p:txBody>
      </p:sp>
      <p:sp>
        <p:nvSpPr>
          <p:cNvPr id="9" name="TextBox 8">
            <a:extLst>
              <a:ext uri="{FF2B5EF4-FFF2-40B4-BE49-F238E27FC236}">
                <a16:creationId xmlns:a16="http://schemas.microsoft.com/office/drawing/2014/main" id="{62271646-CB2E-294D-98C8-7248F11D04AC}"/>
              </a:ext>
            </a:extLst>
          </p:cNvPr>
          <p:cNvSpPr txBox="1"/>
          <p:nvPr/>
        </p:nvSpPr>
        <p:spPr>
          <a:xfrm>
            <a:off x="2806535" y="5836005"/>
            <a:ext cx="6578930" cy="369332"/>
          </a:xfrm>
          <a:prstGeom prst="rect">
            <a:avLst/>
          </a:prstGeom>
          <a:noFill/>
        </p:spPr>
        <p:txBody>
          <a:bodyPr wrap="square" rtlCol="0">
            <a:spAutoFit/>
          </a:bodyPr>
          <a:lstStyle/>
          <a:p>
            <a:r>
              <a:rPr lang="en-US" dirty="0"/>
              <a:t>Hence, present value of 102,000/1.04 = Rs. 98076, so what’s better?</a:t>
            </a:r>
          </a:p>
        </p:txBody>
      </p:sp>
      <p:sp>
        <p:nvSpPr>
          <p:cNvPr id="11" name="TextBox 10">
            <a:extLst>
              <a:ext uri="{FF2B5EF4-FFF2-40B4-BE49-F238E27FC236}">
                <a16:creationId xmlns:a16="http://schemas.microsoft.com/office/drawing/2014/main" id="{1C010758-4AA3-2143-B1FF-A51FEB1A631A}"/>
              </a:ext>
            </a:extLst>
          </p:cNvPr>
          <p:cNvSpPr txBox="1"/>
          <p:nvPr/>
        </p:nvSpPr>
        <p:spPr>
          <a:xfrm>
            <a:off x="2004949" y="6354972"/>
            <a:ext cx="8744197" cy="369332"/>
          </a:xfrm>
          <a:prstGeom prst="rect">
            <a:avLst/>
          </a:prstGeom>
          <a:noFill/>
        </p:spPr>
        <p:txBody>
          <a:bodyPr wrap="square" rtlCol="0">
            <a:spAutoFit/>
          </a:bodyPr>
          <a:lstStyle/>
          <a:p>
            <a:r>
              <a:rPr lang="en-US" dirty="0">
                <a:solidFill>
                  <a:schemeClr val="accent6">
                    <a:lumMod val="50000"/>
                  </a:schemeClr>
                </a:solidFill>
              </a:rPr>
              <a:t>r = 4%, as the next best opportunity was to put in bank which gave interest of 4% annually.</a:t>
            </a:r>
          </a:p>
        </p:txBody>
      </p:sp>
      <p:pic>
        <p:nvPicPr>
          <p:cNvPr id="12" name="Picture 11">
            <a:extLst>
              <a:ext uri="{FF2B5EF4-FFF2-40B4-BE49-F238E27FC236}">
                <a16:creationId xmlns:a16="http://schemas.microsoft.com/office/drawing/2014/main" id="{E9C4F448-38B8-A34F-93A1-AD257B4401C9}"/>
              </a:ext>
            </a:extLst>
          </p:cNvPr>
          <p:cNvPicPr>
            <a:picLocks noChangeAspect="1"/>
          </p:cNvPicPr>
          <p:nvPr/>
        </p:nvPicPr>
        <p:blipFill>
          <a:blip r:embed="rId2"/>
          <a:stretch>
            <a:fillRect/>
          </a:stretch>
        </p:blipFill>
        <p:spPr>
          <a:xfrm>
            <a:off x="9642764" y="95378"/>
            <a:ext cx="2408711" cy="547186"/>
          </a:xfrm>
          <a:prstGeom prst="rect">
            <a:avLst/>
          </a:prstGeom>
        </p:spPr>
      </p:pic>
      <p:sp>
        <p:nvSpPr>
          <p:cNvPr id="13" name="Footer Placeholder 4">
            <a:extLst>
              <a:ext uri="{FF2B5EF4-FFF2-40B4-BE49-F238E27FC236}">
                <a16:creationId xmlns:a16="http://schemas.microsoft.com/office/drawing/2014/main" id="{4B85D278-B09C-4F41-B05F-9E63EDA92F29}"/>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566452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5C95-DCCB-574F-838A-47F6DB498160}"/>
              </a:ext>
            </a:extLst>
          </p:cNvPr>
          <p:cNvSpPr>
            <a:spLocks noGrp="1"/>
          </p:cNvSpPr>
          <p:nvPr>
            <p:ph type="title"/>
          </p:nvPr>
        </p:nvSpPr>
        <p:spPr/>
        <p:txBody>
          <a:bodyPr/>
          <a:lstStyle/>
          <a:p>
            <a:r>
              <a:rPr lang="en-US" dirty="0">
                <a:solidFill>
                  <a:schemeClr val="accent1"/>
                </a:solidFill>
              </a:rPr>
              <a:t>Time Value of Money…</a:t>
            </a:r>
          </a:p>
        </p:txBody>
      </p:sp>
      <p:sp>
        <p:nvSpPr>
          <p:cNvPr id="3" name="Content Placeholder 2">
            <a:extLst>
              <a:ext uri="{FF2B5EF4-FFF2-40B4-BE49-F238E27FC236}">
                <a16:creationId xmlns:a16="http://schemas.microsoft.com/office/drawing/2014/main" id="{807284F9-AB40-184B-9273-5E88BA6851D1}"/>
              </a:ext>
            </a:extLst>
          </p:cNvPr>
          <p:cNvSpPr>
            <a:spLocks noGrp="1"/>
          </p:cNvSpPr>
          <p:nvPr>
            <p:ph idx="1"/>
          </p:nvPr>
        </p:nvSpPr>
        <p:spPr>
          <a:xfrm>
            <a:off x="838200" y="1825625"/>
            <a:ext cx="10515600" cy="751320"/>
          </a:xfrm>
        </p:spPr>
        <p:txBody>
          <a:bodyPr>
            <a:normAutofit/>
          </a:bodyPr>
          <a:lstStyle/>
          <a:p>
            <a:pPr marL="0" indent="0">
              <a:buNone/>
            </a:pPr>
            <a:r>
              <a:rPr lang="en-US" sz="2000" dirty="0"/>
              <a:t>Suppose you lend a friend Rs. 10000 today and he said you to pay Rs. 5000 in year 1, Rs. 5000 in year 2 and Rs. 3000 in year 3 is it worth lending to your friend?</a:t>
            </a:r>
          </a:p>
        </p:txBody>
      </p:sp>
      <p:sp>
        <p:nvSpPr>
          <p:cNvPr id="4" name="TextBox 3">
            <a:extLst>
              <a:ext uri="{FF2B5EF4-FFF2-40B4-BE49-F238E27FC236}">
                <a16:creationId xmlns:a16="http://schemas.microsoft.com/office/drawing/2014/main" id="{4967ADA7-5CBA-1A4F-B793-AA6C8826B43C}"/>
              </a:ext>
            </a:extLst>
          </p:cNvPr>
          <p:cNvSpPr txBox="1"/>
          <p:nvPr/>
        </p:nvSpPr>
        <p:spPr>
          <a:xfrm>
            <a:off x="2351314" y="3152001"/>
            <a:ext cx="1506503" cy="276999"/>
          </a:xfrm>
          <a:prstGeom prst="rect">
            <a:avLst/>
          </a:prstGeom>
          <a:noFill/>
        </p:spPr>
        <p:txBody>
          <a:bodyPr wrap="none" lIns="0" tIns="0" rIns="0" bIns="0" rtlCol="0">
            <a:spAutoFit/>
          </a:bodyPr>
          <a:lstStyle/>
          <a:p>
            <a:r>
              <a:rPr lang="en-US" dirty="0"/>
              <a:t>Present Value =</a:t>
            </a:r>
          </a:p>
        </p:txBody>
      </p:sp>
      <p:cxnSp>
        <p:nvCxnSpPr>
          <p:cNvPr id="6" name="Straight Connector 5">
            <a:extLst>
              <a:ext uri="{FF2B5EF4-FFF2-40B4-BE49-F238E27FC236}">
                <a16:creationId xmlns:a16="http://schemas.microsoft.com/office/drawing/2014/main" id="{0C13ACB5-B4DC-E147-9C4A-97CEF894C881}"/>
              </a:ext>
            </a:extLst>
          </p:cNvPr>
          <p:cNvCxnSpPr/>
          <p:nvPr/>
        </p:nvCxnSpPr>
        <p:spPr>
          <a:xfrm>
            <a:off x="3966358" y="3277590"/>
            <a:ext cx="1436915"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6F24F06-C29E-7646-AB48-5D5F7B74C530}"/>
              </a:ext>
            </a:extLst>
          </p:cNvPr>
          <p:cNvCxnSpPr/>
          <p:nvPr/>
        </p:nvCxnSpPr>
        <p:spPr>
          <a:xfrm>
            <a:off x="6000997" y="3275702"/>
            <a:ext cx="1436915"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6D0758EC-AB8C-CE43-BB00-250D2F827E5C}"/>
              </a:ext>
            </a:extLst>
          </p:cNvPr>
          <p:cNvCxnSpPr/>
          <p:nvPr/>
        </p:nvCxnSpPr>
        <p:spPr>
          <a:xfrm>
            <a:off x="8148452" y="3275702"/>
            <a:ext cx="1436915"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AFA6EE45-ED5B-1949-8809-C8DA8DC1A48E}"/>
              </a:ext>
            </a:extLst>
          </p:cNvPr>
          <p:cNvSpPr txBox="1"/>
          <p:nvPr/>
        </p:nvSpPr>
        <p:spPr>
          <a:xfrm>
            <a:off x="4043549" y="2906370"/>
            <a:ext cx="1163781" cy="369332"/>
          </a:xfrm>
          <a:prstGeom prst="rect">
            <a:avLst/>
          </a:prstGeom>
          <a:noFill/>
        </p:spPr>
        <p:txBody>
          <a:bodyPr wrap="square" rtlCol="0">
            <a:spAutoFit/>
          </a:bodyPr>
          <a:lstStyle/>
          <a:p>
            <a:pPr algn="ctr"/>
            <a:r>
              <a:rPr lang="en-US" dirty="0"/>
              <a:t>5000</a:t>
            </a:r>
          </a:p>
        </p:txBody>
      </p:sp>
      <p:sp>
        <p:nvSpPr>
          <p:cNvPr id="11" name="TextBox 10">
            <a:extLst>
              <a:ext uri="{FF2B5EF4-FFF2-40B4-BE49-F238E27FC236}">
                <a16:creationId xmlns:a16="http://schemas.microsoft.com/office/drawing/2014/main" id="{909DBB2F-EA7D-EC49-81ED-594BF0EDE5F5}"/>
              </a:ext>
            </a:extLst>
          </p:cNvPr>
          <p:cNvSpPr txBox="1"/>
          <p:nvPr/>
        </p:nvSpPr>
        <p:spPr>
          <a:xfrm>
            <a:off x="6112824" y="2921697"/>
            <a:ext cx="1163781" cy="369332"/>
          </a:xfrm>
          <a:prstGeom prst="rect">
            <a:avLst/>
          </a:prstGeom>
          <a:noFill/>
        </p:spPr>
        <p:txBody>
          <a:bodyPr wrap="square" rtlCol="0">
            <a:spAutoFit/>
          </a:bodyPr>
          <a:lstStyle/>
          <a:p>
            <a:pPr algn="ctr"/>
            <a:r>
              <a:rPr lang="en-US" dirty="0"/>
              <a:t>5000</a:t>
            </a:r>
          </a:p>
        </p:txBody>
      </p:sp>
      <p:sp>
        <p:nvSpPr>
          <p:cNvPr id="12" name="TextBox 11">
            <a:extLst>
              <a:ext uri="{FF2B5EF4-FFF2-40B4-BE49-F238E27FC236}">
                <a16:creationId xmlns:a16="http://schemas.microsoft.com/office/drawing/2014/main" id="{964C1582-81CA-7F42-A736-59CFA12EA4DD}"/>
              </a:ext>
            </a:extLst>
          </p:cNvPr>
          <p:cNvSpPr txBox="1"/>
          <p:nvPr/>
        </p:nvSpPr>
        <p:spPr>
          <a:xfrm>
            <a:off x="8186059" y="2906370"/>
            <a:ext cx="1163781" cy="369332"/>
          </a:xfrm>
          <a:prstGeom prst="rect">
            <a:avLst/>
          </a:prstGeom>
          <a:noFill/>
        </p:spPr>
        <p:txBody>
          <a:bodyPr wrap="square" rtlCol="0">
            <a:spAutoFit/>
          </a:bodyPr>
          <a:lstStyle/>
          <a:p>
            <a:pPr algn="ctr"/>
            <a:r>
              <a:rPr lang="en-US" dirty="0"/>
              <a:t>3000</a:t>
            </a:r>
          </a:p>
        </p:txBody>
      </p:sp>
      <p:sp>
        <p:nvSpPr>
          <p:cNvPr id="13" name="TextBox 12">
            <a:extLst>
              <a:ext uri="{FF2B5EF4-FFF2-40B4-BE49-F238E27FC236}">
                <a16:creationId xmlns:a16="http://schemas.microsoft.com/office/drawing/2014/main" id="{36AFA5B6-A97F-6548-9491-A54A43623472}"/>
              </a:ext>
            </a:extLst>
          </p:cNvPr>
          <p:cNvSpPr txBox="1"/>
          <p:nvPr/>
        </p:nvSpPr>
        <p:spPr>
          <a:xfrm>
            <a:off x="5144986" y="3091036"/>
            <a:ext cx="1163781" cy="369332"/>
          </a:xfrm>
          <a:prstGeom prst="rect">
            <a:avLst/>
          </a:prstGeom>
          <a:noFill/>
        </p:spPr>
        <p:txBody>
          <a:bodyPr wrap="square" rtlCol="0">
            <a:spAutoFit/>
          </a:bodyPr>
          <a:lstStyle/>
          <a:p>
            <a:pPr algn="ctr"/>
            <a:r>
              <a:rPr lang="en-US" dirty="0"/>
              <a:t>+</a:t>
            </a:r>
          </a:p>
        </p:txBody>
      </p:sp>
      <p:sp>
        <p:nvSpPr>
          <p:cNvPr id="14" name="TextBox 13">
            <a:extLst>
              <a:ext uri="{FF2B5EF4-FFF2-40B4-BE49-F238E27FC236}">
                <a16:creationId xmlns:a16="http://schemas.microsoft.com/office/drawing/2014/main" id="{BD2F2CDE-564F-DE4F-ABB8-C92F740F26F7}"/>
              </a:ext>
            </a:extLst>
          </p:cNvPr>
          <p:cNvSpPr txBox="1"/>
          <p:nvPr/>
        </p:nvSpPr>
        <p:spPr>
          <a:xfrm>
            <a:off x="7248899" y="3105834"/>
            <a:ext cx="1163781" cy="369332"/>
          </a:xfrm>
          <a:prstGeom prst="rect">
            <a:avLst/>
          </a:prstGeom>
          <a:noFill/>
        </p:spPr>
        <p:txBody>
          <a:bodyPr wrap="square" rtlCol="0">
            <a:spAutoFit/>
          </a:bodyPr>
          <a:lstStyle/>
          <a:p>
            <a:pPr algn="ctr"/>
            <a:r>
              <a:rPr lang="en-US" dirty="0"/>
              <a:t>+</a:t>
            </a:r>
          </a:p>
        </p:txBody>
      </p:sp>
      <p:sp>
        <p:nvSpPr>
          <p:cNvPr id="15" name="TextBox 14">
            <a:extLst>
              <a:ext uri="{FF2B5EF4-FFF2-40B4-BE49-F238E27FC236}">
                <a16:creationId xmlns:a16="http://schemas.microsoft.com/office/drawing/2014/main" id="{484041B7-8CE0-114E-844A-415322CD006E}"/>
              </a:ext>
            </a:extLst>
          </p:cNvPr>
          <p:cNvSpPr txBox="1"/>
          <p:nvPr/>
        </p:nvSpPr>
        <p:spPr>
          <a:xfrm>
            <a:off x="4043549" y="3336114"/>
            <a:ext cx="1163781" cy="369332"/>
          </a:xfrm>
          <a:prstGeom prst="rect">
            <a:avLst/>
          </a:prstGeom>
          <a:noFill/>
        </p:spPr>
        <p:txBody>
          <a:bodyPr wrap="square" rtlCol="0">
            <a:spAutoFit/>
          </a:bodyPr>
          <a:lstStyle/>
          <a:p>
            <a:pPr algn="ctr"/>
            <a:r>
              <a:rPr lang="en-US" dirty="0"/>
              <a:t>(1.06)</a:t>
            </a:r>
          </a:p>
        </p:txBody>
      </p:sp>
      <p:sp>
        <p:nvSpPr>
          <p:cNvPr id="16" name="TextBox 15">
            <a:extLst>
              <a:ext uri="{FF2B5EF4-FFF2-40B4-BE49-F238E27FC236}">
                <a16:creationId xmlns:a16="http://schemas.microsoft.com/office/drawing/2014/main" id="{352265EA-4F84-2441-8F84-8E2004FCE168}"/>
              </a:ext>
            </a:extLst>
          </p:cNvPr>
          <p:cNvSpPr txBox="1"/>
          <p:nvPr/>
        </p:nvSpPr>
        <p:spPr>
          <a:xfrm>
            <a:off x="6195457" y="3331810"/>
            <a:ext cx="1163781" cy="369332"/>
          </a:xfrm>
          <a:prstGeom prst="rect">
            <a:avLst/>
          </a:prstGeom>
          <a:noFill/>
        </p:spPr>
        <p:txBody>
          <a:bodyPr wrap="square" rtlCol="0">
            <a:spAutoFit/>
          </a:bodyPr>
          <a:lstStyle/>
          <a:p>
            <a:pPr algn="ctr"/>
            <a:r>
              <a:rPr lang="en-US" dirty="0"/>
              <a:t>(1.06)^2</a:t>
            </a:r>
          </a:p>
        </p:txBody>
      </p:sp>
      <p:sp>
        <p:nvSpPr>
          <p:cNvPr id="17" name="TextBox 16">
            <a:extLst>
              <a:ext uri="{FF2B5EF4-FFF2-40B4-BE49-F238E27FC236}">
                <a16:creationId xmlns:a16="http://schemas.microsoft.com/office/drawing/2014/main" id="{8297227F-B244-3C4F-BE0F-C2A8CF3C9022}"/>
              </a:ext>
            </a:extLst>
          </p:cNvPr>
          <p:cNvSpPr txBox="1"/>
          <p:nvPr/>
        </p:nvSpPr>
        <p:spPr>
          <a:xfrm>
            <a:off x="8264732" y="3290500"/>
            <a:ext cx="1163781" cy="369332"/>
          </a:xfrm>
          <a:prstGeom prst="rect">
            <a:avLst/>
          </a:prstGeom>
          <a:noFill/>
        </p:spPr>
        <p:txBody>
          <a:bodyPr wrap="square" rtlCol="0">
            <a:spAutoFit/>
          </a:bodyPr>
          <a:lstStyle/>
          <a:p>
            <a:pPr algn="ctr"/>
            <a:r>
              <a:rPr lang="en-US" dirty="0"/>
              <a:t>(1.06)^3</a:t>
            </a:r>
          </a:p>
        </p:txBody>
      </p:sp>
      <p:sp>
        <p:nvSpPr>
          <p:cNvPr id="18" name="TextBox 17">
            <a:extLst>
              <a:ext uri="{FF2B5EF4-FFF2-40B4-BE49-F238E27FC236}">
                <a16:creationId xmlns:a16="http://schemas.microsoft.com/office/drawing/2014/main" id="{C51119E2-81A7-764A-81EF-ADCC0D4F2960}"/>
              </a:ext>
            </a:extLst>
          </p:cNvPr>
          <p:cNvSpPr txBox="1"/>
          <p:nvPr/>
        </p:nvSpPr>
        <p:spPr>
          <a:xfrm>
            <a:off x="9737609" y="3105834"/>
            <a:ext cx="758221" cy="276999"/>
          </a:xfrm>
          <a:prstGeom prst="rect">
            <a:avLst/>
          </a:prstGeom>
          <a:noFill/>
        </p:spPr>
        <p:txBody>
          <a:bodyPr wrap="none" lIns="0" tIns="0" rIns="0" bIns="0" rtlCol="0">
            <a:spAutoFit/>
          </a:bodyPr>
          <a:lstStyle/>
          <a:p>
            <a:r>
              <a:rPr lang="en-US" dirty="0"/>
              <a:t>=11,614</a:t>
            </a:r>
          </a:p>
        </p:txBody>
      </p:sp>
      <p:sp>
        <p:nvSpPr>
          <p:cNvPr id="19" name="TextBox 18">
            <a:extLst>
              <a:ext uri="{FF2B5EF4-FFF2-40B4-BE49-F238E27FC236}">
                <a16:creationId xmlns:a16="http://schemas.microsoft.com/office/drawing/2014/main" id="{800191F6-B416-0F41-9283-9A1CE5BEC71B}"/>
              </a:ext>
            </a:extLst>
          </p:cNvPr>
          <p:cNvSpPr txBox="1"/>
          <p:nvPr/>
        </p:nvSpPr>
        <p:spPr>
          <a:xfrm>
            <a:off x="1592284" y="4453249"/>
            <a:ext cx="9206345" cy="707886"/>
          </a:xfrm>
          <a:prstGeom prst="rect">
            <a:avLst/>
          </a:prstGeom>
          <a:noFill/>
        </p:spPr>
        <p:txBody>
          <a:bodyPr wrap="square" rtlCol="0">
            <a:spAutoFit/>
          </a:bodyPr>
          <a:lstStyle/>
          <a:p>
            <a:pPr algn="ctr"/>
            <a:r>
              <a:rPr lang="en-US" sz="2000" dirty="0">
                <a:solidFill>
                  <a:schemeClr val="accent6">
                    <a:lumMod val="50000"/>
                  </a:schemeClr>
                </a:solidFill>
              </a:rPr>
              <a:t>So Net Present Value for you is = 11,614-10,000 = 1614</a:t>
            </a:r>
          </a:p>
          <a:p>
            <a:pPr algn="ctr"/>
            <a:r>
              <a:rPr lang="en-US" sz="2000" dirty="0">
                <a:solidFill>
                  <a:schemeClr val="accent6">
                    <a:lumMod val="50000"/>
                  </a:schemeClr>
                </a:solidFill>
              </a:rPr>
              <a:t>Net Present Value(NPV) = Present Value of future cash flow – Money Spent in present</a:t>
            </a:r>
          </a:p>
        </p:txBody>
      </p:sp>
      <p:sp>
        <p:nvSpPr>
          <p:cNvPr id="21" name="TextBox 20">
            <a:extLst>
              <a:ext uri="{FF2B5EF4-FFF2-40B4-BE49-F238E27FC236}">
                <a16:creationId xmlns:a16="http://schemas.microsoft.com/office/drawing/2014/main" id="{A5958E6B-D286-E342-BC68-BD1D77D29F1F}"/>
              </a:ext>
            </a:extLst>
          </p:cNvPr>
          <p:cNvSpPr txBox="1"/>
          <p:nvPr/>
        </p:nvSpPr>
        <p:spPr>
          <a:xfrm>
            <a:off x="1592284" y="5631386"/>
            <a:ext cx="6442858" cy="923330"/>
          </a:xfrm>
          <a:prstGeom prst="rect">
            <a:avLst/>
          </a:prstGeom>
          <a:noFill/>
        </p:spPr>
        <p:txBody>
          <a:bodyPr wrap="square" rtlCol="0">
            <a:spAutoFit/>
          </a:bodyPr>
          <a:lstStyle/>
          <a:p>
            <a:pPr marL="342900" indent="-342900">
              <a:buFont typeface="Arial" panose="020B0604020202020204" pitchFamily="34" charset="0"/>
              <a:buChar char="•"/>
            </a:pPr>
            <a:r>
              <a:rPr lang="en-US" dirty="0"/>
              <a:t>NPV is positive which shows money can be lent to friend.</a:t>
            </a:r>
          </a:p>
          <a:p>
            <a:pPr marL="342900" indent="-342900">
              <a:buFont typeface="Arial" panose="020B0604020202020204" pitchFamily="34" charset="0"/>
              <a:buChar char="•"/>
            </a:pPr>
            <a:r>
              <a:rPr lang="en-US" dirty="0"/>
              <a:t>Higher the NPV &gt;&gt; higher is the benefit</a:t>
            </a:r>
          </a:p>
          <a:p>
            <a:pPr marL="342900" indent="-342900">
              <a:buFont typeface="Arial" panose="020B0604020202020204" pitchFamily="34" charset="0"/>
              <a:buChar char="•"/>
            </a:pPr>
            <a:r>
              <a:rPr lang="en-US" dirty="0"/>
              <a:t>If NPV is negative that shows project is not beneficial</a:t>
            </a:r>
          </a:p>
        </p:txBody>
      </p:sp>
      <p:sp>
        <p:nvSpPr>
          <p:cNvPr id="5" name="TextBox 4">
            <a:extLst>
              <a:ext uri="{FF2B5EF4-FFF2-40B4-BE49-F238E27FC236}">
                <a16:creationId xmlns:a16="http://schemas.microsoft.com/office/drawing/2014/main" id="{94BD9223-C123-3248-8E90-1B4DB69A2230}"/>
              </a:ext>
            </a:extLst>
          </p:cNvPr>
          <p:cNvSpPr txBox="1"/>
          <p:nvPr/>
        </p:nvSpPr>
        <p:spPr>
          <a:xfrm>
            <a:off x="3966358" y="3748764"/>
            <a:ext cx="1466602" cy="430887"/>
          </a:xfrm>
          <a:prstGeom prst="rect">
            <a:avLst/>
          </a:prstGeom>
          <a:noFill/>
        </p:spPr>
        <p:txBody>
          <a:bodyPr wrap="square" rtlCol="0">
            <a:spAutoFit/>
          </a:bodyPr>
          <a:lstStyle/>
          <a:p>
            <a:r>
              <a:rPr lang="en-US" sz="1100" dirty="0"/>
              <a:t>Converting 5000 from year 1 to year 0 value</a:t>
            </a:r>
          </a:p>
        </p:txBody>
      </p:sp>
      <p:sp>
        <p:nvSpPr>
          <p:cNvPr id="22" name="TextBox 21">
            <a:extLst>
              <a:ext uri="{FF2B5EF4-FFF2-40B4-BE49-F238E27FC236}">
                <a16:creationId xmlns:a16="http://schemas.microsoft.com/office/drawing/2014/main" id="{2C2EE42C-1F0A-8B46-AFA1-77B3CF47CE5A}"/>
              </a:ext>
            </a:extLst>
          </p:cNvPr>
          <p:cNvSpPr txBox="1"/>
          <p:nvPr/>
        </p:nvSpPr>
        <p:spPr>
          <a:xfrm>
            <a:off x="6112824" y="3748763"/>
            <a:ext cx="1466602" cy="430887"/>
          </a:xfrm>
          <a:prstGeom prst="rect">
            <a:avLst/>
          </a:prstGeom>
          <a:noFill/>
        </p:spPr>
        <p:txBody>
          <a:bodyPr wrap="square" rtlCol="0">
            <a:spAutoFit/>
          </a:bodyPr>
          <a:lstStyle/>
          <a:p>
            <a:r>
              <a:rPr lang="en-US" sz="1100" dirty="0"/>
              <a:t>Converting 5000 from year 2 to year 0 value</a:t>
            </a:r>
          </a:p>
        </p:txBody>
      </p:sp>
      <p:sp>
        <p:nvSpPr>
          <p:cNvPr id="23" name="TextBox 22">
            <a:extLst>
              <a:ext uri="{FF2B5EF4-FFF2-40B4-BE49-F238E27FC236}">
                <a16:creationId xmlns:a16="http://schemas.microsoft.com/office/drawing/2014/main" id="{7D59F80E-A2EF-934A-9E0A-A208E8AE45AA}"/>
              </a:ext>
            </a:extLst>
          </p:cNvPr>
          <p:cNvSpPr txBox="1"/>
          <p:nvPr/>
        </p:nvSpPr>
        <p:spPr>
          <a:xfrm>
            <a:off x="8113321" y="3741365"/>
            <a:ext cx="1466602" cy="430887"/>
          </a:xfrm>
          <a:prstGeom prst="rect">
            <a:avLst/>
          </a:prstGeom>
          <a:noFill/>
        </p:spPr>
        <p:txBody>
          <a:bodyPr wrap="square" rtlCol="0">
            <a:spAutoFit/>
          </a:bodyPr>
          <a:lstStyle/>
          <a:p>
            <a:r>
              <a:rPr lang="en-US" sz="1100" dirty="0"/>
              <a:t>Converting 5000 from year 3 to year 0 value</a:t>
            </a:r>
          </a:p>
        </p:txBody>
      </p:sp>
      <p:sp>
        <p:nvSpPr>
          <p:cNvPr id="9" name="Rounded Rectangle 8">
            <a:extLst>
              <a:ext uri="{FF2B5EF4-FFF2-40B4-BE49-F238E27FC236}">
                <a16:creationId xmlns:a16="http://schemas.microsoft.com/office/drawing/2014/main" id="{AD3B6B59-92D1-4A4D-9B86-C66255641F95}"/>
              </a:ext>
            </a:extLst>
          </p:cNvPr>
          <p:cNvSpPr/>
          <p:nvPr/>
        </p:nvSpPr>
        <p:spPr>
          <a:xfrm>
            <a:off x="9428513" y="5760896"/>
            <a:ext cx="2553195" cy="7566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dirty="0"/>
              <a:t>Note: r = 6% as it mentions if not giving to friend the money could have earned this much interest</a:t>
            </a:r>
          </a:p>
        </p:txBody>
      </p:sp>
      <p:pic>
        <p:nvPicPr>
          <p:cNvPr id="24" name="Picture 23">
            <a:extLst>
              <a:ext uri="{FF2B5EF4-FFF2-40B4-BE49-F238E27FC236}">
                <a16:creationId xmlns:a16="http://schemas.microsoft.com/office/drawing/2014/main" id="{498921D6-7413-1745-97BD-E9988F07506F}"/>
              </a:ext>
            </a:extLst>
          </p:cNvPr>
          <p:cNvPicPr>
            <a:picLocks noChangeAspect="1"/>
          </p:cNvPicPr>
          <p:nvPr/>
        </p:nvPicPr>
        <p:blipFill>
          <a:blip r:embed="rId2"/>
          <a:stretch>
            <a:fillRect/>
          </a:stretch>
        </p:blipFill>
        <p:spPr>
          <a:xfrm>
            <a:off x="9642764" y="95378"/>
            <a:ext cx="2408711" cy="547186"/>
          </a:xfrm>
          <a:prstGeom prst="rect">
            <a:avLst/>
          </a:prstGeom>
        </p:spPr>
      </p:pic>
      <p:sp>
        <p:nvSpPr>
          <p:cNvPr id="25" name="Footer Placeholder 4">
            <a:extLst>
              <a:ext uri="{FF2B5EF4-FFF2-40B4-BE49-F238E27FC236}">
                <a16:creationId xmlns:a16="http://schemas.microsoft.com/office/drawing/2014/main" id="{12090DFA-4341-D341-82CC-BC629C6E1E3A}"/>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231837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F9B8-AB17-894A-A2B3-4FCA1C99127A}"/>
              </a:ext>
            </a:extLst>
          </p:cNvPr>
          <p:cNvSpPr>
            <a:spLocks noGrp="1"/>
          </p:cNvSpPr>
          <p:nvPr>
            <p:ph type="title"/>
          </p:nvPr>
        </p:nvSpPr>
        <p:spPr/>
        <p:txBody>
          <a:bodyPr/>
          <a:lstStyle/>
          <a:p>
            <a:r>
              <a:rPr lang="en-US" dirty="0">
                <a:solidFill>
                  <a:schemeClr val="accent1"/>
                </a:solidFill>
              </a:rPr>
              <a:t>Net Present Value</a:t>
            </a:r>
          </a:p>
        </p:txBody>
      </p:sp>
      <p:sp>
        <p:nvSpPr>
          <p:cNvPr id="3" name="Content Placeholder 2">
            <a:extLst>
              <a:ext uri="{FF2B5EF4-FFF2-40B4-BE49-F238E27FC236}">
                <a16:creationId xmlns:a16="http://schemas.microsoft.com/office/drawing/2014/main" id="{74C89D8F-7738-9A45-AC9C-B6AA11FC9FE9}"/>
              </a:ext>
            </a:extLst>
          </p:cNvPr>
          <p:cNvSpPr>
            <a:spLocks noGrp="1"/>
          </p:cNvSpPr>
          <p:nvPr>
            <p:ph idx="1"/>
          </p:nvPr>
        </p:nvSpPr>
        <p:spPr>
          <a:xfrm>
            <a:off x="838200" y="1825625"/>
            <a:ext cx="10515600" cy="739445"/>
          </a:xfrm>
        </p:spPr>
        <p:txBody>
          <a:bodyPr/>
          <a:lstStyle/>
          <a:p>
            <a:pPr marL="0" indent="0">
              <a:buNone/>
            </a:pPr>
            <a:r>
              <a:rPr lang="en-IN" sz="2000" dirty="0"/>
              <a:t>The net present value of a project is the sum of the present value of all the cash flows associated with it. The cash flows are discounted at an appropriate discount rate (cost of capital)</a:t>
            </a:r>
          </a:p>
          <a:p>
            <a:pPr marL="0" indent="0">
              <a:buNone/>
            </a:pPr>
            <a:endParaRPr lang="en-US" dirty="0"/>
          </a:p>
        </p:txBody>
      </p:sp>
      <p:graphicFrame>
        <p:nvGraphicFramePr>
          <p:cNvPr id="4" name="Table 3">
            <a:extLst>
              <a:ext uri="{FF2B5EF4-FFF2-40B4-BE49-F238E27FC236}">
                <a16:creationId xmlns:a16="http://schemas.microsoft.com/office/drawing/2014/main" id="{2A6C2307-B21F-DB40-AF9F-6DDDCAFCC568}"/>
              </a:ext>
            </a:extLst>
          </p:cNvPr>
          <p:cNvGraphicFramePr>
            <a:graphicFrameLocks noGrp="1"/>
          </p:cNvGraphicFramePr>
          <p:nvPr>
            <p:extLst>
              <p:ext uri="{D42A27DB-BD31-4B8C-83A1-F6EECF244321}">
                <p14:modId xmlns:p14="http://schemas.microsoft.com/office/powerpoint/2010/main" val="2967593310"/>
              </p:ext>
            </p:extLst>
          </p:nvPr>
        </p:nvGraphicFramePr>
        <p:xfrm>
          <a:off x="3970316" y="2830636"/>
          <a:ext cx="4251367" cy="3138057"/>
        </p:xfrm>
        <a:graphic>
          <a:graphicData uri="http://schemas.openxmlformats.org/drawingml/2006/table">
            <a:tbl>
              <a:tblPr>
                <a:tableStyleId>{74C1A8A3-306A-4EB7-A6B1-4F7E0EB9C5D6}</a:tableStyleId>
              </a:tblPr>
              <a:tblGrid>
                <a:gridCol w="1349887">
                  <a:extLst>
                    <a:ext uri="{9D8B030D-6E8A-4147-A177-3AD203B41FA5}">
                      <a16:colId xmlns:a16="http://schemas.microsoft.com/office/drawing/2014/main" val="2630703639"/>
                    </a:ext>
                  </a:extLst>
                </a:gridCol>
                <a:gridCol w="1349887">
                  <a:extLst>
                    <a:ext uri="{9D8B030D-6E8A-4147-A177-3AD203B41FA5}">
                      <a16:colId xmlns:a16="http://schemas.microsoft.com/office/drawing/2014/main" val="1994350622"/>
                    </a:ext>
                  </a:extLst>
                </a:gridCol>
                <a:gridCol w="1551593">
                  <a:extLst>
                    <a:ext uri="{9D8B030D-6E8A-4147-A177-3AD203B41FA5}">
                      <a16:colId xmlns:a16="http://schemas.microsoft.com/office/drawing/2014/main" val="3251890071"/>
                    </a:ext>
                  </a:extLst>
                </a:gridCol>
              </a:tblGrid>
              <a:tr h="348673">
                <a:tc gridSpan="3">
                  <a:txBody>
                    <a:bodyPr/>
                    <a:lstStyle/>
                    <a:p>
                      <a:pPr algn="ctr" fontAlgn="b"/>
                      <a:r>
                        <a:rPr lang="en-IN" sz="1400" b="1" u="none" strike="noStrike" dirty="0">
                          <a:effectLst/>
                        </a:rPr>
                        <a:t>Capital Project, discount rate 15%</a:t>
                      </a:r>
                      <a:endParaRPr lang="en-IN"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11166736"/>
                  </a:ext>
                </a:extLst>
              </a:tr>
              <a:tr h="348673">
                <a:tc>
                  <a:txBody>
                    <a:bodyPr/>
                    <a:lstStyle/>
                    <a:p>
                      <a:pPr algn="ctr" fontAlgn="b"/>
                      <a:r>
                        <a:rPr lang="en-IN" sz="1400" b="1" u="none" strike="noStrike" dirty="0">
                          <a:effectLst/>
                        </a:rPr>
                        <a:t>Year</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Cash Flow</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Present Value</a:t>
                      </a:r>
                      <a:endParaRPr lang="en-IN"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61581375"/>
                  </a:ext>
                </a:extLst>
              </a:tr>
              <a:tr h="348673">
                <a:tc>
                  <a:txBody>
                    <a:bodyPr/>
                    <a:lstStyle/>
                    <a:p>
                      <a:pPr algn="ctr" fontAlgn="b"/>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a:effectLst/>
                        </a:rPr>
                        <a:t>-100</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70216448"/>
                  </a:ext>
                </a:extLst>
              </a:tr>
              <a:tr h="348673">
                <a:tc>
                  <a:txBody>
                    <a:bodyPr/>
                    <a:lstStyle/>
                    <a:p>
                      <a:pPr algn="ctr" fontAlgn="b"/>
                      <a:r>
                        <a:rPr lang="en-IN" sz="1400" u="none" strike="noStrike">
                          <a:effectLst/>
                        </a:rPr>
                        <a:t>1</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dirty="0">
                          <a:effectLst/>
                        </a:rPr>
                        <a:t>34</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dirty="0">
                          <a:effectLst/>
                        </a:rPr>
                        <a:t>30</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74970807"/>
                  </a:ext>
                </a:extLst>
              </a:tr>
              <a:tr h="348673">
                <a:tc>
                  <a:txBody>
                    <a:bodyPr/>
                    <a:lstStyle/>
                    <a:p>
                      <a:pPr algn="ct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a:effectLst/>
                        </a:rPr>
                        <a:t>32.5</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dirty="0">
                          <a:effectLst/>
                        </a:rPr>
                        <a:t>25</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68126374"/>
                  </a:ext>
                </a:extLst>
              </a:tr>
              <a:tr h="348673">
                <a:tc>
                  <a:txBody>
                    <a:bodyPr/>
                    <a:lstStyle/>
                    <a:p>
                      <a:pPr algn="ctr" fontAlgn="b"/>
                      <a:r>
                        <a:rPr lang="en-IN" sz="1400" u="none" strike="noStrike">
                          <a:effectLst/>
                        </a:rPr>
                        <a:t>3</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a:effectLst/>
                        </a:rPr>
                        <a:t>31.37</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dirty="0">
                          <a:effectLst/>
                        </a:rPr>
                        <a:t>21</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63721374"/>
                  </a:ext>
                </a:extLst>
              </a:tr>
              <a:tr h="348673">
                <a:tc>
                  <a:txBody>
                    <a:bodyPr/>
                    <a:lstStyle/>
                    <a:p>
                      <a:pPr algn="ctr" fontAlgn="b"/>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a:effectLst/>
                        </a:rPr>
                        <a:t>30.53</a:t>
                      </a:r>
                      <a:endParaRPr lang="en-IN"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dirty="0">
                          <a:effectLst/>
                        </a:rPr>
                        <a:t>17</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4028471"/>
                  </a:ext>
                </a:extLst>
              </a:tr>
              <a:tr h="348673">
                <a:tc>
                  <a:txBody>
                    <a:bodyPr/>
                    <a:lstStyle/>
                    <a:p>
                      <a:pPr algn="ctr" fontAlgn="b"/>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400" u="none" strike="noStrike" dirty="0">
                          <a:effectLst/>
                        </a:rPr>
                        <a:t>79.9</a:t>
                      </a:r>
                      <a:endParaRPr lang="en-IN"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IN" sz="1400" u="none" strike="noStrike" dirty="0">
                          <a:effectLst/>
                        </a:rPr>
                        <a:t>40</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57096734"/>
                  </a:ext>
                </a:extLst>
              </a:tr>
              <a:tr h="348673">
                <a:tc>
                  <a:txBody>
                    <a:bodyPr/>
                    <a:lstStyle/>
                    <a:p>
                      <a:pPr algn="ctr" fontAlgn="b"/>
                      <a:endParaRPr lang="en-IN" sz="14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Sum</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32</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36503515"/>
                  </a:ext>
                </a:extLst>
              </a:tr>
            </a:tbl>
          </a:graphicData>
        </a:graphic>
      </p:graphicFrame>
      <p:pic>
        <p:nvPicPr>
          <p:cNvPr id="5" name="Picture 4">
            <a:extLst>
              <a:ext uri="{FF2B5EF4-FFF2-40B4-BE49-F238E27FC236}">
                <a16:creationId xmlns:a16="http://schemas.microsoft.com/office/drawing/2014/main" id="{B7A6393C-5812-2643-B1A1-4F591273D3FF}"/>
              </a:ext>
            </a:extLst>
          </p:cNvPr>
          <p:cNvPicPr>
            <a:picLocks noChangeAspect="1"/>
          </p:cNvPicPr>
          <p:nvPr/>
        </p:nvPicPr>
        <p:blipFill>
          <a:blip r:embed="rId2"/>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D65E1295-C629-EE46-9B92-46178297B15E}"/>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4056133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6D7C-E106-174C-960F-9FC6C17C2DDA}"/>
              </a:ext>
            </a:extLst>
          </p:cNvPr>
          <p:cNvSpPr>
            <a:spLocks noGrp="1"/>
          </p:cNvSpPr>
          <p:nvPr>
            <p:ph type="title"/>
          </p:nvPr>
        </p:nvSpPr>
        <p:spPr/>
        <p:txBody>
          <a:bodyPr/>
          <a:lstStyle/>
          <a:p>
            <a:r>
              <a:rPr lang="en-US" dirty="0">
                <a:solidFill>
                  <a:schemeClr val="accent1"/>
                </a:solidFill>
              </a:rPr>
              <a:t>Net Present Value…</a:t>
            </a:r>
          </a:p>
        </p:txBody>
      </p:sp>
      <p:graphicFrame>
        <p:nvGraphicFramePr>
          <p:cNvPr id="4" name="Table 4">
            <a:extLst>
              <a:ext uri="{FF2B5EF4-FFF2-40B4-BE49-F238E27FC236}">
                <a16:creationId xmlns:a16="http://schemas.microsoft.com/office/drawing/2014/main" id="{08646555-691A-E548-B586-FDF27903DB76}"/>
              </a:ext>
            </a:extLst>
          </p:cNvPr>
          <p:cNvGraphicFramePr>
            <a:graphicFrameLocks noGrp="1"/>
          </p:cNvGraphicFramePr>
          <p:nvPr>
            <p:ph idx="1"/>
            <p:extLst>
              <p:ext uri="{D42A27DB-BD31-4B8C-83A1-F6EECF244321}">
                <p14:modId xmlns:p14="http://schemas.microsoft.com/office/powerpoint/2010/main" val="684586974"/>
              </p:ext>
            </p:extLst>
          </p:nvPr>
        </p:nvGraphicFramePr>
        <p:xfrm>
          <a:off x="2280060" y="1690689"/>
          <a:ext cx="8087098" cy="2197673"/>
        </p:xfrm>
        <a:graphic>
          <a:graphicData uri="http://schemas.openxmlformats.org/drawingml/2006/table">
            <a:tbl>
              <a:tblPr firstRow="1" bandRow="1">
                <a:tableStyleId>{74C1A8A3-306A-4EB7-A6B1-4F7E0EB9C5D6}</a:tableStyleId>
              </a:tblPr>
              <a:tblGrid>
                <a:gridCol w="3954485">
                  <a:extLst>
                    <a:ext uri="{9D8B030D-6E8A-4147-A177-3AD203B41FA5}">
                      <a16:colId xmlns:a16="http://schemas.microsoft.com/office/drawing/2014/main" val="1295918121"/>
                    </a:ext>
                  </a:extLst>
                </a:gridCol>
                <a:gridCol w="4132613">
                  <a:extLst>
                    <a:ext uri="{9D8B030D-6E8A-4147-A177-3AD203B41FA5}">
                      <a16:colId xmlns:a16="http://schemas.microsoft.com/office/drawing/2014/main" val="2012186624"/>
                    </a:ext>
                  </a:extLst>
                </a:gridCol>
              </a:tblGrid>
              <a:tr h="418031">
                <a:tc>
                  <a:txBody>
                    <a:bodyPr/>
                    <a:lstStyle/>
                    <a:p>
                      <a:pPr algn="ctr"/>
                      <a:r>
                        <a:rPr lang="en-US" dirty="0"/>
                        <a:t>Pro</a:t>
                      </a:r>
                    </a:p>
                  </a:txBody>
                  <a:tcPr/>
                </a:tc>
                <a:tc>
                  <a:txBody>
                    <a:bodyPr/>
                    <a:lstStyle/>
                    <a:p>
                      <a:pPr algn="ctr"/>
                      <a:r>
                        <a:rPr lang="en-US" dirty="0"/>
                        <a:t>Cons</a:t>
                      </a:r>
                    </a:p>
                  </a:txBody>
                  <a:tcPr/>
                </a:tc>
                <a:extLst>
                  <a:ext uri="{0D108BD9-81ED-4DB2-BD59-A6C34878D82A}">
                    <a16:rowId xmlns:a16="http://schemas.microsoft.com/office/drawing/2014/main" val="187769691"/>
                  </a:ext>
                </a:extLst>
              </a:tr>
              <a:tr h="721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rPr>
                        <a:t>Reflects the time value of money </a:t>
                      </a:r>
                      <a:endParaRPr lang="en-IN" sz="1800" kern="1200" dirty="0">
                        <a:solidFill>
                          <a:schemeClr val="dk1"/>
                        </a:solidFill>
                        <a:effectLst/>
                        <a:latin typeface="+mn-lt"/>
                        <a:ea typeface="+mn-ea"/>
                        <a:cs typeface="+mn-cs"/>
                      </a:endParaRPr>
                    </a:p>
                  </a:txBody>
                  <a:tcPr/>
                </a:tc>
                <a:tc>
                  <a:txBody>
                    <a:bodyPr/>
                    <a:lstStyle/>
                    <a:p>
                      <a:r>
                        <a:rPr lang="en-IN" sz="1800" kern="1200" dirty="0">
                          <a:solidFill>
                            <a:schemeClr val="dk1"/>
                          </a:solidFill>
                          <a:effectLst/>
                        </a:rPr>
                        <a:t>Is an absolute measure and not a relative </a:t>
                      </a:r>
                      <a:r>
                        <a:rPr lang="en-IN" sz="1800" b="0" kern="1200" dirty="0">
                          <a:solidFill>
                            <a:schemeClr val="dk1"/>
                          </a:solidFill>
                          <a:effectLst/>
                        </a:rPr>
                        <a:t>measure</a:t>
                      </a:r>
                      <a:r>
                        <a:rPr lang="en-IN" sz="1800" b="1" kern="1200" dirty="0">
                          <a:solidFill>
                            <a:schemeClr val="dk1"/>
                          </a:solidFill>
                          <a:effectLst/>
                        </a:rPr>
                        <a:t> </a:t>
                      </a:r>
                      <a:endParaRPr lang="en-IN" sz="1800" kern="1200" dirty="0">
                        <a:solidFill>
                          <a:schemeClr val="dk1"/>
                        </a:solidFill>
                        <a:effectLst/>
                        <a:latin typeface="+mn-lt"/>
                        <a:ea typeface="+mn-ea"/>
                        <a:cs typeface="+mn-cs"/>
                      </a:endParaRPr>
                    </a:p>
                  </a:txBody>
                  <a:tcPr/>
                </a:tc>
                <a:extLst>
                  <a:ext uri="{0D108BD9-81ED-4DB2-BD59-A6C34878D82A}">
                    <a16:rowId xmlns:a16="http://schemas.microsoft.com/office/drawing/2014/main" val="2115698056"/>
                  </a:ext>
                </a:extLst>
              </a:tr>
              <a:tr h="41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rPr>
                        <a:t>Considers the cash flow in its entirely </a:t>
                      </a:r>
                      <a:endParaRPr lang="en-IN" sz="1800" kern="1200" dirty="0">
                        <a:solidFill>
                          <a:schemeClr val="dk1"/>
                        </a:solidFill>
                        <a:effectLst/>
                        <a:latin typeface="+mn-lt"/>
                        <a:ea typeface="+mn-ea"/>
                        <a:cs typeface="+mn-cs"/>
                      </a:endParaRPr>
                    </a:p>
                  </a:txBody>
                  <a:tcPr/>
                </a:tc>
                <a:tc>
                  <a:txBody>
                    <a:bodyPr/>
                    <a:lstStyle/>
                    <a:p>
                      <a:endParaRPr lang="en-US"/>
                    </a:p>
                  </a:txBody>
                  <a:tcPr/>
                </a:tc>
                <a:extLst>
                  <a:ext uri="{0D108BD9-81ED-4DB2-BD59-A6C34878D82A}">
                    <a16:rowId xmlns:a16="http://schemas.microsoft.com/office/drawing/2014/main" val="1233023044"/>
                  </a:ext>
                </a:extLst>
              </a:tr>
              <a:tr h="5874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rPr>
                        <a:t>Goes with the objective of wealth maximisation </a:t>
                      </a:r>
                      <a:endParaRPr lang="en-IN" sz="1800" kern="1200" dirty="0">
                        <a:solidFill>
                          <a:schemeClr val="dk1"/>
                        </a:solidFill>
                        <a:effectLst/>
                        <a:latin typeface="+mn-lt"/>
                        <a:ea typeface="+mn-ea"/>
                        <a:cs typeface="+mn-cs"/>
                      </a:endParaRPr>
                    </a:p>
                  </a:txBody>
                  <a:tcPr/>
                </a:tc>
                <a:tc>
                  <a:txBody>
                    <a:bodyPr/>
                    <a:lstStyle/>
                    <a:p>
                      <a:endParaRPr lang="en-US" dirty="0"/>
                    </a:p>
                  </a:txBody>
                  <a:tcPr/>
                </a:tc>
                <a:extLst>
                  <a:ext uri="{0D108BD9-81ED-4DB2-BD59-A6C34878D82A}">
                    <a16:rowId xmlns:a16="http://schemas.microsoft.com/office/drawing/2014/main" val="3136846205"/>
                  </a:ext>
                </a:extLst>
              </a:tr>
            </a:tbl>
          </a:graphicData>
        </a:graphic>
      </p:graphicFrame>
      <p:sp>
        <p:nvSpPr>
          <p:cNvPr id="5" name="TextBox 4">
            <a:extLst>
              <a:ext uri="{FF2B5EF4-FFF2-40B4-BE49-F238E27FC236}">
                <a16:creationId xmlns:a16="http://schemas.microsoft.com/office/drawing/2014/main" id="{B2201176-8838-B54C-B617-278B59D93D14}"/>
              </a:ext>
            </a:extLst>
          </p:cNvPr>
          <p:cNvSpPr txBox="1"/>
          <p:nvPr/>
        </p:nvSpPr>
        <p:spPr>
          <a:xfrm>
            <a:off x="1413162" y="4026456"/>
            <a:ext cx="9820894" cy="2831544"/>
          </a:xfrm>
          <a:prstGeom prst="rect">
            <a:avLst/>
          </a:prstGeom>
          <a:noFill/>
        </p:spPr>
        <p:txBody>
          <a:bodyPr wrap="square" rtlCol="0">
            <a:spAutoFit/>
          </a:bodyPr>
          <a:lstStyle/>
          <a:p>
            <a:pPr>
              <a:lnSpc>
                <a:spcPct val="200000"/>
              </a:lnSpc>
            </a:pPr>
            <a:r>
              <a:rPr lang="en-IN" sz="2000" dirty="0">
                <a:solidFill>
                  <a:schemeClr val="accent6">
                    <a:lumMod val="50000"/>
                  </a:schemeClr>
                </a:solidFill>
              </a:rPr>
              <a:t>Properties of NPV</a:t>
            </a:r>
          </a:p>
          <a:p>
            <a:pPr>
              <a:lnSpc>
                <a:spcPct val="200000"/>
              </a:lnSpc>
            </a:pPr>
            <a:r>
              <a:rPr lang="en-IN" sz="2000" dirty="0"/>
              <a:t>• NPVs ARE ADDITIVE.</a:t>
            </a:r>
          </a:p>
          <a:p>
            <a:pPr>
              <a:lnSpc>
                <a:spcPct val="200000"/>
              </a:lnSpc>
            </a:pPr>
            <a:r>
              <a:rPr lang="en-IN" sz="2000" dirty="0"/>
              <a:t>• INTERMEDIATE CASH FLOWS ARE INVESTED AT COST OF CAPITAL.</a:t>
            </a:r>
          </a:p>
          <a:p>
            <a:pPr>
              <a:lnSpc>
                <a:spcPct val="200000"/>
              </a:lnSpc>
            </a:pPr>
            <a:r>
              <a:rPr lang="en-IN" sz="2000" dirty="0"/>
              <a:t>• NPV CALCULATION PERMITS TIME-VARYING DISCOUNT RATES.</a:t>
            </a:r>
          </a:p>
          <a:p>
            <a:endParaRPr lang="en-US" dirty="0"/>
          </a:p>
        </p:txBody>
      </p:sp>
      <p:pic>
        <p:nvPicPr>
          <p:cNvPr id="6" name="Picture 5">
            <a:extLst>
              <a:ext uri="{FF2B5EF4-FFF2-40B4-BE49-F238E27FC236}">
                <a16:creationId xmlns:a16="http://schemas.microsoft.com/office/drawing/2014/main" id="{F197BD72-3797-B145-BC20-8F28B4476EAA}"/>
              </a:ext>
            </a:extLst>
          </p:cNvPr>
          <p:cNvPicPr>
            <a:picLocks noChangeAspect="1"/>
          </p:cNvPicPr>
          <p:nvPr/>
        </p:nvPicPr>
        <p:blipFill>
          <a:blip r:embed="rId2"/>
          <a:stretch>
            <a:fillRect/>
          </a:stretch>
        </p:blipFill>
        <p:spPr>
          <a:xfrm>
            <a:off x="9642764" y="95378"/>
            <a:ext cx="2408711" cy="547186"/>
          </a:xfrm>
          <a:prstGeom prst="rect">
            <a:avLst/>
          </a:prstGeom>
        </p:spPr>
      </p:pic>
      <p:sp>
        <p:nvSpPr>
          <p:cNvPr id="7" name="Footer Placeholder 4">
            <a:extLst>
              <a:ext uri="{FF2B5EF4-FFF2-40B4-BE49-F238E27FC236}">
                <a16:creationId xmlns:a16="http://schemas.microsoft.com/office/drawing/2014/main" id="{7CF4D827-48C0-8445-8B1A-9C60016F5187}"/>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11007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F1F11-334F-FB4F-9F5B-EC511F42FA0F}"/>
              </a:ext>
            </a:extLst>
          </p:cNvPr>
          <p:cNvSpPr>
            <a:spLocks noGrp="1"/>
          </p:cNvSpPr>
          <p:nvPr>
            <p:ph type="title"/>
          </p:nvPr>
        </p:nvSpPr>
        <p:spPr/>
        <p:txBody>
          <a:bodyPr/>
          <a:lstStyle/>
          <a:p>
            <a:r>
              <a:rPr lang="en-US" dirty="0">
                <a:solidFill>
                  <a:schemeClr val="accent1"/>
                </a:solidFill>
              </a:rPr>
              <a:t>Benefits Cost Ratio</a:t>
            </a:r>
          </a:p>
        </p:txBody>
      </p:sp>
      <p:sp>
        <p:nvSpPr>
          <p:cNvPr id="4" name="TextBox 3">
            <a:extLst>
              <a:ext uri="{FF2B5EF4-FFF2-40B4-BE49-F238E27FC236}">
                <a16:creationId xmlns:a16="http://schemas.microsoft.com/office/drawing/2014/main" id="{E0127FC6-7B43-F644-B49B-2AB0BB807CE0}"/>
              </a:ext>
            </a:extLst>
          </p:cNvPr>
          <p:cNvSpPr txBox="1"/>
          <p:nvPr/>
        </p:nvSpPr>
        <p:spPr>
          <a:xfrm>
            <a:off x="3645711" y="1759921"/>
            <a:ext cx="2280063" cy="369332"/>
          </a:xfrm>
          <a:prstGeom prst="rect">
            <a:avLst/>
          </a:prstGeom>
          <a:noFill/>
        </p:spPr>
        <p:txBody>
          <a:bodyPr wrap="square" rtlCol="0">
            <a:spAutoFit/>
          </a:bodyPr>
          <a:lstStyle/>
          <a:p>
            <a:r>
              <a:rPr lang="en-US" dirty="0"/>
              <a:t>Benefits Cost Ratio = </a:t>
            </a:r>
          </a:p>
        </p:txBody>
      </p:sp>
      <p:cxnSp>
        <p:nvCxnSpPr>
          <p:cNvPr id="5" name="Straight Connector 4">
            <a:extLst>
              <a:ext uri="{FF2B5EF4-FFF2-40B4-BE49-F238E27FC236}">
                <a16:creationId xmlns:a16="http://schemas.microsoft.com/office/drawing/2014/main" id="{20A9D556-A7D1-6C4E-A653-901EA4EEC554}"/>
              </a:ext>
            </a:extLst>
          </p:cNvPr>
          <p:cNvCxnSpPr>
            <a:cxnSpLocks/>
          </p:cNvCxnSpPr>
          <p:nvPr/>
        </p:nvCxnSpPr>
        <p:spPr>
          <a:xfrm>
            <a:off x="5925774" y="1944587"/>
            <a:ext cx="2612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182E578-D0F7-4842-A864-C0C899270A99}"/>
              </a:ext>
            </a:extLst>
          </p:cNvPr>
          <p:cNvSpPr txBox="1"/>
          <p:nvPr/>
        </p:nvSpPr>
        <p:spPr>
          <a:xfrm>
            <a:off x="6076195" y="2000399"/>
            <a:ext cx="2280063" cy="369332"/>
          </a:xfrm>
          <a:prstGeom prst="rect">
            <a:avLst/>
          </a:prstGeom>
          <a:noFill/>
        </p:spPr>
        <p:txBody>
          <a:bodyPr wrap="square" rtlCol="0">
            <a:spAutoFit/>
          </a:bodyPr>
          <a:lstStyle/>
          <a:p>
            <a:pPr algn="ctr"/>
            <a:r>
              <a:rPr lang="en-US" dirty="0"/>
              <a:t>Initial Investments</a:t>
            </a:r>
          </a:p>
        </p:txBody>
      </p:sp>
      <p:sp>
        <p:nvSpPr>
          <p:cNvPr id="7" name="TextBox 6">
            <a:extLst>
              <a:ext uri="{FF2B5EF4-FFF2-40B4-BE49-F238E27FC236}">
                <a16:creationId xmlns:a16="http://schemas.microsoft.com/office/drawing/2014/main" id="{222AC8F2-E89A-C543-AC27-AED9A67CF974}"/>
              </a:ext>
            </a:extLst>
          </p:cNvPr>
          <p:cNvSpPr txBox="1"/>
          <p:nvPr/>
        </p:nvSpPr>
        <p:spPr>
          <a:xfrm>
            <a:off x="5909940" y="1561833"/>
            <a:ext cx="2612571" cy="369332"/>
          </a:xfrm>
          <a:prstGeom prst="rect">
            <a:avLst/>
          </a:prstGeom>
          <a:noFill/>
        </p:spPr>
        <p:txBody>
          <a:bodyPr wrap="square" rtlCol="0">
            <a:spAutoFit/>
          </a:bodyPr>
          <a:lstStyle/>
          <a:p>
            <a:pPr algn="ctr"/>
            <a:r>
              <a:rPr lang="en-US" dirty="0"/>
              <a:t>Present Value of Benefits</a:t>
            </a:r>
          </a:p>
        </p:txBody>
      </p:sp>
      <p:graphicFrame>
        <p:nvGraphicFramePr>
          <p:cNvPr id="8" name="Table 7">
            <a:extLst>
              <a:ext uri="{FF2B5EF4-FFF2-40B4-BE49-F238E27FC236}">
                <a16:creationId xmlns:a16="http://schemas.microsoft.com/office/drawing/2014/main" id="{E60A701E-9840-964A-A1C4-AFC5C1BB03F3}"/>
              </a:ext>
            </a:extLst>
          </p:cNvPr>
          <p:cNvGraphicFramePr>
            <a:graphicFrameLocks noGrp="1"/>
          </p:cNvGraphicFramePr>
          <p:nvPr>
            <p:extLst>
              <p:ext uri="{D42A27DB-BD31-4B8C-83A1-F6EECF244321}">
                <p14:modId xmlns:p14="http://schemas.microsoft.com/office/powerpoint/2010/main" val="2033271403"/>
              </p:ext>
            </p:extLst>
          </p:nvPr>
        </p:nvGraphicFramePr>
        <p:xfrm>
          <a:off x="4025734" y="2541321"/>
          <a:ext cx="3788228" cy="1603140"/>
        </p:xfrm>
        <a:graphic>
          <a:graphicData uri="http://schemas.openxmlformats.org/drawingml/2006/table">
            <a:tbl>
              <a:tblPr>
                <a:tableStyleId>{74C1A8A3-306A-4EB7-A6B1-4F7E0EB9C5D6}</a:tableStyleId>
              </a:tblPr>
              <a:tblGrid>
                <a:gridCol w="1576310">
                  <a:extLst>
                    <a:ext uri="{9D8B030D-6E8A-4147-A177-3AD203B41FA5}">
                      <a16:colId xmlns:a16="http://schemas.microsoft.com/office/drawing/2014/main" val="409964320"/>
                    </a:ext>
                  </a:extLst>
                </a:gridCol>
                <a:gridCol w="1105959">
                  <a:extLst>
                    <a:ext uri="{9D8B030D-6E8A-4147-A177-3AD203B41FA5}">
                      <a16:colId xmlns:a16="http://schemas.microsoft.com/office/drawing/2014/main" val="2264929385"/>
                    </a:ext>
                  </a:extLst>
                </a:gridCol>
                <a:gridCol w="1105959">
                  <a:extLst>
                    <a:ext uri="{9D8B030D-6E8A-4147-A177-3AD203B41FA5}">
                      <a16:colId xmlns:a16="http://schemas.microsoft.com/office/drawing/2014/main" val="1408108237"/>
                    </a:ext>
                  </a:extLst>
                </a:gridCol>
              </a:tblGrid>
              <a:tr h="267190">
                <a:tc gridSpan="3">
                  <a:txBody>
                    <a:bodyPr/>
                    <a:lstStyle/>
                    <a:p>
                      <a:pPr algn="ctr" fontAlgn="b"/>
                      <a:r>
                        <a:rPr lang="en-IN" sz="1200" b="1" u="none" strike="noStrike" dirty="0">
                          <a:effectLst/>
                        </a:rPr>
                        <a:t>Capital Project, discount rate 12%</a:t>
                      </a:r>
                      <a:endParaRPr lang="en-IN" sz="12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64399101"/>
                  </a:ext>
                </a:extLst>
              </a:tr>
              <a:tr h="267190">
                <a:tc>
                  <a:txBody>
                    <a:bodyPr/>
                    <a:lstStyle/>
                    <a:p>
                      <a:pPr algn="l" fontAlgn="b"/>
                      <a:r>
                        <a:rPr lang="en-IN" sz="1200" b="1" u="none" strike="noStrike" dirty="0">
                          <a:effectLst/>
                        </a:rPr>
                        <a:t>Initial Investment</a:t>
                      </a:r>
                      <a:endParaRPr lang="en-IN" sz="12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 </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100000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30405319"/>
                  </a:ext>
                </a:extLst>
              </a:tr>
              <a:tr h="267190">
                <a:tc>
                  <a:txBody>
                    <a:bodyPr/>
                    <a:lstStyle/>
                    <a:p>
                      <a:pPr algn="l" fontAlgn="b"/>
                      <a:r>
                        <a:rPr lang="en-IN" sz="1200" b="1" u="none" strike="noStrike" dirty="0">
                          <a:effectLst/>
                        </a:rPr>
                        <a:t>Benefits</a:t>
                      </a:r>
                      <a:endParaRPr lang="en-IN" sz="12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Year 1</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25000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75175"/>
                  </a:ext>
                </a:extLst>
              </a:tr>
              <a:tr h="267190">
                <a:tc>
                  <a:txBody>
                    <a:bodyPr/>
                    <a:lstStyle/>
                    <a:p>
                      <a:pPr algn="l" fontAlgn="b"/>
                      <a:r>
                        <a:rPr lang="en-IN" sz="1200" u="none" strike="noStrike">
                          <a:effectLst/>
                        </a:rPr>
                        <a:t> </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Year 2</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40000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7431319"/>
                  </a:ext>
                </a:extLst>
              </a:tr>
              <a:tr h="267190">
                <a:tc>
                  <a:txBody>
                    <a:bodyPr/>
                    <a:lstStyle/>
                    <a:p>
                      <a:pPr algn="l" fontAlgn="b"/>
                      <a:r>
                        <a:rPr lang="en-IN" sz="1200" u="none" strike="noStrike">
                          <a:effectLst/>
                        </a:rPr>
                        <a:t> </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Year 3</a:t>
                      </a:r>
                      <a:endParaRPr lang="en-IN"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40000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11401315"/>
                  </a:ext>
                </a:extLst>
              </a:tr>
              <a:tr h="267190">
                <a:tc>
                  <a:txBody>
                    <a:bodyPr/>
                    <a:lstStyle/>
                    <a:p>
                      <a:pPr algn="l" fontAlgn="b"/>
                      <a:r>
                        <a:rPr lang="en-IN" sz="1200" u="none" strike="noStrike">
                          <a:effectLst/>
                        </a:rPr>
                        <a:t> </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a:effectLst/>
                        </a:rPr>
                        <a:t>Year 4</a:t>
                      </a:r>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200" u="none" strike="noStrike" dirty="0">
                          <a:effectLst/>
                        </a:rPr>
                        <a:t>50000</a:t>
                      </a:r>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37244807"/>
                  </a:ext>
                </a:extLst>
              </a:tr>
            </a:tbl>
          </a:graphicData>
        </a:graphic>
      </p:graphicFrame>
      <p:sp>
        <p:nvSpPr>
          <p:cNvPr id="9" name="TextBox 8">
            <a:extLst>
              <a:ext uri="{FF2B5EF4-FFF2-40B4-BE49-F238E27FC236}">
                <a16:creationId xmlns:a16="http://schemas.microsoft.com/office/drawing/2014/main" id="{6D37D9D3-9F9F-0F48-A401-3137BBE06791}"/>
              </a:ext>
            </a:extLst>
          </p:cNvPr>
          <p:cNvSpPr txBox="1"/>
          <p:nvPr/>
        </p:nvSpPr>
        <p:spPr>
          <a:xfrm>
            <a:off x="1365648" y="4869277"/>
            <a:ext cx="2280063" cy="369332"/>
          </a:xfrm>
          <a:prstGeom prst="rect">
            <a:avLst/>
          </a:prstGeom>
          <a:noFill/>
        </p:spPr>
        <p:txBody>
          <a:bodyPr wrap="square" rtlCol="0">
            <a:spAutoFit/>
          </a:bodyPr>
          <a:lstStyle/>
          <a:p>
            <a:r>
              <a:rPr lang="en-US" dirty="0"/>
              <a:t>Benefits Cost Ratio = </a:t>
            </a:r>
          </a:p>
        </p:txBody>
      </p:sp>
      <p:cxnSp>
        <p:nvCxnSpPr>
          <p:cNvPr id="10" name="Straight Connector 9">
            <a:extLst>
              <a:ext uri="{FF2B5EF4-FFF2-40B4-BE49-F238E27FC236}">
                <a16:creationId xmlns:a16="http://schemas.microsoft.com/office/drawing/2014/main" id="{644E61E0-8E43-B04B-85CE-E0AA1FE6B70D}"/>
              </a:ext>
            </a:extLst>
          </p:cNvPr>
          <p:cNvCxnSpPr>
            <a:cxnSpLocks/>
          </p:cNvCxnSpPr>
          <p:nvPr/>
        </p:nvCxnSpPr>
        <p:spPr>
          <a:xfrm>
            <a:off x="3645711" y="5053943"/>
            <a:ext cx="4876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66F238-79D7-074D-B84F-8712C7027899}"/>
              </a:ext>
            </a:extLst>
          </p:cNvPr>
          <p:cNvSpPr txBox="1"/>
          <p:nvPr/>
        </p:nvSpPr>
        <p:spPr>
          <a:xfrm>
            <a:off x="3783286" y="4414536"/>
            <a:ext cx="807522" cy="369332"/>
          </a:xfrm>
          <a:prstGeom prst="rect">
            <a:avLst/>
          </a:prstGeom>
          <a:noFill/>
        </p:spPr>
        <p:txBody>
          <a:bodyPr wrap="square" rtlCol="0">
            <a:spAutoFit/>
          </a:bodyPr>
          <a:lstStyle/>
          <a:p>
            <a:pPr algn="ctr"/>
            <a:r>
              <a:rPr lang="en-US" dirty="0"/>
              <a:t>25000</a:t>
            </a:r>
          </a:p>
        </p:txBody>
      </p:sp>
      <p:cxnSp>
        <p:nvCxnSpPr>
          <p:cNvPr id="14" name="Straight Connector 13">
            <a:extLst>
              <a:ext uri="{FF2B5EF4-FFF2-40B4-BE49-F238E27FC236}">
                <a16:creationId xmlns:a16="http://schemas.microsoft.com/office/drawing/2014/main" id="{25FBA16F-2593-0E42-B30D-4C840A923019}"/>
              </a:ext>
            </a:extLst>
          </p:cNvPr>
          <p:cNvCxnSpPr/>
          <p:nvPr/>
        </p:nvCxnSpPr>
        <p:spPr>
          <a:xfrm>
            <a:off x="3788231" y="4744232"/>
            <a:ext cx="807522"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A2EE97E1-37CA-0040-BDC6-37CFBB4ED9CD}"/>
              </a:ext>
            </a:extLst>
          </p:cNvPr>
          <p:cNvSpPr txBox="1"/>
          <p:nvPr/>
        </p:nvSpPr>
        <p:spPr>
          <a:xfrm>
            <a:off x="3819900" y="4741194"/>
            <a:ext cx="807522" cy="369332"/>
          </a:xfrm>
          <a:prstGeom prst="rect">
            <a:avLst/>
          </a:prstGeom>
          <a:noFill/>
        </p:spPr>
        <p:txBody>
          <a:bodyPr wrap="square" rtlCol="0">
            <a:spAutoFit/>
          </a:bodyPr>
          <a:lstStyle/>
          <a:p>
            <a:pPr algn="ctr"/>
            <a:r>
              <a:rPr lang="en-US" dirty="0"/>
              <a:t>(1.12)</a:t>
            </a:r>
          </a:p>
        </p:txBody>
      </p:sp>
      <p:sp>
        <p:nvSpPr>
          <p:cNvPr id="16" name="TextBox 15">
            <a:extLst>
              <a:ext uri="{FF2B5EF4-FFF2-40B4-BE49-F238E27FC236}">
                <a16:creationId xmlns:a16="http://schemas.microsoft.com/office/drawing/2014/main" id="{0F7F6C02-404E-8E4D-A136-0F3398D9882E}"/>
              </a:ext>
            </a:extLst>
          </p:cNvPr>
          <p:cNvSpPr txBox="1"/>
          <p:nvPr/>
        </p:nvSpPr>
        <p:spPr>
          <a:xfrm>
            <a:off x="5009412" y="4423616"/>
            <a:ext cx="807522" cy="369332"/>
          </a:xfrm>
          <a:prstGeom prst="rect">
            <a:avLst/>
          </a:prstGeom>
          <a:noFill/>
        </p:spPr>
        <p:txBody>
          <a:bodyPr wrap="square" rtlCol="0">
            <a:spAutoFit/>
          </a:bodyPr>
          <a:lstStyle/>
          <a:p>
            <a:pPr algn="ctr"/>
            <a:r>
              <a:rPr lang="en-US" dirty="0"/>
              <a:t>40000</a:t>
            </a:r>
          </a:p>
        </p:txBody>
      </p:sp>
      <p:sp>
        <p:nvSpPr>
          <p:cNvPr id="17" name="TextBox 16">
            <a:extLst>
              <a:ext uri="{FF2B5EF4-FFF2-40B4-BE49-F238E27FC236}">
                <a16:creationId xmlns:a16="http://schemas.microsoft.com/office/drawing/2014/main" id="{5F0CA002-60DE-D447-997B-7F28EB56A452}"/>
              </a:ext>
            </a:extLst>
          </p:cNvPr>
          <p:cNvSpPr txBox="1"/>
          <p:nvPr/>
        </p:nvSpPr>
        <p:spPr>
          <a:xfrm>
            <a:off x="4944101" y="4741194"/>
            <a:ext cx="1062834" cy="369332"/>
          </a:xfrm>
          <a:prstGeom prst="rect">
            <a:avLst/>
          </a:prstGeom>
          <a:noFill/>
        </p:spPr>
        <p:txBody>
          <a:bodyPr wrap="square" rtlCol="0">
            <a:spAutoFit/>
          </a:bodyPr>
          <a:lstStyle/>
          <a:p>
            <a:pPr algn="ctr"/>
            <a:r>
              <a:rPr lang="en-US" dirty="0"/>
              <a:t>(1.12)^2</a:t>
            </a:r>
          </a:p>
        </p:txBody>
      </p:sp>
      <p:cxnSp>
        <p:nvCxnSpPr>
          <p:cNvPr id="18" name="Straight Connector 17">
            <a:extLst>
              <a:ext uri="{FF2B5EF4-FFF2-40B4-BE49-F238E27FC236}">
                <a16:creationId xmlns:a16="http://schemas.microsoft.com/office/drawing/2014/main" id="{83C83C1F-D266-7C4B-A8AE-176A58C83EBD}"/>
              </a:ext>
            </a:extLst>
          </p:cNvPr>
          <p:cNvCxnSpPr/>
          <p:nvPr/>
        </p:nvCxnSpPr>
        <p:spPr>
          <a:xfrm>
            <a:off x="4985658" y="4745192"/>
            <a:ext cx="807522"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6DE59DB0-2892-BB4F-94A6-C6C873994528}"/>
              </a:ext>
            </a:extLst>
          </p:cNvPr>
          <p:cNvCxnSpPr/>
          <p:nvPr/>
        </p:nvCxnSpPr>
        <p:spPr>
          <a:xfrm>
            <a:off x="6096000" y="4746152"/>
            <a:ext cx="807522"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00B8F965-E8FC-FC47-A034-EB1283998A9D}"/>
              </a:ext>
            </a:extLst>
          </p:cNvPr>
          <p:cNvCxnSpPr/>
          <p:nvPr/>
        </p:nvCxnSpPr>
        <p:spPr>
          <a:xfrm>
            <a:off x="7340928" y="4741194"/>
            <a:ext cx="807522" cy="0"/>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B1E3A5A0-7E65-F44A-980E-761093D73B74}"/>
              </a:ext>
            </a:extLst>
          </p:cNvPr>
          <p:cNvSpPr txBox="1"/>
          <p:nvPr/>
        </p:nvSpPr>
        <p:spPr>
          <a:xfrm>
            <a:off x="6006935" y="4741194"/>
            <a:ext cx="1062834" cy="369332"/>
          </a:xfrm>
          <a:prstGeom prst="rect">
            <a:avLst/>
          </a:prstGeom>
          <a:noFill/>
        </p:spPr>
        <p:txBody>
          <a:bodyPr wrap="square" rtlCol="0">
            <a:spAutoFit/>
          </a:bodyPr>
          <a:lstStyle/>
          <a:p>
            <a:pPr algn="ctr"/>
            <a:r>
              <a:rPr lang="en-US" dirty="0"/>
              <a:t>(1.12)^3</a:t>
            </a:r>
          </a:p>
        </p:txBody>
      </p:sp>
      <p:sp>
        <p:nvSpPr>
          <p:cNvPr id="22" name="TextBox 21">
            <a:extLst>
              <a:ext uri="{FF2B5EF4-FFF2-40B4-BE49-F238E27FC236}">
                <a16:creationId xmlns:a16="http://schemas.microsoft.com/office/drawing/2014/main" id="{2CE24CDB-3531-9749-A985-09C57038B37F}"/>
              </a:ext>
            </a:extLst>
          </p:cNvPr>
          <p:cNvSpPr txBox="1"/>
          <p:nvPr/>
        </p:nvSpPr>
        <p:spPr>
          <a:xfrm>
            <a:off x="7259770" y="4729713"/>
            <a:ext cx="1062834" cy="369332"/>
          </a:xfrm>
          <a:prstGeom prst="rect">
            <a:avLst/>
          </a:prstGeom>
          <a:noFill/>
        </p:spPr>
        <p:txBody>
          <a:bodyPr wrap="square" rtlCol="0">
            <a:spAutoFit/>
          </a:bodyPr>
          <a:lstStyle/>
          <a:p>
            <a:pPr algn="ctr"/>
            <a:r>
              <a:rPr lang="en-US" dirty="0"/>
              <a:t>(1.12)^4</a:t>
            </a:r>
          </a:p>
        </p:txBody>
      </p:sp>
      <p:sp>
        <p:nvSpPr>
          <p:cNvPr id="23" name="TextBox 22">
            <a:extLst>
              <a:ext uri="{FF2B5EF4-FFF2-40B4-BE49-F238E27FC236}">
                <a16:creationId xmlns:a16="http://schemas.microsoft.com/office/drawing/2014/main" id="{53ACBE4E-723B-DA44-993E-C66CE302110C}"/>
              </a:ext>
            </a:extLst>
          </p:cNvPr>
          <p:cNvSpPr txBox="1"/>
          <p:nvPr/>
        </p:nvSpPr>
        <p:spPr>
          <a:xfrm>
            <a:off x="6132619" y="4405456"/>
            <a:ext cx="807522" cy="369332"/>
          </a:xfrm>
          <a:prstGeom prst="rect">
            <a:avLst/>
          </a:prstGeom>
          <a:noFill/>
        </p:spPr>
        <p:txBody>
          <a:bodyPr wrap="square" rtlCol="0">
            <a:spAutoFit/>
          </a:bodyPr>
          <a:lstStyle/>
          <a:p>
            <a:pPr algn="ctr"/>
            <a:r>
              <a:rPr lang="en-US" dirty="0"/>
              <a:t>40000</a:t>
            </a:r>
          </a:p>
        </p:txBody>
      </p:sp>
      <p:sp>
        <p:nvSpPr>
          <p:cNvPr id="24" name="TextBox 23">
            <a:extLst>
              <a:ext uri="{FF2B5EF4-FFF2-40B4-BE49-F238E27FC236}">
                <a16:creationId xmlns:a16="http://schemas.microsoft.com/office/drawing/2014/main" id="{00B80954-E99A-1942-ABBF-32FE428B90F1}"/>
              </a:ext>
            </a:extLst>
          </p:cNvPr>
          <p:cNvSpPr txBox="1"/>
          <p:nvPr/>
        </p:nvSpPr>
        <p:spPr>
          <a:xfrm>
            <a:off x="7351821" y="4404367"/>
            <a:ext cx="807522" cy="369332"/>
          </a:xfrm>
          <a:prstGeom prst="rect">
            <a:avLst/>
          </a:prstGeom>
          <a:noFill/>
        </p:spPr>
        <p:txBody>
          <a:bodyPr wrap="square" rtlCol="0">
            <a:spAutoFit/>
          </a:bodyPr>
          <a:lstStyle/>
          <a:p>
            <a:pPr algn="ctr"/>
            <a:r>
              <a:rPr lang="en-US" dirty="0"/>
              <a:t>50000</a:t>
            </a:r>
          </a:p>
        </p:txBody>
      </p:sp>
      <p:sp>
        <p:nvSpPr>
          <p:cNvPr id="25" name="TextBox 24">
            <a:extLst>
              <a:ext uri="{FF2B5EF4-FFF2-40B4-BE49-F238E27FC236}">
                <a16:creationId xmlns:a16="http://schemas.microsoft.com/office/drawing/2014/main" id="{03CC61D1-FF39-1441-B80B-5A82C551CD26}"/>
              </a:ext>
            </a:extLst>
          </p:cNvPr>
          <p:cNvSpPr txBox="1"/>
          <p:nvPr/>
        </p:nvSpPr>
        <p:spPr>
          <a:xfrm>
            <a:off x="4254822" y="4529756"/>
            <a:ext cx="1163781" cy="369332"/>
          </a:xfrm>
          <a:prstGeom prst="rect">
            <a:avLst/>
          </a:prstGeom>
          <a:noFill/>
        </p:spPr>
        <p:txBody>
          <a:bodyPr wrap="square" rtlCol="0">
            <a:spAutoFit/>
          </a:bodyPr>
          <a:lstStyle/>
          <a:p>
            <a:pPr algn="ctr"/>
            <a:r>
              <a:rPr lang="en-US" dirty="0"/>
              <a:t>+</a:t>
            </a:r>
          </a:p>
        </p:txBody>
      </p:sp>
      <p:sp>
        <p:nvSpPr>
          <p:cNvPr id="26" name="TextBox 25">
            <a:extLst>
              <a:ext uri="{FF2B5EF4-FFF2-40B4-BE49-F238E27FC236}">
                <a16:creationId xmlns:a16="http://schemas.microsoft.com/office/drawing/2014/main" id="{10527C0B-99AD-3145-A615-CC65EC834DAF}"/>
              </a:ext>
            </a:extLst>
          </p:cNvPr>
          <p:cNvSpPr txBox="1"/>
          <p:nvPr/>
        </p:nvSpPr>
        <p:spPr>
          <a:xfrm>
            <a:off x="6591801" y="4522497"/>
            <a:ext cx="1163781" cy="369332"/>
          </a:xfrm>
          <a:prstGeom prst="rect">
            <a:avLst/>
          </a:prstGeom>
          <a:noFill/>
        </p:spPr>
        <p:txBody>
          <a:bodyPr wrap="square" rtlCol="0">
            <a:spAutoFit/>
          </a:bodyPr>
          <a:lstStyle/>
          <a:p>
            <a:pPr algn="ctr"/>
            <a:r>
              <a:rPr lang="en-US" dirty="0"/>
              <a:t>+</a:t>
            </a:r>
          </a:p>
        </p:txBody>
      </p:sp>
      <p:sp>
        <p:nvSpPr>
          <p:cNvPr id="27" name="TextBox 26">
            <a:extLst>
              <a:ext uri="{FF2B5EF4-FFF2-40B4-BE49-F238E27FC236}">
                <a16:creationId xmlns:a16="http://schemas.microsoft.com/office/drawing/2014/main" id="{585D8EE9-03CD-0C41-9BFD-0D1968B2159C}"/>
              </a:ext>
            </a:extLst>
          </p:cNvPr>
          <p:cNvSpPr txBox="1"/>
          <p:nvPr/>
        </p:nvSpPr>
        <p:spPr>
          <a:xfrm>
            <a:off x="5417127" y="4509594"/>
            <a:ext cx="1163781" cy="369332"/>
          </a:xfrm>
          <a:prstGeom prst="rect">
            <a:avLst/>
          </a:prstGeom>
          <a:noFill/>
        </p:spPr>
        <p:txBody>
          <a:bodyPr wrap="square" rtlCol="0">
            <a:spAutoFit/>
          </a:bodyPr>
          <a:lstStyle/>
          <a:p>
            <a:pPr algn="ctr"/>
            <a:r>
              <a:rPr lang="en-US" dirty="0"/>
              <a:t>+</a:t>
            </a:r>
          </a:p>
        </p:txBody>
      </p:sp>
      <p:sp>
        <p:nvSpPr>
          <p:cNvPr id="28" name="TextBox 27">
            <a:extLst>
              <a:ext uri="{FF2B5EF4-FFF2-40B4-BE49-F238E27FC236}">
                <a16:creationId xmlns:a16="http://schemas.microsoft.com/office/drawing/2014/main" id="{A38BF581-3D30-9B4E-A8CC-BCECD0D7FD8F}"/>
              </a:ext>
            </a:extLst>
          </p:cNvPr>
          <p:cNvSpPr txBox="1"/>
          <p:nvPr/>
        </p:nvSpPr>
        <p:spPr>
          <a:xfrm>
            <a:off x="5429995" y="5170984"/>
            <a:ext cx="1163781" cy="369332"/>
          </a:xfrm>
          <a:prstGeom prst="rect">
            <a:avLst/>
          </a:prstGeom>
          <a:noFill/>
        </p:spPr>
        <p:txBody>
          <a:bodyPr wrap="square" rtlCol="0">
            <a:spAutoFit/>
          </a:bodyPr>
          <a:lstStyle/>
          <a:p>
            <a:pPr algn="ctr"/>
            <a:r>
              <a:rPr lang="en-US" dirty="0"/>
              <a:t>100000</a:t>
            </a:r>
          </a:p>
        </p:txBody>
      </p:sp>
      <p:sp>
        <p:nvSpPr>
          <p:cNvPr id="29" name="TextBox 28">
            <a:extLst>
              <a:ext uri="{FF2B5EF4-FFF2-40B4-BE49-F238E27FC236}">
                <a16:creationId xmlns:a16="http://schemas.microsoft.com/office/drawing/2014/main" id="{03BA113D-6CB1-B64A-9788-1ABE5B7E6685}"/>
              </a:ext>
            </a:extLst>
          </p:cNvPr>
          <p:cNvSpPr txBox="1"/>
          <p:nvPr/>
        </p:nvSpPr>
        <p:spPr>
          <a:xfrm>
            <a:off x="8632370" y="4878926"/>
            <a:ext cx="1163782" cy="369332"/>
          </a:xfrm>
          <a:prstGeom prst="rect">
            <a:avLst/>
          </a:prstGeom>
          <a:noFill/>
        </p:spPr>
        <p:txBody>
          <a:bodyPr wrap="square" rtlCol="0">
            <a:spAutoFit/>
          </a:bodyPr>
          <a:lstStyle/>
          <a:p>
            <a:r>
              <a:rPr lang="en-US" dirty="0"/>
              <a:t>= 1.145</a:t>
            </a:r>
          </a:p>
        </p:txBody>
      </p:sp>
      <p:graphicFrame>
        <p:nvGraphicFramePr>
          <p:cNvPr id="30" name="Table 30">
            <a:extLst>
              <a:ext uri="{FF2B5EF4-FFF2-40B4-BE49-F238E27FC236}">
                <a16:creationId xmlns:a16="http://schemas.microsoft.com/office/drawing/2014/main" id="{952C7979-A892-B249-A539-D881FAD3788B}"/>
              </a:ext>
            </a:extLst>
          </p:cNvPr>
          <p:cNvGraphicFramePr>
            <a:graphicFrameLocks noGrp="1"/>
          </p:cNvGraphicFramePr>
          <p:nvPr>
            <p:extLst>
              <p:ext uri="{D42A27DB-BD31-4B8C-83A1-F6EECF244321}">
                <p14:modId xmlns:p14="http://schemas.microsoft.com/office/powerpoint/2010/main" val="1443258823"/>
              </p:ext>
            </p:extLst>
          </p:nvPr>
        </p:nvGraphicFramePr>
        <p:xfrm>
          <a:off x="2816759" y="5909183"/>
          <a:ext cx="6977414" cy="741680"/>
        </p:xfrm>
        <a:graphic>
          <a:graphicData uri="http://schemas.openxmlformats.org/drawingml/2006/table">
            <a:tbl>
              <a:tblPr firstRow="1" bandRow="1">
                <a:tableStyleId>{74C1A8A3-306A-4EB7-A6B1-4F7E0EB9C5D6}</a:tableStyleId>
              </a:tblPr>
              <a:tblGrid>
                <a:gridCol w="3488707">
                  <a:extLst>
                    <a:ext uri="{9D8B030D-6E8A-4147-A177-3AD203B41FA5}">
                      <a16:colId xmlns:a16="http://schemas.microsoft.com/office/drawing/2014/main" val="1224629293"/>
                    </a:ext>
                  </a:extLst>
                </a:gridCol>
                <a:gridCol w="3488707">
                  <a:extLst>
                    <a:ext uri="{9D8B030D-6E8A-4147-A177-3AD203B41FA5}">
                      <a16:colId xmlns:a16="http://schemas.microsoft.com/office/drawing/2014/main" val="2953515783"/>
                    </a:ext>
                  </a:extLst>
                </a:gridCol>
              </a:tblGrid>
              <a:tr h="370840">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113705668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rPr>
                        <a:t>Measures benefit per buck</a:t>
                      </a:r>
                      <a:endParaRPr lang="en-IN" sz="1800" b="0" kern="1200" dirty="0">
                        <a:solidFill>
                          <a:schemeClr val="dk1"/>
                        </a:solidFill>
                        <a:effectLst/>
                        <a:latin typeface="+mn-lt"/>
                        <a:ea typeface="+mn-ea"/>
                        <a:cs typeface="+mn-cs"/>
                      </a:endParaRPr>
                    </a:p>
                  </a:txBody>
                  <a:tcPr/>
                </a:tc>
                <a:tc>
                  <a:txBody>
                    <a:bodyPr/>
                    <a:lstStyle/>
                    <a:p>
                      <a:pPr algn="ctr"/>
                      <a:r>
                        <a:rPr lang="en-US" dirty="0"/>
                        <a:t>Provides no means of aggregation</a:t>
                      </a:r>
                    </a:p>
                  </a:txBody>
                  <a:tcPr/>
                </a:tc>
                <a:extLst>
                  <a:ext uri="{0D108BD9-81ED-4DB2-BD59-A6C34878D82A}">
                    <a16:rowId xmlns:a16="http://schemas.microsoft.com/office/drawing/2014/main" val="2041908366"/>
                  </a:ext>
                </a:extLst>
              </a:tr>
            </a:tbl>
          </a:graphicData>
        </a:graphic>
      </p:graphicFrame>
      <p:pic>
        <p:nvPicPr>
          <p:cNvPr id="31" name="Picture 30">
            <a:extLst>
              <a:ext uri="{FF2B5EF4-FFF2-40B4-BE49-F238E27FC236}">
                <a16:creationId xmlns:a16="http://schemas.microsoft.com/office/drawing/2014/main" id="{8507CB94-E972-DB4B-8424-261CA78EB899}"/>
              </a:ext>
            </a:extLst>
          </p:cNvPr>
          <p:cNvPicPr>
            <a:picLocks noChangeAspect="1"/>
          </p:cNvPicPr>
          <p:nvPr/>
        </p:nvPicPr>
        <p:blipFill>
          <a:blip r:embed="rId2"/>
          <a:stretch>
            <a:fillRect/>
          </a:stretch>
        </p:blipFill>
        <p:spPr>
          <a:xfrm>
            <a:off x="9642764" y="95378"/>
            <a:ext cx="2408711" cy="547186"/>
          </a:xfrm>
          <a:prstGeom prst="rect">
            <a:avLst/>
          </a:prstGeom>
        </p:spPr>
      </p:pic>
      <p:sp>
        <p:nvSpPr>
          <p:cNvPr id="32" name="Footer Placeholder 4">
            <a:extLst>
              <a:ext uri="{FF2B5EF4-FFF2-40B4-BE49-F238E27FC236}">
                <a16:creationId xmlns:a16="http://schemas.microsoft.com/office/drawing/2014/main" id="{FF377171-0909-464A-840C-6880AFEF7A99}"/>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3488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8968-6BE5-BD41-BB5D-004D8E6E01E8}"/>
              </a:ext>
            </a:extLst>
          </p:cNvPr>
          <p:cNvSpPr>
            <a:spLocks noGrp="1"/>
          </p:cNvSpPr>
          <p:nvPr>
            <p:ph type="title"/>
          </p:nvPr>
        </p:nvSpPr>
        <p:spPr/>
        <p:txBody>
          <a:bodyPr/>
          <a:lstStyle/>
          <a:p>
            <a:r>
              <a:rPr lang="en-US" dirty="0">
                <a:solidFill>
                  <a:schemeClr val="accent1"/>
                </a:solidFill>
              </a:rPr>
              <a:t>Internal Rate of Return</a:t>
            </a:r>
          </a:p>
        </p:txBody>
      </p:sp>
      <p:sp>
        <p:nvSpPr>
          <p:cNvPr id="3" name="Content Placeholder 2">
            <a:extLst>
              <a:ext uri="{FF2B5EF4-FFF2-40B4-BE49-F238E27FC236}">
                <a16:creationId xmlns:a16="http://schemas.microsoft.com/office/drawing/2014/main" id="{222259D9-7E87-0344-94A9-2E79356E0823}"/>
              </a:ext>
            </a:extLst>
          </p:cNvPr>
          <p:cNvSpPr>
            <a:spLocks noGrp="1"/>
          </p:cNvSpPr>
          <p:nvPr>
            <p:ph idx="1"/>
          </p:nvPr>
        </p:nvSpPr>
        <p:spPr>
          <a:xfrm>
            <a:off x="838200" y="1825625"/>
            <a:ext cx="10515600" cy="525689"/>
          </a:xfrm>
        </p:spPr>
        <p:txBody>
          <a:bodyPr>
            <a:normAutofit/>
          </a:bodyPr>
          <a:lstStyle/>
          <a:p>
            <a:pPr marL="0" indent="0">
              <a:buNone/>
            </a:pPr>
            <a:r>
              <a:rPr lang="en-US" sz="2000" dirty="0"/>
              <a:t>The internal rate of return of a project is the discount rate that makes it NPV equals to zero.</a:t>
            </a:r>
          </a:p>
        </p:txBody>
      </p:sp>
      <p:graphicFrame>
        <p:nvGraphicFramePr>
          <p:cNvPr id="4" name="Table 4">
            <a:extLst>
              <a:ext uri="{FF2B5EF4-FFF2-40B4-BE49-F238E27FC236}">
                <a16:creationId xmlns:a16="http://schemas.microsoft.com/office/drawing/2014/main" id="{D8CFAD46-5895-B54C-9909-87A51157863C}"/>
              </a:ext>
            </a:extLst>
          </p:cNvPr>
          <p:cNvGraphicFramePr>
            <a:graphicFrameLocks noGrp="1"/>
          </p:cNvGraphicFramePr>
          <p:nvPr>
            <p:extLst>
              <p:ext uri="{D42A27DB-BD31-4B8C-83A1-F6EECF244321}">
                <p14:modId xmlns:p14="http://schemas.microsoft.com/office/powerpoint/2010/main" val="1115098993"/>
              </p:ext>
            </p:extLst>
          </p:nvPr>
        </p:nvGraphicFramePr>
        <p:xfrm>
          <a:off x="2363190" y="2667735"/>
          <a:ext cx="7678058" cy="1522529"/>
        </p:xfrm>
        <a:graphic>
          <a:graphicData uri="http://schemas.openxmlformats.org/drawingml/2006/table">
            <a:tbl>
              <a:tblPr firstRow="1" bandRow="1">
                <a:tableStyleId>{74C1A8A3-306A-4EB7-A6B1-4F7E0EB9C5D6}</a:tableStyleId>
              </a:tblPr>
              <a:tblGrid>
                <a:gridCol w="3839029">
                  <a:extLst>
                    <a:ext uri="{9D8B030D-6E8A-4147-A177-3AD203B41FA5}">
                      <a16:colId xmlns:a16="http://schemas.microsoft.com/office/drawing/2014/main" val="4004516544"/>
                    </a:ext>
                  </a:extLst>
                </a:gridCol>
                <a:gridCol w="3839029">
                  <a:extLst>
                    <a:ext uri="{9D8B030D-6E8A-4147-A177-3AD203B41FA5}">
                      <a16:colId xmlns:a16="http://schemas.microsoft.com/office/drawing/2014/main" val="2870004756"/>
                    </a:ext>
                  </a:extLst>
                </a:gridCol>
              </a:tblGrid>
              <a:tr h="320798">
                <a:tc>
                  <a:txBody>
                    <a:bodyPr/>
                    <a:lstStyle/>
                    <a:p>
                      <a:pPr algn="ctr"/>
                      <a:r>
                        <a:rPr lang="en-US" dirty="0"/>
                        <a:t>NPV</a:t>
                      </a:r>
                    </a:p>
                  </a:txBody>
                  <a:tcPr/>
                </a:tc>
                <a:tc>
                  <a:txBody>
                    <a:bodyPr/>
                    <a:lstStyle/>
                    <a:p>
                      <a:pPr algn="ctr"/>
                      <a:r>
                        <a:rPr lang="en-US" dirty="0"/>
                        <a:t>IRR</a:t>
                      </a:r>
                    </a:p>
                  </a:txBody>
                  <a:tcPr/>
                </a:tc>
                <a:extLst>
                  <a:ext uri="{0D108BD9-81ED-4DB2-BD59-A6C34878D82A}">
                    <a16:rowId xmlns:a16="http://schemas.microsoft.com/office/drawing/2014/main" val="980736626"/>
                  </a:ext>
                </a:extLst>
              </a:tr>
              <a:tr h="320798">
                <a:tc>
                  <a:txBody>
                    <a:bodyPr/>
                    <a:lstStyle/>
                    <a:p>
                      <a:r>
                        <a:rPr lang="en-US" dirty="0"/>
                        <a:t>Assumes that discount rate is known.</a:t>
                      </a:r>
                    </a:p>
                  </a:txBody>
                  <a:tcPr/>
                </a:tc>
                <a:tc>
                  <a:txBody>
                    <a:bodyPr/>
                    <a:lstStyle/>
                    <a:p>
                      <a:r>
                        <a:rPr lang="en-US" dirty="0"/>
                        <a:t>Assumes that NPV is zero.</a:t>
                      </a:r>
                    </a:p>
                  </a:txBody>
                  <a:tcPr/>
                </a:tc>
                <a:extLst>
                  <a:ext uri="{0D108BD9-81ED-4DB2-BD59-A6C34878D82A}">
                    <a16:rowId xmlns:a16="http://schemas.microsoft.com/office/drawing/2014/main" val="3258129290"/>
                  </a:ext>
                </a:extLst>
              </a:tr>
              <a:tr h="791009">
                <a:tc>
                  <a:txBody>
                    <a:bodyPr/>
                    <a:lstStyle/>
                    <a:p>
                      <a:r>
                        <a:rPr lang="en-IN" sz="1800" b="0" kern="1200" dirty="0">
                          <a:solidFill>
                            <a:schemeClr val="dk1"/>
                          </a:solidFill>
                          <a:effectLst/>
                        </a:rPr>
                        <a:t>Calculates the net present value, given</a:t>
                      </a:r>
                    </a:p>
                    <a:p>
                      <a:r>
                        <a:rPr lang="en-IN" sz="1800" b="0" kern="1200" dirty="0">
                          <a:solidFill>
                            <a:schemeClr val="dk1"/>
                          </a:solidFill>
                          <a:effectLst/>
                        </a:rPr>
                        <a:t>the discount rate.</a:t>
                      </a:r>
                      <a:endParaRPr lang="en-IN" sz="1800" b="0" kern="1200" dirty="0">
                        <a:solidFill>
                          <a:schemeClr val="dk1"/>
                        </a:solidFill>
                        <a:effectLst/>
                        <a:latin typeface="+mn-lt"/>
                        <a:ea typeface="+mn-ea"/>
                        <a:cs typeface="+mn-cs"/>
                      </a:endParaRPr>
                    </a:p>
                  </a:txBody>
                  <a:tcPr/>
                </a:tc>
                <a:tc>
                  <a:txBody>
                    <a:bodyPr/>
                    <a:lstStyle/>
                    <a:p>
                      <a:r>
                        <a:rPr lang="en-IN" sz="1800" b="0" kern="1200" dirty="0">
                          <a:solidFill>
                            <a:schemeClr val="dk1"/>
                          </a:solidFill>
                          <a:effectLst/>
                        </a:rPr>
                        <a:t>Figures out the discount rate that makes net present value zero.</a:t>
                      </a:r>
                      <a:endParaRPr lang="en-IN" sz="1800" b="0" kern="1200" dirty="0">
                        <a:solidFill>
                          <a:schemeClr val="dk1"/>
                        </a:solidFill>
                        <a:effectLst/>
                        <a:latin typeface="+mn-lt"/>
                        <a:ea typeface="+mn-ea"/>
                        <a:cs typeface="+mn-cs"/>
                      </a:endParaRPr>
                    </a:p>
                  </a:txBody>
                  <a:tcPr/>
                </a:tc>
                <a:extLst>
                  <a:ext uri="{0D108BD9-81ED-4DB2-BD59-A6C34878D82A}">
                    <a16:rowId xmlns:a16="http://schemas.microsoft.com/office/drawing/2014/main" val="2850533624"/>
                  </a:ext>
                </a:extLst>
              </a:tr>
            </a:tbl>
          </a:graphicData>
        </a:graphic>
      </p:graphicFrame>
      <p:sp>
        <p:nvSpPr>
          <p:cNvPr id="5" name="TextBox 4">
            <a:extLst>
              <a:ext uri="{FF2B5EF4-FFF2-40B4-BE49-F238E27FC236}">
                <a16:creationId xmlns:a16="http://schemas.microsoft.com/office/drawing/2014/main" id="{83F01D0C-A62F-844C-8FBA-8F9973C2180C}"/>
              </a:ext>
            </a:extLst>
          </p:cNvPr>
          <p:cNvSpPr txBox="1"/>
          <p:nvPr/>
        </p:nvSpPr>
        <p:spPr>
          <a:xfrm>
            <a:off x="2933685" y="5032903"/>
            <a:ext cx="522529" cy="369332"/>
          </a:xfrm>
          <a:prstGeom prst="rect">
            <a:avLst/>
          </a:prstGeom>
          <a:noFill/>
        </p:spPr>
        <p:txBody>
          <a:bodyPr wrap="square" rtlCol="0">
            <a:spAutoFit/>
          </a:bodyPr>
          <a:lstStyle/>
          <a:p>
            <a:r>
              <a:rPr lang="en-US" dirty="0"/>
              <a:t>0 = </a:t>
            </a:r>
          </a:p>
        </p:txBody>
      </p:sp>
      <p:sp>
        <p:nvSpPr>
          <p:cNvPr id="6" name="TextBox 5">
            <a:extLst>
              <a:ext uri="{FF2B5EF4-FFF2-40B4-BE49-F238E27FC236}">
                <a16:creationId xmlns:a16="http://schemas.microsoft.com/office/drawing/2014/main" id="{E4DED8B2-272E-3C43-A8F2-F168033312A8}"/>
              </a:ext>
            </a:extLst>
          </p:cNvPr>
          <p:cNvSpPr txBox="1"/>
          <p:nvPr/>
        </p:nvSpPr>
        <p:spPr>
          <a:xfrm>
            <a:off x="3479139" y="5023656"/>
            <a:ext cx="676894" cy="369332"/>
          </a:xfrm>
          <a:prstGeom prst="rect">
            <a:avLst/>
          </a:prstGeom>
          <a:noFill/>
        </p:spPr>
        <p:txBody>
          <a:bodyPr wrap="square" rtlCol="0">
            <a:spAutoFit/>
          </a:bodyPr>
          <a:lstStyle/>
          <a:p>
            <a:pPr algn="ctr"/>
            <a:r>
              <a:rPr lang="en-US" dirty="0"/>
              <a:t>-100</a:t>
            </a:r>
          </a:p>
        </p:txBody>
      </p:sp>
      <p:sp>
        <p:nvSpPr>
          <p:cNvPr id="7" name="TextBox 6">
            <a:extLst>
              <a:ext uri="{FF2B5EF4-FFF2-40B4-BE49-F238E27FC236}">
                <a16:creationId xmlns:a16="http://schemas.microsoft.com/office/drawing/2014/main" id="{C6BD58EC-B2B4-9A4A-8A27-86971A710F8E}"/>
              </a:ext>
            </a:extLst>
          </p:cNvPr>
          <p:cNvSpPr txBox="1"/>
          <p:nvPr/>
        </p:nvSpPr>
        <p:spPr>
          <a:xfrm>
            <a:off x="4505695" y="4854458"/>
            <a:ext cx="676894" cy="369332"/>
          </a:xfrm>
          <a:prstGeom prst="rect">
            <a:avLst/>
          </a:prstGeom>
          <a:noFill/>
        </p:spPr>
        <p:txBody>
          <a:bodyPr wrap="square" rtlCol="0">
            <a:spAutoFit/>
          </a:bodyPr>
          <a:lstStyle/>
          <a:p>
            <a:pPr algn="ctr"/>
            <a:r>
              <a:rPr lang="en-US" dirty="0"/>
              <a:t>34</a:t>
            </a:r>
          </a:p>
        </p:txBody>
      </p:sp>
      <p:cxnSp>
        <p:nvCxnSpPr>
          <p:cNvPr id="9" name="Straight Connector 8">
            <a:extLst>
              <a:ext uri="{FF2B5EF4-FFF2-40B4-BE49-F238E27FC236}">
                <a16:creationId xmlns:a16="http://schemas.microsoft.com/office/drawing/2014/main" id="{7AE8D125-9CC2-8342-BC44-3FC9509B4953}"/>
              </a:ext>
            </a:extLst>
          </p:cNvPr>
          <p:cNvCxnSpPr>
            <a:cxnSpLocks/>
          </p:cNvCxnSpPr>
          <p:nvPr/>
        </p:nvCxnSpPr>
        <p:spPr>
          <a:xfrm>
            <a:off x="4463143" y="5208322"/>
            <a:ext cx="762000"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D5019677-BB5F-5241-9216-423F2F1E4FB2}"/>
              </a:ext>
            </a:extLst>
          </p:cNvPr>
          <p:cNvSpPr txBox="1"/>
          <p:nvPr/>
        </p:nvSpPr>
        <p:spPr>
          <a:xfrm>
            <a:off x="4332767" y="5213583"/>
            <a:ext cx="1013193" cy="369332"/>
          </a:xfrm>
          <a:prstGeom prst="rect">
            <a:avLst/>
          </a:prstGeom>
          <a:noFill/>
        </p:spPr>
        <p:txBody>
          <a:bodyPr wrap="square" rtlCol="0">
            <a:spAutoFit/>
          </a:bodyPr>
          <a:lstStyle/>
          <a:p>
            <a:pPr algn="ctr"/>
            <a:r>
              <a:rPr lang="en-US" dirty="0"/>
              <a:t>(1 + IRR)</a:t>
            </a:r>
          </a:p>
        </p:txBody>
      </p:sp>
      <p:sp>
        <p:nvSpPr>
          <p:cNvPr id="12" name="TextBox 11">
            <a:extLst>
              <a:ext uri="{FF2B5EF4-FFF2-40B4-BE49-F238E27FC236}">
                <a16:creationId xmlns:a16="http://schemas.microsoft.com/office/drawing/2014/main" id="{CEB687CC-D8B0-9C4A-8C01-89F36EE0C663}"/>
              </a:ext>
            </a:extLst>
          </p:cNvPr>
          <p:cNvSpPr txBox="1"/>
          <p:nvPr/>
        </p:nvSpPr>
        <p:spPr>
          <a:xfrm>
            <a:off x="5569527" y="5203376"/>
            <a:ext cx="1397332" cy="369332"/>
          </a:xfrm>
          <a:prstGeom prst="rect">
            <a:avLst/>
          </a:prstGeom>
          <a:noFill/>
        </p:spPr>
        <p:txBody>
          <a:bodyPr wrap="square" rtlCol="0">
            <a:spAutoFit/>
          </a:bodyPr>
          <a:lstStyle/>
          <a:p>
            <a:pPr algn="ctr"/>
            <a:r>
              <a:rPr lang="en-US" dirty="0"/>
              <a:t>(1 + IRR)^2</a:t>
            </a:r>
          </a:p>
        </p:txBody>
      </p:sp>
      <p:sp>
        <p:nvSpPr>
          <p:cNvPr id="13" name="TextBox 12">
            <a:extLst>
              <a:ext uri="{FF2B5EF4-FFF2-40B4-BE49-F238E27FC236}">
                <a16:creationId xmlns:a16="http://schemas.microsoft.com/office/drawing/2014/main" id="{C54CC3BB-ACDC-614F-8891-F482B0E01AD6}"/>
              </a:ext>
            </a:extLst>
          </p:cNvPr>
          <p:cNvSpPr txBox="1"/>
          <p:nvPr/>
        </p:nvSpPr>
        <p:spPr>
          <a:xfrm>
            <a:off x="5863772" y="4838990"/>
            <a:ext cx="676894" cy="369332"/>
          </a:xfrm>
          <a:prstGeom prst="rect">
            <a:avLst/>
          </a:prstGeom>
          <a:noFill/>
        </p:spPr>
        <p:txBody>
          <a:bodyPr wrap="square" rtlCol="0">
            <a:spAutoFit/>
          </a:bodyPr>
          <a:lstStyle/>
          <a:p>
            <a:pPr algn="ctr"/>
            <a:r>
              <a:rPr lang="en-US" dirty="0"/>
              <a:t>32.5</a:t>
            </a:r>
          </a:p>
        </p:txBody>
      </p:sp>
      <p:cxnSp>
        <p:nvCxnSpPr>
          <p:cNvPr id="14" name="Straight Connector 13">
            <a:extLst>
              <a:ext uri="{FF2B5EF4-FFF2-40B4-BE49-F238E27FC236}">
                <a16:creationId xmlns:a16="http://schemas.microsoft.com/office/drawing/2014/main" id="{97246243-2EBA-294E-A4DF-933031369050}"/>
              </a:ext>
            </a:extLst>
          </p:cNvPr>
          <p:cNvCxnSpPr>
            <a:cxnSpLocks/>
          </p:cNvCxnSpPr>
          <p:nvPr/>
        </p:nvCxnSpPr>
        <p:spPr>
          <a:xfrm>
            <a:off x="5821219" y="5203376"/>
            <a:ext cx="7620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301BF09-6876-4C4B-AE5D-3C7E40471475}"/>
              </a:ext>
            </a:extLst>
          </p:cNvPr>
          <p:cNvCxnSpPr>
            <a:cxnSpLocks/>
          </p:cNvCxnSpPr>
          <p:nvPr/>
        </p:nvCxnSpPr>
        <p:spPr>
          <a:xfrm>
            <a:off x="7042398" y="5203376"/>
            <a:ext cx="762000" cy="0"/>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40380990-D892-C444-AC7A-CBE9DD2FC893}"/>
              </a:ext>
            </a:extLst>
          </p:cNvPr>
          <p:cNvSpPr txBox="1"/>
          <p:nvPr/>
        </p:nvSpPr>
        <p:spPr>
          <a:xfrm>
            <a:off x="6860642" y="5213583"/>
            <a:ext cx="1397332" cy="369332"/>
          </a:xfrm>
          <a:prstGeom prst="rect">
            <a:avLst/>
          </a:prstGeom>
          <a:noFill/>
        </p:spPr>
        <p:txBody>
          <a:bodyPr wrap="square" rtlCol="0">
            <a:spAutoFit/>
          </a:bodyPr>
          <a:lstStyle/>
          <a:p>
            <a:pPr algn="ctr"/>
            <a:r>
              <a:rPr lang="en-US" dirty="0"/>
              <a:t>(1 + IRR)^3</a:t>
            </a:r>
          </a:p>
        </p:txBody>
      </p:sp>
      <p:sp>
        <p:nvSpPr>
          <p:cNvPr id="17" name="TextBox 16">
            <a:extLst>
              <a:ext uri="{FF2B5EF4-FFF2-40B4-BE49-F238E27FC236}">
                <a16:creationId xmlns:a16="http://schemas.microsoft.com/office/drawing/2014/main" id="{C508E474-915C-A146-94B4-AD8C314EDA8C}"/>
              </a:ext>
            </a:extLst>
          </p:cNvPr>
          <p:cNvSpPr txBox="1"/>
          <p:nvPr/>
        </p:nvSpPr>
        <p:spPr>
          <a:xfrm>
            <a:off x="7064829" y="4854458"/>
            <a:ext cx="762000" cy="369332"/>
          </a:xfrm>
          <a:prstGeom prst="rect">
            <a:avLst/>
          </a:prstGeom>
          <a:noFill/>
        </p:spPr>
        <p:txBody>
          <a:bodyPr wrap="square" rtlCol="0">
            <a:spAutoFit/>
          </a:bodyPr>
          <a:lstStyle/>
          <a:p>
            <a:pPr algn="ctr"/>
            <a:r>
              <a:rPr lang="en-US" dirty="0"/>
              <a:t>31.37</a:t>
            </a:r>
          </a:p>
        </p:txBody>
      </p:sp>
      <p:sp>
        <p:nvSpPr>
          <p:cNvPr id="18" name="TextBox 17">
            <a:extLst>
              <a:ext uri="{FF2B5EF4-FFF2-40B4-BE49-F238E27FC236}">
                <a16:creationId xmlns:a16="http://schemas.microsoft.com/office/drawing/2014/main" id="{6C0034CF-980C-0345-8E63-FF1CF1E39625}"/>
              </a:ext>
            </a:extLst>
          </p:cNvPr>
          <p:cNvSpPr txBox="1"/>
          <p:nvPr/>
        </p:nvSpPr>
        <p:spPr>
          <a:xfrm>
            <a:off x="3649683" y="5039124"/>
            <a:ext cx="1163781" cy="369332"/>
          </a:xfrm>
          <a:prstGeom prst="rect">
            <a:avLst/>
          </a:prstGeom>
          <a:noFill/>
        </p:spPr>
        <p:txBody>
          <a:bodyPr wrap="square" rtlCol="0">
            <a:spAutoFit/>
          </a:bodyPr>
          <a:lstStyle/>
          <a:p>
            <a:pPr algn="ctr"/>
            <a:r>
              <a:rPr lang="en-US" dirty="0"/>
              <a:t>+</a:t>
            </a:r>
          </a:p>
        </p:txBody>
      </p:sp>
      <p:sp>
        <p:nvSpPr>
          <p:cNvPr id="19" name="TextBox 18">
            <a:extLst>
              <a:ext uri="{FF2B5EF4-FFF2-40B4-BE49-F238E27FC236}">
                <a16:creationId xmlns:a16="http://schemas.microsoft.com/office/drawing/2014/main" id="{CD8FB36D-3076-E442-B0D9-242D61503EDC}"/>
              </a:ext>
            </a:extLst>
          </p:cNvPr>
          <p:cNvSpPr txBox="1"/>
          <p:nvPr/>
        </p:nvSpPr>
        <p:spPr>
          <a:xfrm>
            <a:off x="4966032" y="5023656"/>
            <a:ext cx="1163781" cy="369332"/>
          </a:xfrm>
          <a:prstGeom prst="rect">
            <a:avLst/>
          </a:prstGeom>
          <a:noFill/>
        </p:spPr>
        <p:txBody>
          <a:bodyPr wrap="square" rtlCol="0">
            <a:spAutoFit/>
          </a:bodyPr>
          <a:lstStyle/>
          <a:p>
            <a:pPr algn="ctr"/>
            <a:r>
              <a:rPr lang="en-US" dirty="0"/>
              <a:t>+</a:t>
            </a:r>
          </a:p>
        </p:txBody>
      </p:sp>
      <p:sp>
        <p:nvSpPr>
          <p:cNvPr id="20" name="TextBox 19">
            <a:extLst>
              <a:ext uri="{FF2B5EF4-FFF2-40B4-BE49-F238E27FC236}">
                <a16:creationId xmlns:a16="http://schemas.microsoft.com/office/drawing/2014/main" id="{6712AACD-3D64-A84C-8450-F902320381A8}"/>
              </a:ext>
            </a:extLst>
          </p:cNvPr>
          <p:cNvSpPr txBox="1"/>
          <p:nvPr/>
        </p:nvSpPr>
        <p:spPr>
          <a:xfrm>
            <a:off x="6317179" y="5008503"/>
            <a:ext cx="1163781" cy="369332"/>
          </a:xfrm>
          <a:prstGeom prst="rect">
            <a:avLst/>
          </a:prstGeom>
          <a:noFill/>
        </p:spPr>
        <p:txBody>
          <a:bodyPr wrap="square" rtlCol="0">
            <a:spAutoFit/>
          </a:bodyPr>
          <a:lstStyle/>
          <a:p>
            <a:pPr algn="ctr"/>
            <a:r>
              <a:rPr lang="en-US" dirty="0"/>
              <a:t>+</a:t>
            </a:r>
          </a:p>
        </p:txBody>
      </p:sp>
      <p:sp>
        <p:nvSpPr>
          <p:cNvPr id="21" name="TextBox 20">
            <a:extLst>
              <a:ext uri="{FF2B5EF4-FFF2-40B4-BE49-F238E27FC236}">
                <a16:creationId xmlns:a16="http://schemas.microsoft.com/office/drawing/2014/main" id="{2A40D209-DE2F-934D-A189-0645BA922B4E}"/>
              </a:ext>
            </a:extLst>
          </p:cNvPr>
          <p:cNvSpPr txBox="1"/>
          <p:nvPr/>
        </p:nvSpPr>
        <p:spPr>
          <a:xfrm>
            <a:off x="7849260" y="4982870"/>
            <a:ext cx="1163781" cy="369332"/>
          </a:xfrm>
          <a:prstGeom prst="rect">
            <a:avLst/>
          </a:prstGeom>
          <a:noFill/>
        </p:spPr>
        <p:txBody>
          <a:bodyPr wrap="square" rtlCol="0">
            <a:spAutoFit/>
          </a:bodyPr>
          <a:lstStyle/>
          <a:p>
            <a:pPr algn="ctr"/>
            <a:r>
              <a:rPr lang="en-US" dirty="0"/>
              <a:t>+ …..</a:t>
            </a:r>
          </a:p>
        </p:txBody>
      </p:sp>
      <p:sp>
        <p:nvSpPr>
          <p:cNvPr id="23" name="Rounded Rectangle 22">
            <a:extLst>
              <a:ext uri="{FF2B5EF4-FFF2-40B4-BE49-F238E27FC236}">
                <a16:creationId xmlns:a16="http://schemas.microsoft.com/office/drawing/2014/main" id="{C7EB5237-4CAE-B34A-AD4B-586D23B6B7AD}"/>
              </a:ext>
            </a:extLst>
          </p:cNvPr>
          <p:cNvSpPr/>
          <p:nvPr/>
        </p:nvSpPr>
        <p:spPr>
          <a:xfrm>
            <a:off x="3300793" y="5729875"/>
            <a:ext cx="917293" cy="4616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74D85358-4F7B-F449-908D-55C027BB6DE3}"/>
              </a:ext>
            </a:extLst>
          </p:cNvPr>
          <p:cNvSpPr txBox="1"/>
          <p:nvPr/>
        </p:nvSpPr>
        <p:spPr>
          <a:xfrm>
            <a:off x="3300793" y="5723654"/>
            <a:ext cx="992833" cy="461665"/>
          </a:xfrm>
          <a:prstGeom prst="rect">
            <a:avLst/>
          </a:prstGeom>
          <a:noFill/>
        </p:spPr>
        <p:txBody>
          <a:bodyPr wrap="square" rtlCol="0">
            <a:spAutoFit/>
          </a:bodyPr>
          <a:lstStyle/>
          <a:p>
            <a:r>
              <a:rPr lang="en-US" sz="1200" dirty="0"/>
              <a:t>Initial spend of money</a:t>
            </a:r>
          </a:p>
        </p:txBody>
      </p:sp>
      <p:sp>
        <p:nvSpPr>
          <p:cNvPr id="26" name="Rounded Rectangle 25">
            <a:extLst>
              <a:ext uri="{FF2B5EF4-FFF2-40B4-BE49-F238E27FC236}">
                <a16:creationId xmlns:a16="http://schemas.microsoft.com/office/drawing/2014/main" id="{9F8E0FE3-2877-4845-B2FE-0E76EFC8CBD2}"/>
              </a:ext>
            </a:extLst>
          </p:cNvPr>
          <p:cNvSpPr/>
          <p:nvPr/>
        </p:nvSpPr>
        <p:spPr>
          <a:xfrm>
            <a:off x="4463143" y="5826350"/>
            <a:ext cx="4300847" cy="35897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Future Cash Flows</a:t>
            </a:r>
          </a:p>
        </p:txBody>
      </p:sp>
      <p:sp>
        <p:nvSpPr>
          <p:cNvPr id="33" name="Left Brace 32">
            <a:extLst>
              <a:ext uri="{FF2B5EF4-FFF2-40B4-BE49-F238E27FC236}">
                <a16:creationId xmlns:a16="http://schemas.microsoft.com/office/drawing/2014/main" id="{7B00CCA5-72D6-8A45-971A-7AFEDCFCF865}"/>
              </a:ext>
            </a:extLst>
          </p:cNvPr>
          <p:cNvSpPr/>
          <p:nvPr/>
        </p:nvSpPr>
        <p:spPr>
          <a:xfrm rot="16200000">
            <a:off x="6353151" y="3499444"/>
            <a:ext cx="307110" cy="430084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4" name="Left Brace 33">
            <a:extLst>
              <a:ext uri="{FF2B5EF4-FFF2-40B4-BE49-F238E27FC236}">
                <a16:creationId xmlns:a16="http://schemas.microsoft.com/office/drawing/2014/main" id="{ADCDB33B-AE69-444D-8B0F-7AA218F09ED3}"/>
              </a:ext>
            </a:extLst>
          </p:cNvPr>
          <p:cNvSpPr/>
          <p:nvPr/>
        </p:nvSpPr>
        <p:spPr>
          <a:xfrm rot="16200000">
            <a:off x="3585561" y="5213357"/>
            <a:ext cx="307110" cy="67689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25" name="Picture 24">
            <a:extLst>
              <a:ext uri="{FF2B5EF4-FFF2-40B4-BE49-F238E27FC236}">
                <a16:creationId xmlns:a16="http://schemas.microsoft.com/office/drawing/2014/main" id="{C71E5354-DD9D-1D4C-A652-01D7FFC506B7}"/>
              </a:ext>
            </a:extLst>
          </p:cNvPr>
          <p:cNvPicPr>
            <a:picLocks noChangeAspect="1"/>
          </p:cNvPicPr>
          <p:nvPr/>
        </p:nvPicPr>
        <p:blipFill>
          <a:blip r:embed="rId2"/>
          <a:stretch>
            <a:fillRect/>
          </a:stretch>
        </p:blipFill>
        <p:spPr>
          <a:xfrm>
            <a:off x="9642764" y="95378"/>
            <a:ext cx="2408711" cy="547186"/>
          </a:xfrm>
          <a:prstGeom prst="rect">
            <a:avLst/>
          </a:prstGeom>
        </p:spPr>
      </p:pic>
      <p:sp>
        <p:nvSpPr>
          <p:cNvPr id="27" name="Footer Placeholder 4">
            <a:extLst>
              <a:ext uri="{FF2B5EF4-FFF2-40B4-BE49-F238E27FC236}">
                <a16:creationId xmlns:a16="http://schemas.microsoft.com/office/drawing/2014/main" id="{46CAD68A-E270-B242-9334-F88AB7CECC49}"/>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411098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BD0C8-D4B4-4C44-8B9E-EAD76E83B5E9}"/>
              </a:ext>
            </a:extLst>
          </p:cNvPr>
          <p:cNvSpPr>
            <a:spLocks noGrp="1"/>
          </p:cNvSpPr>
          <p:nvPr>
            <p:ph type="title"/>
          </p:nvPr>
        </p:nvSpPr>
        <p:spPr/>
        <p:txBody>
          <a:bodyPr/>
          <a:lstStyle/>
          <a:p>
            <a:r>
              <a:rPr lang="en-US" dirty="0">
                <a:solidFill>
                  <a:schemeClr val="accent1"/>
                </a:solidFill>
              </a:rPr>
              <a:t>NPV &amp; IRR</a:t>
            </a:r>
          </a:p>
        </p:txBody>
      </p:sp>
      <p:graphicFrame>
        <p:nvGraphicFramePr>
          <p:cNvPr id="4" name="Table 4">
            <a:extLst>
              <a:ext uri="{FF2B5EF4-FFF2-40B4-BE49-F238E27FC236}">
                <a16:creationId xmlns:a16="http://schemas.microsoft.com/office/drawing/2014/main" id="{E08D4771-2B7A-8F42-A6FB-DC8D4885169F}"/>
              </a:ext>
            </a:extLst>
          </p:cNvPr>
          <p:cNvGraphicFramePr>
            <a:graphicFrameLocks noGrp="1"/>
          </p:cNvGraphicFramePr>
          <p:nvPr>
            <p:ph idx="1"/>
            <p:extLst>
              <p:ext uri="{D42A27DB-BD31-4B8C-83A1-F6EECF244321}">
                <p14:modId xmlns:p14="http://schemas.microsoft.com/office/powerpoint/2010/main" val="1617432193"/>
              </p:ext>
            </p:extLst>
          </p:nvPr>
        </p:nvGraphicFramePr>
        <p:xfrm>
          <a:off x="2105890" y="2185060"/>
          <a:ext cx="7980220" cy="2909453"/>
        </p:xfrm>
        <a:graphic>
          <a:graphicData uri="http://schemas.openxmlformats.org/drawingml/2006/table">
            <a:tbl>
              <a:tblPr firstRow="1" bandRow="1">
                <a:tableStyleId>{74C1A8A3-306A-4EB7-A6B1-4F7E0EB9C5D6}</a:tableStyleId>
              </a:tblPr>
              <a:tblGrid>
                <a:gridCol w="3990110">
                  <a:extLst>
                    <a:ext uri="{9D8B030D-6E8A-4147-A177-3AD203B41FA5}">
                      <a16:colId xmlns:a16="http://schemas.microsoft.com/office/drawing/2014/main" val="4108628025"/>
                    </a:ext>
                  </a:extLst>
                </a:gridCol>
                <a:gridCol w="3990110">
                  <a:extLst>
                    <a:ext uri="{9D8B030D-6E8A-4147-A177-3AD203B41FA5}">
                      <a16:colId xmlns:a16="http://schemas.microsoft.com/office/drawing/2014/main" val="3603324576"/>
                    </a:ext>
                  </a:extLst>
                </a:gridCol>
              </a:tblGrid>
              <a:tr h="951867">
                <a:tc>
                  <a:txBody>
                    <a:bodyPr/>
                    <a:lstStyle/>
                    <a:p>
                      <a:pPr algn="ctr"/>
                      <a:r>
                        <a:rPr lang="en-US" dirty="0"/>
                        <a:t>Internal Rate of Return = Cost of Capital</a:t>
                      </a:r>
                    </a:p>
                  </a:txBody>
                  <a:tcPr/>
                </a:tc>
                <a:tc>
                  <a:txBody>
                    <a:bodyPr/>
                    <a:lstStyle/>
                    <a:p>
                      <a:pPr algn="ctr"/>
                      <a:r>
                        <a:rPr lang="en-US" dirty="0"/>
                        <a:t>NPV is zero</a:t>
                      </a:r>
                    </a:p>
                  </a:txBody>
                  <a:tcPr/>
                </a:tc>
                <a:extLst>
                  <a:ext uri="{0D108BD9-81ED-4DB2-BD59-A6C34878D82A}">
                    <a16:rowId xmlns:a16="http://schemas.microsoft.com/office/drawing/2014/main" val="3128329455"/>
                  </a:ext>
                </a:extLst>
              </a:tr>
              <a:tr h="978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Internal Rate of Return &gt; Cost of Capital</a:t>
                      </a:r>
                    </a:p>
                  </a:txBody>
                  <a:tcPr/>
                </a:tc>
                <a:tc>
                  <a:txBody>
                    <a:bodyPr/>
                    <a:lstStyle/>
                    <a:p>
                      <a:pPr algn="ctr"/>
                      <a:r>
                        <a:rPr lang="en-US" dirty="0"/>
                        <a:t>NPV is positive</a:t>
                      </a:r>
                    </a:p>
                  </a:txBody>
                  <a:tcPr/>
                </a:tc>
                <a:extLst>
                  <a:ext uri="{0D108BD9-81ED-4DB2-BD59-A6C34878D82A}">
                    <a16:rowId xmlns:a16="http://schemas.microsoft.com/office/drawing/2014/main" val="2097900882"/>
                  </a:ext>
                </a:extLst>
              </a:tr>
              <a:tr h="978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Internal Rate of Return &lt; Cost of Capital</a:t>
                      </a:r>
                    </a:p>
                  </a:txBody>
                  <a:tcPr/>
                </a:tc>
                <a:tc>
                  <a:txBody>
                    <a:bodyPr/>
                    <a:lstStyle/>
                    <a:p>
                      <a:pPr algn="ctr"/>
                      <a:r>
                        <a:rPr lang="en-US" dirty="0"/>
                        <a:t>NPV is negative</a:t>
                      </a:r>
                    </a:p>
                  </a:txBody>
                  <a:tcPr/>
                </a:tc>
                <a:extLst>
                  <a:ext uri="{0D108BD9-81ED-4DB2-BD59-A6C34878D82A}">
                    <a16:rowId xmlns:a16="http://schemas.microsoft.com/office/drawing/2014/main" val="318356284"/>
                  </a:ext>
                </a:extLst>
              </a:tr>
            </a:tbl>
          </a:graphicData>
        </a:graphic>
      </p:graphicFrame>
      <p:sp>
        <p:nvSpPr>
          <p:cNvPr id="3" name="TextBox 2">
            <a:extLst>
              <a:ext uri="{FF2B5EF4-FFF2-40B4-BE49-F238E27FC236}">
                <a16:creationId xmlns:a16="http://schemas.microsoft.com/office/drawing/2014/main" id="{4BFC84A4-7A9A-8F49-B799-094246785C12}"/>
              </a:ext>
            </a:extLst>
          </p:cNvPr>
          <p:cNvSpPr txBox="1"/>
          <p:nvPr/>
        </p:nvSpPr>
        <p:spPr>
          <a:xfrm>
            <a:off x="3667496" y="6123543"/>
            <a:ext cx="4857008" cy="369332"/>
          </a:xfrm>
          <a:prstGeom prst="rect">
            <a:avLst/>
          </a:prstGeom>
          <a:noFill/>
        </p:spPr>
        <p:txBody>
          <a:bodyPr wrap="square" rtlCol="0">
            <a:spAutoFit/>
          </a:bodyPr>
          <a:lstStyle/>
          <a:p>
            <a:r>
              <a:rPr lang="en-US" dirty="0">
                <a:solidFill>
                  <a:schemeClr val="accent6">
                    <a:lumMod val="50000"/>
                  </a:schemeClr>
                </a:solidFill>
              </a:rPr>
              <a:t>Cost of Capital = Discount Rate – Opportunity Cost</a:t>
            </a:r>
          </a:p>
        </p:txBody>
      </p:sp>
      <p:pic>
        <p:nvPicPr>
          <p:cNvPr id="5" name="Picture 4">
            <a:extLst>
              <a:ext uri="{FF2B5EF4-FFF2-40B4-BE49-F238E27FC236}">
                <a16:creationId xmlns:a16="http://schemas.microsoft.com/office/drawing/2014/main" id="{7406CC22-305E-9D4F-A160-6C635A4986C0}"/>
              </a:ext>
            </a:extLst>
          </p:cNvPr>
          <p:cNvPicPr>
            <a:picLocks noChangeAspect="1"/>
          </p:cNvPicPr>
          <p:nvPr/>
        </p:nvPicPr>
        <p:blipFill>
          <a:blip r:embed="rId2"/>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205115F9-4CC2-3142-98E3-51DDD78BDA54}"/>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39786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498D-E425-3941-B125-FF496EBFCF88}"/>
              </a:ext>
            </a:extLst>
          </p:cNvPr>
          <p:cNvSpPr>
            <a:spLocks noGrp="1"/>
          </p:cNvSpPr>
          <p:nvPr>
            <p:ph type="title"/>
          </p:nvPr>
        </p:nvSpPr>
        <p:spPr/>
        <p:txBody>
          <a:bodyPr/>
          <a:lstStyle/>
          <a:p>
            <a:r>
              <a:rPr lang="en-US" dirty="0">
                <a:solidFill>
                  <a:schemeClr val="accent1"/>
                </a:solidFill>
              </a:rPr>
              <a:t>Problems with IRR</a:t>
            </a:r>
          </a:p>
        </p:txBody>
      </p:sp>
      <p:sp>
        <p:nvSpPr>
          <p:cNvPr id="3" name="Content Placeholder 2">
            <a:extLst>
              <a:ext uri="{FF2B5EF4-FFF2-40B4-BE49-F238E27FC236}">
                <a16:creationId xmlns:a16="http://schemas.microsoft.com/office/drawing/2014/main" id="{19642A13-9DA9-0949-B4E8-8C036CA17EB0}"/>
              </a:ext>
            </a:extLst>
          </p:cNvPr>
          <p:cNvSpPr>
            <a:spLocks noGrp="1"/>
          </p:cNvSpPr>
          <p:nvPr>
            <p:ph idx="1"/>
          </p:nvPr>
        </p:nvSpPr>
        <p:spPr>
          <a:xfrm>
            <a:off x="838200" y="1825625"/>
            <a:ext cx="10515600" cy="347559"/>
          </a:xfrm>
        </p:spPr>
        <p:txBody>
          <a:bodyPr>
            <a:normAutofit lnSpcReduction="10000"/>
          </a:bodyPr>
          <a:lstStyle/>
          <a:p>
            <a:pPr marL="0" indent="0">
              <a:buNone/>
            </a:pPr>
            <a:r>
              <a:rPr lang="en-US" sz="2000" dirty="0">
                <a:solidFill>
                  <a:schemeClr val="accent6">
                    <a:lumMod val="50000"/>
                  </a:schemeClr>
                </a:solidFill>
              </a:rPr>
              <a:t>Lending Vs Borrowing: In case of borrowing NPV becomes negative</a:t>
            </a:r>
          </a:p>
        </p:txBody>
      </p:sp>
      <p:graphicFrame>
        <p:nvGraphicFramePr>
          <p:cNvPr id="4" name="Table 3">
            <a:extLst>
              <a:ext uri="{FF2B5EF4-FFF2-40B4-BE49-F238E27FC236}">
                <a16:creationId xmlns:a16="http://schemas.microsoft.com/office/drawing/2014/main" id="{EBAA25BF-DC7B-E34D-9010-51B42A78D7EA}"/>
              </a:ext>
            </a:extLst>
          </p:cNvPr>
          <p:cNvGraphicFramePr>
            <a:graphicFrameLocks noGrp="1"/>
          </p:cNvGraphicFramePr>
          <p:nvPr>
            <p:extLst>
              <p:ext uri="{D42A27DB-BD31-4B8C-83A1-F6EECF244321}">
                <p14:modId xmlns:p14="http://schemas.microsoft.com/office/powerpoint/2010/main" val="2305571243"/>
              </p:ext>
            </p:extLst>
          </p:nvPr>
        </p:nvGraphicFramePr>
        <p:xfrm>
          <a:off x="838198" y="2308120"/>
          <a:ext cx="8531435" cy="743838"/>
        </p:xfrm>
        <a:graphic>
          <a:graphicData uri="http://schemas.openxmlformats.org/drawingml/2006/table">
            <a:tbl>
              <a:tblPr>
                <a:tableStyleId>{74C1A8A3-306A-4EB7-A6B1-4F7E0EB9C5D6}</a:tableStyleId>
              </a:tblPr>
              <a:tblGrid>
                <a:gridCol w="1706287">
                  <a:extLst>
                    <a:ext uri="{9D8B030D-6E8A-4147-A177-3AD203B41FA5}">
                      <a16:colId xmlns:a16="http://schemas.microsoft.com/office/drawing/2014/main" val="2152519631"/>
                    </a:ext>
                  </a:extLst>
                </a:gridCol>
                <a:gridCol w="1706287">
                  <a:extLst>
                    <a:ext uri="{9D8B030D-6E8A-4147-A177-3AD203B41FA5}">
                      <a16:colId xmlns:a16="http://schemas.microsoft.com/office/drawing/2014/main" val="2512658720"/>
                    </a:ext>
                  </a:extLst>
                </a:gridCol>
                <a:gridCol w="1706287">
                  <a:extLst>
                    <a:ext uri="{9D8B030D-6E8A-4147-A177-3AD203B41FA5}">
                      <a16:colId xmlns:a16="http://schemas.microsoft.com/office/drawing/2014/main" val="4190016680"/>
                    </a:ext>
                  </a:extLst>
                </a:gridCol>
                <a:gridCol w="1706287">
                  <a:extLst>
                    <a:ext uri="{9D8B030D-6E8A-4147-A177-3AD203B41FA5}">
                      <a16:colId xmlns:a16="http://schemas.microsoft.com/office/drawing/2014/main" val="2993913373"/>
                    </a:ext>
                  </a:extLst>
                </a:gridCol>
                <a:gridCol w="1706287">
                  <a:extLst>
                    <a:ext uri="{9D8B030D-6E8A-4147-A177-3AD203B41FA5}">
                      <a16:colId xmlns:a16="http://schemas.microsoft.com/office/drawing/2014/main" val="3726665427"/>
                    </a:ext>
                  </a:extLst>
                </a:gridCol>
              </a:tblGrid>
              <a:tr h="247946">
                <a:tc>
                  <a:txBody>
                    <a:bodyPr/>
                    <a:lstStyle/>
                    <a:p>
                      <a:pPr algn="ctr" fontAlgn="b"/>
                      <a:r>
                        <a:rPr lang="en-IN" sz="1400" b="1" u="none" strike="noStrike" dirty="0">
                          <a:effectLst/>
                        </a:rPr>
                        <a:t>Project </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C0</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C1</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IRR</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NPV@10%</a:t>
                      </a:r>
                      <a:endParaRPr lang="en-IN"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1265146"/>
                  </a:ext>
                </a:extLst>
              </a:tr>
              <a:tr h="247946">
                <a:tc>
                  <a:txBody>
                    <a:bodyPr/>
                    <a:lstStyle/>
                    <a:p>
                      <a:pPr algn="ctr" fontAlgn="b"/>
                      <a:r>
                        <a:rPr lang="en-IN" sz="1400" u="none" strike="noStrike">
                          <a:effectLst/>
                        </a:rPr>
                        <a:t>A</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1500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50%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364</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725002"/>
                  </a:ext>
                </a:extLst>
              </a:tr>
              <a:tr h="247946">
                <a:tc>
                  <a:txBody>
                    <a:bodyPr/>
                    <a:lstStyle/>
                    <a:p>
                      <a:pPr algn="ctr" fontAlgn="b"/>
                      <a:r>
                        <a:rPr lang="en-IN" sz="1400" u="none" strike="noStrike">
                          <a:effectLst/>
                        </a:rPr>
                        <a:t>B</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-1500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50%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-364</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8802412"/>
                  </a:ext>
                </a:extLst>
              </a:tr>
            </a:tbl>
          </a:graphicData>
        </a:graphic>
      </p:graphicFrame>
      <p:sp>
        <p:nvSpPr>
          <p:cNvPr id="5" name="Content Placeholder 2">
            <a:extLst>
              <a:ext uri="{FF2B5EF4-FFF2-40B4-BE49-F238E27FC236}">
                <a16:creationId xmlns:a16="http://schemas.microsoft.com/office/drawing/2014/main" id="{78AF73CE-4DB1-A144-9CC0-7E18C189A383}"/>
              </a:ext>
            </a:extLst>
          </p:cNvPr>
          <p:cNvSpPr txBox="1">
            <a:spLocks/>
          </p:cNvSpPr>
          <p:nvPr/>
        </p:nvSpPr>
        <p:spPr>
          <a:xfrm>
            <a:off x="838198" y="3255220"/>
            <a:ext cx="10515600" cy="34755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accent6">
                    <a:lumMod val="50000"/>
                  </a:schemeClr>
                </a:solidFill>
              </a:rPr>
              <a:t>Multiple Rate of Returns: If one cash flow is negative(lending money) then two values of IRR comes out</a:t>
            </a:r>
          </a:p>
        </p:txBody>
      </p:sp>
      <p:sp>
        <p:nvSpPr>
          <p:cNvPr id="6" name="TextBox 5">
            <a:extLst>
              <a:ext uri="{FF2B5EF4-FFF2-40B4-BE49-F238E27FC236}">
                <a16:creationId xmlns:a16="http://schemas.microsoft.com/office/drawing/2014/main" id="{81BEE59C-D2DE-5346-ABCC-04F48400552D}"/>
              </a:ext>
            </a:extLst>
          </p:cNvPr>
          <p:cNvSpPr txBox="1"/>
          <p:nvPr/>
        </p:nvSpPr>
        <p:spPr>
          <a:xfrm>
            <a:off x="1532396" y="4035378"/>
            <a:ext cx="522529" cy="369332"/>
          </a:xfrm>
          <a:prstGeom prst="rect">
            <a:avLst/>
          </a:prstGeom>
          <a:noFill/>
        </p:spPr>
        <p:txBody>
          <a:bodyPr wrap="square" rtlCol="0">
            <a:spAutoFit/>
          </a:bodyPr>
          <a:lstStyle/>
          <a:p>
            <a:r>
              <a:rPr lang="en-US" dirty="0"/>
              <a:t>0 = </a:t>
            </a:r>
          </a:p>
        </p:txBody>
      </p:sp>
      <p:sp>
        <p:nvSpPr>
          <p:cNvPr id="7" name="TextBox 6">
            <a:extLst>
              <a:ext uri="{FF2B5EF4-FFF2-40B4-BE49-F238E27FC236}">
                <a16:creationId xmlns:a16="http://schemas.microsoft.com/office/drawing/2014/main" id="{A9119BB1-A9E1-8846-8BA6-29055C1C2C57}"/>
              </a:ext>
            </a:extLst>
          </p:cNvPr>
          <p:cNvSpPr txBox="1"/>
          <p:nvPr/>
        </p:nvSpPr>
        <p:spPr>
          <a:xfrm>
            <a:off x="3104406" y="3856933"/>
            <a:ext cx="676894" cy="369332"/>
          </a:xfrm>
          <a:prstGeom prst="rect">
            <a:avLst/>
          </a:prstGeom>
          <a:noFill/>
        </p:spPr>
        <p:txBody>
          <a:bodyPr wrap="square" rtlCol="0">
            <a:spAutoFit/>
          </a:bodyPr>
          <a:lstStyle/>
          <a:p>
            <a:pPr algn="ctr"/>
            <a:r>
              <a:rPr lang="en-US" dirty="0"/>
              <a:t>34</a:t>
            </a:r>
          </a:p>
        </p:txBody>
      </p:sp>
      <p:sp>
        <p:nvSpPr>
          <p:cNvPr id="8" name="TextBox 7">
            <a:extLst>
              <a:ext uri="{FF2B5EF4-FFF2-40B4-BE49-F238E27FC236}">
                <a16:creationId xmlns:a16="http://schemas.microsoft.com/office/drawing/2014/main" id="{AB4DCD58-0908-644C-AB00-83CAD01EE035}"/>
              </a:ext>
            </a:extLst>
          </p:cNvPr>
          <p:cNvSpPr txBox="1"/>
          <p:nvPr/>
        </p:nvSpPr>
        <p:spPr>
          <a:xfrm>
            <a:off x="2931478" y="4216058"/>
            <a:ext cx="1013193" cy="369332"/>
          </a:xfrm>
          <a:prstGeom prst="rect">
            <a:avLst/>
          </a:prstGeom>
          <a:noFill/>
        </p:spPr>
        <p:txBody>
          <a:bodyPr wrap="square" rtlCol="0">
            <a:spAutoFit/>
          </a:bodyPr>
          <a:lstStyle/>
          <a:p>
            <a:pPr algn="ctr"/>
            <a:r>
              <a:rPr lang="en-US" dirty="0"/>
              <a:t>(1 + IRR)</a:t>
            </a:r>
          </a:p>
        </p:txBody>
      </p:sp>
      <p:sp>
        <p:nvSpPr>
          <p:cNvPr id="9" name="TextBox 8">
            <a:extLst>
              <a:ext uri="{FF2B5EF4-FFF2-40B4-BE49-F238E27FC236}">
                <a16:creationId xmlns:a16="http://schemas.microsoft.com/office/drawing/2014/main" id="{53020707-699C-4342-B18C-D1787C8DB2D2}"/>
              </a:ext>
            </a:extLst>
          </p:cNvPr>
          <p:cNvSpPr txBox="1"/>
          <p:nvPr/>
        </p:nvSpPr>
        <p:spPr>
          <a:xfrm>
            <a:off x="4168238" y="4205851"/>
            <a:ext cx="1397332" cy="369332"/>
          </a:xfrm>
          <a:prstGeom prst="rect">
            <a:avLst/>
          </a:prstGeom>
          <a:noFill/>
        </p:spPr>
        <p:txBody>
          <a:bodyPr wrap="square" rtlCol="0">
            <a:spAutoFit/>
          </a:bodyPr>
          <a:lstStyle/>
          <a:p>
            <a:pPr algn="ctr"/>
            <a:r>
              <a:rPr lang="en-US" dirty="0"/>
              <a:t>(1 + IRR)^2</a:t>
            </a:r>
          </a:p>
        </p:txBody>
      </p:sp>
      <p:sp>
        <p:nvSpPr>
          <p:cNvPr id="10" name="TextBox 9">
            <a:extLst>
              <a:ext uri="{FF2B5EF4-FFF2-40B4-BE49-F238E27FC236}">
                <a16:creationId xmlns:a16="http://schemas.microsoft.com/office/drawing/2014/main" id="{EB851232-700C-B44C-B079-1AD28CAAC887}"/>
              </a:ext>
            </a:extLst>
          </p:cNvPr>
          <p:cNvSpPr txBox="1"/>
          <p:nvPr/>
        </p:nvSpPr>
        <p:spPr>
          <a:xfrm>
            <a:off x="4462483" y="3841465"/>
            <a:ext cx="676894" cy="369332"/>
          </a:xfrm>
          <a:prstGeom prst="rect">
            <a:avLst/>
          </a:prstGeom>
          <a:noFill/>
        </p:spPr>
        <p:txBody>
          <a:bodyPr wrap="square" rtlCol="0">
            <a:spAutoFit/>
          </a:bodyPr>
          <a:lstStyle/>
          <a:p>
            <a:pPr algn="ctr"/>
            <a:r>
              <a:rPr lang="en-US" dirty="0"/>
              <a:t>32.5</a:t>
            </a:r>
          </a:p>
        </p:txBody>
      </p:sp>
      <p:sp>
        <p:nvSpPr>
          <p:cNvPr id="11" name="TextBox 10">
            <a:extLst>
              <a:ext uri="{FF2B5EF4-FFF2-40B4-BE49-F238E27FC236}">
                <a16:creationId xmlns:a16="http://schemas.microsoft.com/office/drawing/2014/main" id="{F71AEBAE-853D-7141-ADAF-A3B64EBD177D}"/>
              </a:ext>
            </a:extLst>
          </p:cNvPr>
          <p:cNvSpPr txBox="1"/>
          <p:nvPr/>
        </p:nvSpPr>
        <p:spPr>
          <a:xfrm>
            <a:off x="5459353" y="4216058"/>
            <a:ext cx="1397332" cy="369332"/>
          </a:xfrm>
          <a:prstGeom prst="rect">
            <a:avLst/>
          </a:prstGeom>
          <a:noFill/>
        </p:spPr>
        <p:txBody>
          <a:bodyPr wrap="square" rtlCol="0">
            <a:spAutoFit/>
          </a:bodyPr>
          <a:lstStyle/>
          <a:p>
            <a:pPr algn="ctr"/>
            <a:r>
              <a:rPr lang="en-US" dirty="0"/>
              <a:t>(1 + IRR)^3</a:t>
            </a:r>
          </a:p>
        </p:txBody>
      </p:sp>
      <p:sp>
        <p:nvSpPr>
          <p:cNvPr id="12" name="TextBox 11">
            <a:extLst>
              <a:ext uri="{FF2B5EF4-FFF2-40B4-BE49-F238E27FC236}">
                <a16:creationId xmlns:a16="http://schemas.microsoft.com/office/drawing/2014/main" id="{7795FB2B-A24A-3B46-9AD2-0AF62DC97D7F}"/>
              </a:ext>
            </a:extLst>
          </p:cNvPr>
          <p:cNvSpPr txBox="1"/>
          <p:nvPr/>
        </p:nvSpPr>
        <p:spPr>
          <a:xfrm>
            <a:off x="5663540" y="3856933"/>
            <a:ext cx="762000" cy="369332"/>
          </a:xfrm>
          <a:prstGeom prst="rect">
            <a:avLst/>
          </a:prstGeom>
          <a:noFill/>
        </p:spPr>
        <p:txBody>
          <a:bodyPr wrap="square" rtlCol="0">
            <a:spAutoFit/>
          </a:bodyPr>
          <a:lstStyle/>
          <a:p>
            <a:pPr algn="ctr"/>
            <a:r>
              <a:rPr lang="en-US" dirty="0"/>
              <a:t>31.37</a:t>
            </a:r>
          </a:p>
        </p:txBody>
      </p:sp>
      <p:sp>
        <p:nvSpPr>
          <p:cNvPr id="13" name="TextBox 12">
            <a:extLst>
              <a:ext uri="{FF2B5EF4-FFF2-40B4-BE49-F238E27FC236}">
                <a16:creationId xmlns:a16="http://schemas.microsoft.com/office/drawing/2014/main" id="{732E4392-A42A-EA43-95FA-190CA49E0AC0}"/>
              </a:ext>
            </a:extLst>
          </p:cNvPr>
          <p:cNvSpPr txBox="1"/>
          <p:nvPr/>
        </p:nvSpPr>
        <p:spPr>
          <a:xfrm>
            <a:off x="2248394" y="4041599"/>
            <a:ext cx="1163781" cy="369332"/>
          </a:xfrm>
          <a:prstGeom prst="rect">
            <a:avLst/>
          </a:prstGeom>
          <a:noFill/>
        </p:spPr>
        <p:txBody>
          <a:bodyPr wrap="square" rtlCol="0">
            <a:spAutoFit/>
          </a:bodyPr>
          <a:lstStyle/>
          <a:p>
            <a:pPr algn="ctr"/>
            <a:r>
              <a:rPr lang="en-US" dirty="0"/>
              <a:t>+</a:t>
            </a:r>
          </a:p>
        </p:txBody>
      </p:sp>
      <p:sp>
        <p:nvSpPr>
          <p:cNvPr id="14" name="TextBox 13">
            <a:extLst>
              <a:ext uri="{FF2B5EF4-FFF2-40B4-BE49-F238E27FC236}">
                <a16:creationId xmlns:a16="http://schemas.microsoft.com/office/drawing/2014/main" id="{4F2A5B40-CB7E-444A-A60F-5A7EFE6A4863}"/>
              </a:ext>
            </a:extLst>
          </p:cNvPr>
          <p:cNvSpPr txBox="1"/>
          <p:nvPr/>
        </p:nvSpPr>
        <p:spPr>
          <a:xfrm>
            <a:off x="6447971" y="3985345"/>
            <a:ext cx="1163781" cy="369332"/>
          </a:xfrm>
          <a:prstGeom prst="rect">
            <a:avLst/>
          </a:prstGeom>
          <a:noFill/>
        </p:spPr>
        <p:txBody>
          <a:bodyPr wrap="square" rtlCol="0">
            <a:spAutoFit/>
          </a:bodyPr>
          <a:lstStyle/>
          <a:p>
            <a:pPr algn="ctr"/>
            <a:r>
              <a:rPr lang="en-US" dirty="0"/>
              <a:t>+ …..</a:t>
            </a:r>
          </a:p>
        </p:txBody>
      </p:sp>
      <p:sp>
        <p:nvSpPr>
          <p:cNvPr id="15" name="TextBox 14">
            <a:extLst>
              <a:ext uri="{FF2B5EF4-FFF2-40B4-BE49-F238E27FC236}">
                <a16:creationId xmlns:a16="http://schemas.microsoft.com/office/drawing/2014/main" id="{AD8CFEAD-C0E0-8245-BC52-DE0F88920B53}"/>
              </a:ext>
            </a:extLst>
          </p:cNvPr>
          <p:cNvSpPr txBox="1"/>
          <p:nvPr/>
        </p:nvSpPr>
        <p:spPr>
          <a:xfrm>
            <a:off x="2015514" y="4035378"/>
            <a:ext cx="676894" cy="369332"/>
          </a:xfrm>
          <a:prstGeom prst="rect">
            <a:avLst/>
          </a:prstGeom>
          <a:noFill/>
        </p:spPr>
        <p:txBody>
          <a:bodyPr wrap="square" rtlCol="0">
            <a:spAutoFit/>
          </a:bodyPr>
          <a:lstStyle/>
          <a:p>
            <a:pPr algn="ctr"/>
            <a:r>
              <a:rPr lang="en-US" dirty="0"/>
              <a:t>-100</a:t>
            </a:r>
          </a:p>
        </p:txBody>
      </p:sp>
      <p:cxnSp>
        <p:nvCxnSpPr>
          <p:cNvPr id="17" name="Straight Connector 16">
            <a:extLst>
              <a:ext uri="{FF2B5EF4-FFF2-40B4-BE49-F238E27FC236}">
                <a16:creationId xmlns:a16="http://schemas.microsoft.com/office/drawing/2014/main" id="{87C8F292-ACF1-5244-B5E2-46CCFAF5758C}"/>
              </a:ext>
            </a:extLst>
          </p:cNvPr>
          <p:cNvCxnSpPr/>
          <p:nvPr/>
        </p:nvCxnSpPr>
        <p:spPr>
          <a:xfrm>
            <a:off x="2992042" y="4216376"/>
            <a:ext cx="840265"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1BE5E9E-3BDE-DF4C-8B49-FD1899B434E0}"/>
              </a:ext>
            </a:extLst>
          </p:cNvPr>
          <p:cNvCxnSpPr>
            <a:cxnSpLocks/>
          </p:cNvCxnSpPr>
          <p:nvPr/>
        </p:nvCxnSpPr>
        <p:spPr>
          <a:xfrm>
            <a:off x="4299112" y="4205851"/>
            <a:ext cx="937906"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AE48CF4-1660-914F-8BCF-9D84364908CD}"/>
              </a:ext>
            </a:extLst>
          </p:cNvPr>
          <p:cNvCxnSpPr>
            <a:cxnSpLocks/>
          </p:cNvCxnSpPr>
          <p:nvPr/>
        </p:nvCxnSpPr>
        <p:spPr>
          <a:xfrm>
            <a:off x="5627047" y="4205851"/>
            <a:ext cx="937906" cy="0"/>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F0D6E88F-DB06-2745-833A-BD810F29BD49}"/>
              </a:ext>
            </a:extLst>
          </p:cNvPr>
          <p:cNvSpPr txBox="1"/>
          <p:nvPr/>
        </p:nvSpPr>
        <p:spPr>
          <a:xfrm>
            <a:off x="3539509" y="4015924"/>
            <a:ext cx="1163781" cy="369332"/>
          </a:xfrm>
          <a:prstGeom prst="rect">
            <a:avLst/>
          </a:prstGeom>
          <a:noFill/>
        </p:spPr>
        <p:txBody>
          <a:bodyPr wrap="square" rtlCol="0">
            <a:spAutoFit/>
          </a:bodyPr>
          <a:lstStyle/>
          <a:p>
            <a:pPr algn="ctr"/>
            <a:r>
              <a:rPr lang="en-US" dirty="0"/>
              <a:t>-</a:t>
            </a:r>
          </a:p>
        </p:txBody>
      </p:sp>
      <p:sp>
        <p:nvSpPr>
          <p:cNvPr id="22" name="TextBox 21">
            <a:extLst>
              <a:ext uri="{FF2B5EF4-FFF2-40B4-BE49-F238E27FC236}">
                <a16:creationId xmlns:a16="http://schemas.microsoft.com/office/drawing/2014/main" id="{F00A74DA-D4EA-BC45-AE93-9907BDFC507A}"/>
              </a:ext>
            </a:extLst>
          </p:cNvPr>
          <p:cNvSpPr txBox="1"/>
          <p:nvPr/>
        </p:nvSpPr>
        <p:spPr>
          <a:xfrm>
            <a:off x="4900947" y="3985345"/>
            <a:ext cx="1163781" cy="369332"/>
          </a:xfrm>
          <a:prstGeom prst="rect">
            <a:avLst/>
          </a:prstGeom>
          <a:noFill/>
        </p:spPr>
        <p:txBody>
          <a:bodyPr wrap="square" rtlCol="0">
            <a:spAutoFit/>
          </a:bodyPr>
          <a:lstStyle/>
          <a:p>
            <a:pPr algn="ctr"/>
            <a:r>
              <a:rPr lang="en-US" dirty="0"/>
              <a:t>+</a:t>
            </a:r>
          </a:p>
        </p:txBody>
      </p:sp>
      <p:sp>
        <p:nvSpPr>
          <p:cNvPr id="23" name="Content Placeholder 2">
            <a:extLst>
              <a:ext uri="{FF2B5EF4-FFF2-40B4-BE49-F238E27FC236}">
                <a16:creationId xmlns:a16="http://schemas.microsoft.com/office/drawing/2014/main" id="{27AFADD3-9EAD-6E4B-8209-1B844A654AA6}"/>
              </a:ext>
            </a:extLst>
          </p:cNvPr>
          <p:cNvSpPr txBox="1">
            <a:spLocks/>
          </p:cNvSpPr>
          <p:nvPr/>
        </p:nvSpPr>
        <p:spPr>
          <a:xfrm>
            <a:off x="838198" y="4924101"/>
            <a:ext cx="10515600" cy="34755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accent6">
                    <a:lumMod val="50000"/>
                  </a:schemeClr>
                </a:solidFill>
              </a:rPr>
              <a:t>Mutually Exclusive Projects: IRR doesn’t take absolute present value in consideration and only returns. </a:t>
            </a:r>
          </a:p>
        </p:txBody>
      </p:sp>
      <p:graphicFrame>
        <p:nvGraphicFramePr>
          <p:cNvPr id="24" name="Table 23">
            <a:extLst>
              <a:ext uri="{FF2B5EF4-FFF2-40B4-BE49-F238E27FC236}">
                <a16:creationId xmlns:a16="http://schemas.microsoft.com/office/drawing/2014/main" id="{3FD21EB2-6107-9E42-B9BB-CA3D3E14702A}"/>
              </a:ext>
            </a:extLst>
          </p:cNvPr>
          <p:cNvGraphicFramePr>
            <a:graphicFrameLocks noGrp="1"/>
          </p:cNvGraphicFramePr>
          <p:nvPr>
            <p:extLst>
              <p:ext uri="{D42A27DB-BD31-4B8C-83A1-F6EECF244321}">
                <p14:modId xmlns:p14="http://schemas.microsoft.com/office/powerpoint/2010/main" val="3723271988"/>
              </p:ext>
            </p:extLst>
          </p:nvPr>
        </p:nvGraphicFramePr>
        <p:xfrm>
          <a:off x="838197" y="5469165"/>
          <a:ext cx="8531435" cy="743838"/>
        </p:xfrm>
        <a:graphic>
          <a:graphicData uri="http://schemas.openxmlformats.org/drawingml/2006/table">
            <a:tbl>
              <a:tblPr>
                <a:tableStyleId>{74C1A8A3-306A-4EB7-A6B1-4F7E0EB9C5D6}</a:tableStyleId>
              </a:tblPr>
              <a:tblGrid>
                <a:gridCol w="1706287">
                  <a:extLst>
                    <a:ext uri="{9D8B030D-6E8A-4147-A177-3AD203B41FA5}">
                      <a16:colId xmlns:a16="http://schemas.microsoft.com/office/drawing/2014/main" val="2152519631"/>
                    </a:ext>
                  </a:extLst>
                </a:gridCol>
                <a:gridCol w="1706287">
                  <a:extLst>
                    <a:ext uri="{9D8B030D-6E8A-4147-A177-3AD203B41FA5}">
                      <a16:colId xmlns:a16="http://schemas.microsoft.com/office/drawing/2014/main" val="2512658720"/>
                    </a:ext>
                  </a:extLst>
                </a:gridCol>
                <a:gridCol w="1706287">
                  <a:extLst>
                    <a:ext uri="{9D8B030D-6E8A-4147-A177-3AD203B41FA5}">
                      <a16:colId xmlns:a16="http://schemas.microsoft.com/office/drawing/2014/main" val="4190016680"/>
                    </a:ext>
                  </a:extLst>
                </a:gridCol>
                <a:gridCol w="1706287">
                  <a:extLst>
                    <a:ext uri="{9D8B030D-6E8A-4147-A177-3AD203B41FA5}">
                      <a16:colId xmlns:a16="http://schemas.microsoft.com/office/drawing/2014/main" val="2993913373"/>
                    </a:ext>
                  </a:extLst>
                </a:gridCol>
                <a:gridCol w="1706287">
                  <a:extLst>
                    <a:ext uri="{9D8B030D-6E8A-4147-A177-3AD203B41FA5}">
                      <a16:colId xmlns:a16="http://schemas.microsoft.com/office/drawing/2014/main" val="3726665427"/>
                    </a:ext>
                  </a:extLst>
                </a:gridCol>
              </a:tblGrid>
              <a:tr h="247946">
                <a:tc>
                  <a:txBody>
                    <a:bodyPr/>
                    <a:lstStyle/>
                    <a:p>
                      <a:pPr algn="ctr" fontAlgn="b"/>
                      <a:r>
                        <a:rPr lang="en-IN" sz="1400" b="1" u="none" strike="noStrike" dirty="0">
                          <a:effectLst/>
                        </a:rPr>
                        <a:t>Project </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C0</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C1</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IRR</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NPV@10%</a:t>
                      </a:r>
                      <a:endParaRPr lang="en-IN"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1265146"/>
                  </a:ext>
                </a:extLst>
              </a:tr>
              <a:tr h="247946">
                <a:tc>
                  <a:txBody>
                    <a:bodyPr/>
                    <a:lstStyle/>
                    <a:p>
                      <a:pPr algn="ctr" fontAlgn="b"/>
                      <a:r>
                        <a:rPr lang="en-IN" sz="1400" u="none" strike="noStrike" dirty="0">
                          <a:effectLst/>
                        </a:rPr>
                        <a:t>D</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-10000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0" i="0" u="none" strike="noStrike" dirty="0">
                          <a:solidFill>
                            <a:srgbClr val="000000"/>
                          </a:solidFill>
                          <a:effectLst/>
                          <a:latin typeface="Calibri" panose="020F0502020204030204" pitchFamily="34" charset="0"/>
                        </a:rPr>
                        <a:t>+20000</a:t>
                      </a:r>
                    </a:p>
                  </a:txBody>
                  <a:tcPr marL="9525" marR="9525" marT="9525" marB="0" anchor="b"/>
                </a:tc>
                <a:tc>
                  <a:txBody>
                    <a:bodyPr/>
                    <a:lstStyle/>
                    <a:p>
                      <a:pPr algn="ctr" fontAlgn="b"/>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8182</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79725002"/>
                  </a:ext>
                </a:extLst>
              </a:tr>
              <a:tr h="247946">
                <a:tc>
                  <a:txBody>
                    <a:bodyPr/>
                    <a:lstStyle/>
                    <a:p>
                      <a:pPr algn="ctr" fontAlgn="b"/>
                      <a:r>
                        <a:rPr lang="en-IN" sz="1400" u="none" strike="noStrike" dirty="0">
                          <a:effectLst/>
                        </a:rPr>
                        <a:t>E</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-20000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+35000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75%</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11818</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8802412"/>
                  </a:ext>
                </a:extLst>
              </a:tr>
            </a:tbl>
          </a:graphicData>
        </a:graphic>
      </p:graphicFrame>
      <p:pic>
        <p:nvPicPr>
          <p:cNvPr id="25" name="Picture 24">
            <a:extLst>
              <a:ext uri="{FF2B5EF4-FFF2-40B4-BE49-F238E27FC236}">
                <a16:creationId xmlns:a16="http://schemas.microsoft.com/office/drawing/2014/main" id="{188B7714-B7B0-5943-95EE-12C5D8A2603A}"/>
              </a:ext>
            </a:extLst>
          </p:cNvPr>
          <p:cNvPicPr>
            <a:picLocks noChangeAspect="1"/>
          </p:cNvPicPr>
          <p:nvPr/>
        </p:nvPicPr>
        <p:blipFill>
          <a:blip r:embed="rId2"/>
          <a:stretch>
            <a:fillRect/>
          </a:stretch>
        </p:blipFill>
        <p:spPr>
          <a:xfrm>
            <a:off x="9642764" y="95378"/>
            <a:ext cx="2408711" cy="547186"/>
          </a:xfrm>
          <a:prstGeom prst="rect">
            <a:avLst/>
          </a:prstGeom>
        </p:spPr>
      </p:pic>
      <p:sp>
        <p:nvSpPr>
          <p:cNvPr id="26" name="Footer Placeholder 4">
            <a:extLst>
              <a:ext uri="{FF2B5EF4-FFF2-40B4-BE49-F238E27FC236}">
                <a16:creationId xmlns:a16="http://schemas.microsoft.com/office/drawing/2014/main" id="{4B97F589-45A3-384D-8F50-E742FB4CAB2C}"/>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2222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C25C-2E2E-7446-B720-FF8F488B1577}"/>
              </a:ext>
            </a:extLst>
          </p:cNvPr>
          <p:cNvSpPr>
            <a:spLocks noGrp="1"/>
          </p:cNvSpPr>
          <p:nvPr>
            <p:ph type="title"/>
          </p:nvPr>
        </p:nvSpPr>
        <p:spPr/>
        <p:txBody>
          <a:bodyPr/>
          <a:lstStyle/>
          <a:p>
            <a:r>
              <a:rPr lang="en-US" dirty="0">
                <a:solidFill>
                  <a:schemeClr val="accent1"/>
                </a:solidFill>
              </a:rPr>
              <a:t>Profitability Index</a:t>
            </a:r>
          </a:p>
        </p:txBody>
      </p:sp>
      <p:sp>
        <p:nvSpPr>
          <p:cNvPr id="3" name="Content Placeholder 2">
            <a:extLst>
              <a:ext uri="{FF2B5EF4-FFF2-40B4-BE49-F238E27FC236}">
                <a16:creationId xmlns:a16="http://schemas.microsoft.com/office/drawing/2014/main" id="{25CB7AAB-B698-7F43-9147-4A6C9943BC02}"/>
              </a:ext>
            </a:extLst>
          </p:cNvPr>
          <p:cNvSpPr>
            <a:spLocks noGrp="1"/>
          </p:cNvSpPr>
          <p:nvPr>
            <p:ph idx="1"/>
          </p:nvPr>
        </p:nvSpPr>
        <p:spPr/>
        <p:txBody>
          <a:bodyPr/>
          <a:lstStyle/>
          <a:p>
            <a:pPr>
              <a:lnSpc>
                <a:spcPct val="150000"/>
              </a:lnSpc>
            </a:pPr>
            <a:r>
              <a:rPr lang="en-IN" sz="2000" dirty="0"/>
              <a:t>When resources are limited, the profitability index (PI) provides a tool for selecting among various project combinations and alternatives</a:t>
            </a:r>
            <a:br>
              <a:rPr lang="en-IN" sz="2000" dirty="0"/>
            </a:br>
            <a:endParaRPr lang="en-IN" sz="2000" dirty="0"/>
          </a:p>
          <a:p>
            <a:pPr>
              <a:lnSpc>
                <a:spcPct val="150000"/>
              </a:lnSpc>
            </a:pPr>
            <a:r>
              <a:rPr lang="en-IN" sz="2000" dirty="0"/>
              <a:t>A set of limited resources and projects can yield various combinations.</a:t>
            </a:r>
            <a:br>
              <a:rPr lang="en-IN" sz="2000" dirty="0"/>
            </a:br>
            <a:endParaRPr lang="en-IN" sz="2000" dirty="0"/>
          </a:p>
          <a:p>
            <a:pPr>
              <a:lnSpc>
                <a:spcPct val="150000"/>
              </a:lnSpc>
            </a:pPr>
            <a:r>
              <a:rPr lang="en-IN" sz="2000" dirty="0"/>
              <a:t>The highest weighted average PI can indicate which projects to select.</a:t>
            </a:r>
          </a:p>
          <a:p>
            <a:endParaRPr lang="en-IN" dirty="0"/>
          </a:p>
          <a:p>
            <a:endParaRPr lang="en-US" dirty="0"/>
          </a:p>
        </p:txBody>
      </p:sp>
      <p:sp>
        <p:nvSpPr>
          <p:cNvPr id="4" name="TextBox 3">
            <a:extLst>
              <a:ext uri="{FF2B5EF4-FFF2-40B4-BE49-F238E27FC236}">
                <a16:creationId xmlns:a16="http://schemas.microsoft.com/office/drawing/2014/main" id="{718EED55-E061-744E-A933-50E7F4011A03}"/>
              </a:ext>
            </a:extLst>
          </p:cNvPr>
          <p:cNvSpPr txBox="1"/>
          <p:nvPr/>
        </p:nvSpPr>
        <p:spPr>
          <a:xfrm>
            <a:off x="4096987" y="5536275"/>
            <a:ext cx="2042556" cy="369332"/>
          </a:xfrm>
          <a:prstGeom prst="rect">
            <a:avLst/>
          </a:prstGeom>
          <a:noFill/>
        </p:spPr>
        <p:txBody>
          <a:bodyPr wrap="square" rtlCol="0">
            <a:spAutoFit/>
          </a:bodyPr>
          <a:lstStyle/>
          <a:p>
            <a:r>
              <a:rPr lang="en-US" dirty="0"/>
              <a:t>Profitability Index = </a:t>
            </a:r>
          </a:p>
        </p:txBody>
      </p:sp>
      <p:cxnSp>
        <p:nvCxnSpPr>
          <p:cNvPr id="5" name="Straight Connector 4">
            <a:extLst>
              <a:ext uri="{FF2B5EF4-FFF2-40B4-BE49-F238E27FC236}">
                <a16:creationId xmlns:a16="http://schemas.microsoft.com/office/drawing/2014/main" id="{7A149902-7C59-354E-851E-D8202BB1117C}"/>
              </a:ext>
            </a:extLst>
          </p:cNvPr>
          <p:cNvCxnSpPr>
            <a:cxnSpLocks/>
          </p:cNvCxnSpPr>
          <p:nvPr/>
        </p:nvCxnSpPr>
        <p:spPr>
          <a:xfrm>
            <a:off x="6139543" y="5720941"/>
            <a:ext cx="2612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6CD75D-CD3A-214E-98A5-1E6114A59E70}"/>
              </a:ext>
            </a:extLst>
          </p:cNvPr>
          <p:cNvSpPr txBox="1"/>
          <p:nvPr/>
        </p:nvSpPr>
        <p:spPr>
          <a:xfrm>
            <a:off x="6289964" y="5776753"/>
            <a:ext cx="2280063" cy="369332"/>
          </a:xfrm>
          <a:prstGeom prst="rect">
            <a:avLst/>
          </a:prstGeom>
          <a:noFill/>
        </p:spPr>
        <p:txBody>
          <a:bodyPr wrap="square" rtlCol="0">
            <a:spAutoFit/>
          </a:bodyPr>
          <a:lstStyle/>
          <a:p>
            <a:pPr algn="ctr"/>
            <a:r>
              <a:rPr lang="en-US" dirty="0"/>
              <a:t>Investments</a:t>
            </a:r>
          </a:p>
        </p:txBody>
      </p:sp>
      <p:sp>
        <p:nvSpPr>
          <p:cNvPr id="7" name="TextBox 6">
            <a:extLst>
              <a:ext uri="{FF2B5EF4-FFF2-40B4-BE49-F238E27FC236}">
                <a16:creationId xmlns:a16="http://schemas.microsoft.com/office/drawing/2014/main" id="{3E05D633-A073-7249-8AFF-FF3B8A12F840}"/>
              </a:ext>
            </a:extLst>
          </p:cNvPr>
          <p:cNvSpPr txBox="1"/>
          <p:nvPr/>
        </p:nvSpPr>
        <p:spPr>
          <a:xfrm>
            <a:off x="6289965" y="5316882"/>
            <a:ext cx="2280063" cy="369332"/>
          </a:xfrm>
          <a:prstGeom prst="rect">
            <a:avLst/>
          </a:prstGeom>
          <a:noFill/>
        </p:spPr>
        <p:txBody>
          <a:bodyPr wrap="square" rtlCol="0">
            <a:spAutoFit/>
          </a:bodyPr>
          <a:lstStyle/>
          <a:p>
            <a:pPr algn="ctr"/>
            <a:r>
              <a:rPr lang="en-US" dirty="0"/>
              <a:t>NPV</a:t>
            </a:r>
          </a:p>
        </p:txBody>
      </p:sp>
      <p:pic>
        <p:nvPicPr>
          <p:cNvPr id="8" name="Picture 7">
            <a:extLst>
              <a:ext uri="{FF2B5EF4-FFF2-40B4-BE49-F238E27FC236}">
                <a16:creationId xmlns:a16="http://schemas.microsoft.com/office/drawing/2014/main" id="{5B0C07AB-2DC2-9E41-BCBF-CDBC2560F867}"/>
              </a:ext>
            </a:extLst>
          </p:cNvPr>
          <p:cNvPicPr>
            <a:picLocks noChangeAspect="1"/>
          </p:cNvPicPr>
          <p:nvPr/>
        </p:nvPicPr>
        <p:blipFill>
          <a:blip r:embed="rId2"/>
          <a:stretch>
            <a:fillRect/>
          </a:stretch>
        </p:blipFill>
        <p:spPr>
          <a:xfrm>
            <a:off x="9642764" y="95378"/>
            <a:ext cx="2408711" cy="547186"/>
          </a:xfrm>
          <a:prstGeom prst="rect">
            <a:avLst/>
          </a:prstGeom>
        </p:spPr>
      </p:pic>
      <p:sp>
        <p:nvSpPr>
          <p:cNvPr id="9" name="Footer Placeholder 4">
            <a:extLst>
              <a:ext uri="{FF2B5EF4-FFF2-40B4-BE49-F238E27FC236}">
                <a16:creationId xmlns:a16="http://schemas.microsoft.com/office/drawing/2014/main" id="{3AE0C190-4F3F-7248-B460-53B5C5FC220B}"/>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418015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DFFD-B307-BC4D-99CA-70197CB3610C}"/>
              </a:ext>
            </a:extLst>
          </p:cNvPr>
          <p:cNvSpPr>
            <a:spLocks noGrp="1"/>
          </p:cNvSpPr>
          <p:nvPr>
            <p:ph type="title"/>
          </p:nvPr>
        </p:nvSpPr>
        <p:spPr/>
        <p:txBody>
          <a:bodyPr/>
          <a:lstStyle/>
          <a:p>
            <a:r>
              <a:rPr lang="en-US" dirty="0">
                <a:solidFill>
                  <a:schemeClr val="accent1"/>
                </a:solidFill>
              </a:rPr>
              <a:t>Profitability Index…</a:t>
            </a:r>
          </a:p>
        </p:txBody>
      </p:sp>
      <p:graphicFrame>
        <p:nvGraphicFramePr>
          <p:cNvPr id="4" name="Content Placeholder 3">
            <a:extLst>
              <a:ext uri="{FF2B5EF4-FFF2-40B4-BE49-F238E27FC236}">
                <a16:creationId xmlns:a16="http://schemas.microsoft.com/office/drawing/2014/main" id="{14D41583-90E3-BF45-A8FC-7B6C40C9A766}"/>
              </a:ext>
            </a:extLst>
          </p:cNvPr>
          <p:cNvGraphicFramePr>
            <a:graphicFrameLocks noGrp="1"/>
          </p:cNvGraphicFramePr>
          <p:nvPr>
            <p:ph idx="1"/>
            <p:extLst>
              <p:ext uri="{D42A27DB-BD31-4B8C-83A1-F6EECF244321}">
                <p14:modId xmlns:p14="http://schemas.microsoft.com/office/powerpoint/2010/main" val="3702975980"/>
              </p:ext>
            </p:extLst>
          </p:nvPr>
        </p:nvGraphicFramePr>
        <p:xfrm>
          <a:off x="2076201" y="1789999"/>
          <a:ext cx="8039597" cy="1119456"/>
        </p:xfrm>
        <a:graphic>
          <a:graphicData uri="http://schemas.openxmlformats.org/drawingml/2006/table">
            <a:tbl>
              <a:tblPr>
                <a:tableStyleId>{74C1A8A3-306A-4EB7-A6B1-4F7E0EB9C5D6}</a:tableStyleId>
              </a:tblPr>
              <a:tblGrid>
                <a:gridCol w="1251243">
                  <a:extLst>
                    <a:ext uri="{9D8B030D-6E8A-4147-A177-3AD203B41FA5}">
                      <a16:colId xmlns:a16="http://schemas.microsoft.com/office/drawing/2014/main" val="1541646064"/>
                    </a:ext>
                  </a:extLst>
                </a:gridCol>
                <a:gridCol w="1251243">
                  <a:extLst>
                    <a:ext uri="{9D8B030D-6E8A-4147-A177-3AD203B41FA5}">
                      <a16:colId xmlns:a16="http://schemas.microsoft.com/office/drawing/2014/main" val="659257299"/>
                    </a:ext>
                  </a:extLst>
                </a:gridCol>
                <a:gridCol w="1251243">
                  <a:extLst>
                    <a:ext uri="{9D8B030D-6E8A-4147-A177-3AD203B41FA5}">
                      <a16:colId xmlns:a16="http://schemas.microsoft.com/office/drawing/2014/main" val="1863175804"/>
                    </a:ext>
                  </a:extLst>
                </a:gridCol>
                <a:gridCol w="1251243">
                  <a:extLst>
                    <a:ext uri="{9D8B030D-6E8A-4147-A177-3AD203B41FA5}">
                      <a16:colId xmlns:a16="http://schemas.microsoft.com/office/drawing/2014/main" val="3665138070"/>
                    </a:ext>
                  </a:extLst>
                </a:gridCol>
                <a:gridCol w="1251243">
                  <a:extLst>
                    <a:ext uri="{9D8B030D-6E8A-4147-A177-3AD203B41FA5}">
                      <a16:colId xmlns:a16="http://schemas.microsoft.com/office/drawing/2014/main" val="1652063933"/>
                    </a:ext>
                  </a:extLst>
                </a:gridCol>
                <a:gridCol w="1783382">
                  <a:extLst>
                    <a:ext uri="{9D8B030D-6E8A-4147-A177-3AD203B41FA5}">
                      <a16:colId xmlns:a16="http://schemas.microsoft.com/office/drawing/2014/main" val="3221708931"/>
                    </a:ext>
                  </a:extLst>
                </a:gridCol>
              </a:tblGrid>
              <a:tr h="279864">
                <a:tc>
                  <a:txBody>
                    <a:bodyPr/>
                    <a:lstStyle/>
                    <a:p>
                      <a:pPr algn="ctr" fontAlgn="b"/>
                      <a:r>
                        <a:rPr lang="en-IN" sz="1400" b="1" u="none" strike="noStrike" dirty="0">
                          <a:effectLst/>
                        </a:rPr>
                        <a:t>Project </a:t>
                      </a:r>
                      <a:endParaRPr lang="en-IN" sz="1400" b="1"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b="1" u="none" strike="noStrike" dirty="0">
                          <a:effectLst/>
                        </a:rPr>
                        <a:t>C0</a:t>
                      </a:r>
                      <a:endParaRPr lang="en-IN" sz="1400" b="1"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b="1" u="none" strike="noStrike" dirty="0">
                          <a:effectLst/>
                        </a:rPr>
                        <a:t>C1</a:t>
                      </a:r>
                      <a:endParaRPr lang="en-IN" sz="1400" b="1"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b="1" u="none" strike="noStrike">
                          <a:effectLst/>
                        </a:rPr>
                        <a:t>C2</a:t>
                      </a:r>
                      <a:endParaRPr lang="en-IN" sz="1400" b="1"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b="1" u="none" strike="noStrike">
                          <a:effectLst/>
                        </a:rPr>
                        <a:t>NPV @ 10%</a:t>
                      </a:r>
                      <a:endParaRPr lang="en-IN" sz="1400" b="1"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b="1" u="none" strike="noStrike" dirty="0">
                          <a:effectLst/>
                        </a:rPr>
                        <a:t>Profitability Index</a:t>
                      </a:r>
                      <a:endParaRPr lang="en-IN" sz="1400" b="1"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1827338071"/>
                  </a:ext>
                </a:extLst>
              </a:tr>
              <a:tr h="279864">
                <a:tc>
                  <a:txBody>
                    <a:bodyPr/>
                    <a:lstStyle/>
                    <a:p>
                      <a:pPr algn="ctr" fontAlgn="b"/>
                      <a:r>
                        <a:rPr lang="en-IN" sz="1400" u="none" strike="noStrike">
                          <a:effectLst/>
                        </a:rPr>
                        <a:t>A</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-10</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dirty="0">
                          <a:effectLst/>
                        </a:rPr>
                        <a:t>30</a:t>
                      </a:r>
                      <a:endParaRPr lang="en-IN" sz="1400" b="0"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dirty="0">
                          <a:effectLst/>
                        </a:rPr>
                        <a:t>21</a:t>
                      </a:r>
                      <a:endParaRPr lang="en-IN" sz="1400" b="0" i="0" u="none" strike="noStrike" dirty="0">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2.1</a:t>
                      </a:r>
                      <a:endParaRPr lang="en-IN" sz="14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88845187"/>
                  </a:ext>
                </a:extLst>
              </a:tr>
              <a:tr h="279864">
                <a:tc>
                  <a:txBody>
                    <a:bodyPr/>
                    <a:lstStyle/>
                    <a:p>
                      <a:pPr algn="ctr" fontAlgn="b"/>
                      <a:r>
                        <a:rPr lang="en-IN" sz="1400" u="none" strike="noStrike">
                          <a:effectLst/>
                        </a:rPr>
                        <a:t>B</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20</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16</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3.2</a:t>
                      </a:r>
                      <a:endParaRPr lang="en-IN" sz="1400" b="0" i="0" u="none" strike="noStrike">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4105188859"/>
                  </a:ext>
                </a:extLst>
              </a:tr>
              <a:tr h="279864">
                <a:tc>
                  <a:txBody>
                    <a:bodyPr/>
                    <a:lstStyle/>
                    <a:p>
                      <a:pPr algn="ctr" fontAlgn="b"/>
                      <a:r>
                        <a:rPr lang="en-IN" sz="1400" u="none" strike="noStrike">
                          <a:effectLst/>
                        </a:rPr>
                        <a:t>C</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15</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a:effectLst/>
                        </a:rPr>
                        <a:t>12</a:t>
                      </a:r>
                      <a:endParaRPr lang="en-IN" sz="1400" b="0" i="0" u="none" strike="noStrike">
                        <a:solidFill>
                          <a:srgbClr val="000000"/>
                        </a:solidFill>
                        <a:effectLst/>
                        <a:latin typeface="Calibri" panose="020F0502020204030204" pitchFamily="34" charset="0"/>
                      </a:endParaRPr>
                    </a:p>
                  </a:txBody>
                  <a:tcPr marL="7144" marR="7144" marT="7144" marB="0" anchor="b"/>
                </a:tc>
                <a:tc>
                  <a:txBody>
                    <a:bodyPr/>
                    <a:lstStyle/>
                    <a:p>
                      <a:pPr algn="ctr" fontAlgn="b"/>
                      <a:r>
                        <a:rPr lang="en-IN" sz="1400" u="none" strike="noStrike" dirty="0">
                          <a:effectLst/>
                        </a:rPr>
                        <a:t>2.4</a:t>
                      </a:r>
                      <a:endParaRPr lang="en-IN" sz="1400" b="0" i="0" u="none" strike="noStrike" dirty="0">
                        <a:solidFill>
                          <a:srgbClr val="000000"/>
                        </a:solidFill>
                        <a:effectLst/>
                        <a:latin typeface="Calibri" panose="020F0502020204030204" pitchFamily="34" charset="0"/>
                      </a:endParaRPr>
                    </a:p>
                  </a:txBody>
                  <a:tcPr marL="7144" marR="7144" marT="7144" marB="0" anchor="b"/>
                </a:tc>
                <a:extLst>
                  <a:ext uri="{0D108BD9-81ED-4DB2-BD59-A6C34878D82A}">
                    <a16:rowId xmlns:a16="http://schemas.microsoft.com/office/drawing/2014/main" val="3851818024"/>
                  </a:ext>
                </a:extLst>
              </a:tr>
            </a:tbl>
          </a:graphicData>
        </a:graphic>
      </p:graphicFrame>
      <p:graphicFrame>
        <p:nvGraphicFramePr>
          <p:cNvPr id="5" name="Table 4">
            <a:extLst>
              <a:ext uri="{FF2B5EF4-FFF2-40B4-BE49-F238E27FC236}">
                <a16:creationId xmlns:a16="http://schemas.microsoft.com/office/drawing/2014/main" id="{074D789D-B221-CD4C-AEE6-6224B20D33C7}"/>
              </a:ext>
            </a:extLst>
          </p:cNvPr>
          <p:cNvGraphicFramePr>
            <a:graphicFrameLocks noGrp="1"/>
          </p:cNvGraphicFramePr>
          <p:nvPr>
            <p:extLst>
              <p:ext uri="{D42A27DB-BD31-4B8C-83A1-F6EECF244321}">
                <p14:modId xmlns:p14="http://schemas.microsoft.com/office/powerpoint/2010/main" val="1521828391"/>
              </p:ext>
            </p:extLst>
          </p:nvPr>
        </p:nvGraphicFramePr>
        <p:xfrm>
          <a:off x="4160329" y="3703156"/>
          <a:ext cx="4180112" cy="1579750"/>
        </p:xfrm>
        <a:graphic>
          <a:graphicData uri="http://schemas.openxmlformats.org/drawingml/2006/table">
            <a:tbl>
              <a:tblPr>
                <a:tableStyleId>{74C1A8A3-306A-4EB7-A6B1-4F7E0EB9C5D6}</a:tableStyleId>
              </a:tblPr>
              <a:tblGrid>
                <a:gridCol w="1045028">
                  <a:extLst>
                    <a:ext uri="{9D8B030D-6E8A-4147-A177-3AD203B41FA5}">
                      <a16:colId xmlns:a16="http://schemas.microsoft.com/office/drawing/2014/main" val="754533259"/>
                    </a:ext>
                  </a:extLst>
                </a:gridCol>
                <a:gridCol w="1045028">
                  <a:extLst>
                    <a:ext uri="{9D8B030D-6E8A-4147-A177-3AD203B41FA5}">
                      <a16:colId xmlns:a16="http://schemas.microsoft.com/office/drawing/2014/main" val="778150148"/>
                    </a:ext>
                  </a:extLst>
                </a:gridCol>
                <a:gridCol w="1045028">
                  <a:extLst>
                    <a:ext uri="{9D8B030D-6E8A-4147-A177-3AD203B41FA5}">
                      <a16:colId xmlns:a16="http://schemas.microsoft.com/office/drawing/2014/main" val="420892271"/>
                    </a:ext>
                  </a:extLst>
                </a:gridCol>
                <a:gridCol w="1045028">
                  <a:extLst>
                    <a:ext uri="{9D8B030D-6E8A-4147-A177-3AD203B41FA5}">
                      <a16:colId xmlns:a16="http://schemas.microsoft.com/office/drawing/2014/main" val="1748004906"/>
                    </a:ext>
                  </a:extLst>
                </a:gridCol>
              </a:tblGrid>
              <a:tr h="315950">
                <a:tc>
                  <a:txBody>
                    <a:bodyPr/>
                    <a:lstStyle/>
                    <a:p>
                      <a:pPr algn="ctr" fontAlgn="b"/>
                      <a:r>
                        <a:rPr lang="en-IN" sz="1400" b="1" u="none" strike="noStrike" dirty="0">
                          <a:effectLst/>
                        </a:rPr>
                        <a:t>Project </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NPV</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Investment</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PI</a:t>
                      </a:r>
                      <a:endParaRPr lang="en-IN"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03970449"/>
                  </a:ext>
                </a:extLst>
              </a:tr>
              <a:tr h="315950">
                <a:tc>
                  <a:txBody>
                    <a:bodyPr/>
                    <a:lstStyle/>
                    <a:p>
                      <a:pPr algn="ctr" fontAlgn="b"/>
                      <a:r>
                        <a:rPr lang="en-IN" sz="1400" u="none" strike="noStrike">
                          <a:effectLst/>
                        </a:rPr>
                        <a:t>A</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230000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200000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1.15</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21379782"/>
                  </a:ext>
                </a:extLst>
              </a:tr>
              <a:tr h="315950">
                <a:tc>
                  <a:txBody>
                    <a:bodyPr/>
                    <a:lstStyle/>
                    <a:p>
                      <a:pPr algn="ctr" fontAlgn="b"/>
                      <a:r>
                        <a:rPr lang="en-IN" sz="1400" u="none" strike="noStrike">
                          <a:effectLst/>
                        </a:rPr>
                        <a:t>B</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141250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125000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1.13</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66896565"/>
                  </a:ext>
                </a:extLst>
              </a:tr>
              <a:tr h="315950">
                <a:tc>
                  <a:txBody>
                    <a:bodyPr/>
                    <a:lstStyle/>
                    <a:p>
                      <a:pPr algn="ctr" fontAlgn="b"/>
                      <a:r>
                        <a:rPr lang="en-IN" sz="1400" u="none" strike="noStrike">
                          <a:effectLst/>
                        </a:rPr>
                        <a:t>C</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177600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160000</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1.11</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3910710"/>
                  </a:ext>
                </a:extLst>
              </a:tr>
              <a:tr h="315950">
                <a:tc>
                  <a:txBody>
                    <a:bodyPr/>
                    <a:lstStyle/>
                    <a:p>
                      <a:pPr algn="ctr" fontAlgn="b"/>
                      <a:r>
                        <a:rPr lang="en-IN" sz="1400" u="none" strike="noStrike">
                          <a:effectLst/>
                        </a:rPr>
                        <a:t>D</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162000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150000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1.08</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91415901"/>
                  </a:ext>
                </a:extLst>
              </a:tr>
            </a:tbl>
          </a:graphicData>
        </a:graphic>
      </p:graphicFrame>
      <p:sp>
        <p:nvSpPr>
          <p:cNvPr id="6" name="TextBox 5">
            <a:extLst>
              <a:ext uri="{FF2B5EF4-FFF2-40B4-BE49-F238E27FC236}">
                <a16:creationId xmlns:a16="http://schemas.microsoft.com/office/drawing/2014/main" id="{63E8BFCE-A81C-D242-9689-851D78940CE5}"/>
              </a:ext>
            </a:extLst>
          </p:cNvPr>
          <p:cNvSpPr txBox="1"/>
          <p:nvPr/>
        </p:nvSpPr>
        <p:spPr>
          <a:xfrm>
            <a:off x="2671948" y="3232878"/>
            <a:ext cx="7849590" cy="369332"/>
          </a:xfrm>
          <a:prstGeom prst="rect">
            <a:avLst/>
          </a:prstGeom>
          <a:noFill/>
        </p:spPr>
        <p:txBody>
          <a:bodyPr wrap="square" rtlCol="0">
            <a:spAutoFit/>
          </a:bodyPr>
          <a:lstStyle/>
          <a:p>
            <a:pPr algn="ctr"/>
            <a:r>
              <a:rPr lang="en-US" dirty="0">
                <a:solidFill>
                  <a:schemeClr val="accent6">
                    <a:lumMod val="50000"/>
                  </a:schemeClr>
                </a:solidFill>
              </a:rPr>
              <a:t>You have budget of RS. 300000 now in which project you would invest in?</a:t>
            </a:r>
          </a:p>
        </p:txBody>
      </p:sp>
      <p:sp>
        <p:nvSpPr>
          <p:cNvPr id="7" name="TextBox 6">
            <a:extLst>
              <a:ext uri="{FF2B5EF4-FFF2-40B4-BE49-F238E27FC236}">
                <a16:creationId xmlns:a16="http://schemas.microsoft.com/office/drawing/2014/main" id="{16788C12-A676-2A43-AF5C-B655F049C324}"/>
              </a:ext>
            </a:extLst>
          </p:cNvPr>
          <p:cNvSpPr txBox="1"/>
          <p:nvPr/>
        </p:nvSpPr>
        <p:spPr>
          <a:xfrm>
            <a:off x="3063832" y="5885461"/>
            <a:ext cx="2877784" cy="369332"/>
          </a:xfrm>
          <a:prstGeom prst="rect">
            <a:avLst/>
          </a:prstGeom>
          <a:noFill/>
        </p:spPr>
        <p:txBody>
          <a:bodyPr wrap="square" rtlCol="0">
            <a:spAutoFit/>
          </a:bodyPr>
          <a:lstStyle/>
          <a:p>
            <a:r>
              <a:rPr lang="en-US" dirty="0"/>
              <a:t>Weighted Average PI of BD = </a:t>
            </a:r>
          </a:p>
        </p:txBody>
      </p:sp>
      <p:cxnSp>
        <p:nvCxnSpPr>
          <p:cNvPr id="8" name="Straight Connector 7">
            <a:extLst>
              <a:ext uri="{FF2B5EF4-FFF2-40B4-BE49-F238E27FC236}">
                <a16:creationId xmlns:a16="http://schemas.microsoft.com/office/drawing/2014/main" id="{FC6E6FF9-B7D1-C84C-9BD1-09BFF51B9D0C}"/>
              </a:ext>
            </a:extLst>
          </p:cNvPr>
          <p:cNvCxnSpPr>
            <a:cxnSpLocks/>
          </p:cNvCxnSpPr>
          <p:nvPr/>
        </p:nvCxnSpPr>
        <p:spPr>
          <a:xfrm>
            <a:off x="5941617" y="6067731"/>
            <a:ext cx="30123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A54ADD-FC91-B14E-A796-5558D0AC72E8}"/>
              </a:ext>
            </a:extLst>
          </p:cNvPr>
          <p:cNvSpPr txBox="1"/>
          <p:nvPr/>
        </p:nvSpPr>
        <p:spPr>
          <a:xfrm>
            <a:off x="6250385" y="6123578"/>
            <a:ext cx="2280063" cy="369332"/>
          </a:xfrm>
          <a:prstGeom prst="rect">
            <a:avLst/>
          </a:prstGeom>
          <a:noFill/>
        </p:spPr>
        <p:txBody>
          <a:bodyPr wrap="square" rtlCol="0">
            <a:spAutoFit/>
          </a:bodyPr>
          <a:lstStyle/>
          <a:p>
            <a:pPr algn="ctr"/>
            <a:r>
              <a:rPr lang="en-US" dirty="0"/>
              <a:t>300</a:t>
            </a:r>
          </a:p>
        </p:txBody>
      </p:sp>
      <p:sp>
        <p:nvSpPr>
          <p:cNvPr id="10" name="TextBox 9">
            <a:extLst>
              <a:ext uri="{FF2B5EF4-FFF2-40B4-BE49-F238E27FC236}">
                <a16:creationId xmlns:a16="http://schemas.microsoft.com/office/drawing/2014/main" id="{6D1029ED-06A2-2648-810D-1B44E54D526A}"/>
              </a:ext>
            </a:extLst>
          </p:cNvPr>
          <p:cNvSpPr txBox="1"/>
          <p:nvPr/>
        </p:nvSpPr>
        <p:spPr>
          <a:xfrm>
            <a:off x="5640776" y="5614678"/>
            <a:ext cx="3503223" cy="369332"/>
          </a:xfrm>
          <a:prstGeom prst="rect">
            <a:avLst/>
          </a:prstGeom>
          <a:noFill/>
        </p:spPr>
        <p:txBody>
          <a:bodyPr wrap="square" rtlCol="0">
            <a:spAutoFit/>
          </a:bodyPr>
          <a:lstStyle/>
          <a:p>
            <a:pPr algn="ctr"/>
            <a:r>
              <a:rPr lang="en-US" dirty="0"/>
              <a:t>150*(1.08) + 125*(1.13) + 25*(0)</a:t>
            </a:r>
          </a:p>
        </p:txBody>
      </p:sp>
      <p:sp>
        <p:nvSpPr>
          <p:cNvPr id="12" name="TextBox 11">
            <a:extLst>
              <a:ext uri="{FF2B5EF4-FFF2-40B4-BE49-F238E27FC236}">
                <a16:creationId xmlns:a16="http://schemas.microsoft.com/office/drawing/2014/main" id="{66038DAB-437E-5247-8BD9-9F2439691169}"/>
              </a:ext>
            </a:extLst>
          </p:cNvPr>
          <p:cNvSpPr txBox="1"/>
          <p:nvPr/>
        </p:nvSpPr>
        <p:spPr>
          <a:xfrm>
            <a:off x="8953995" y="5883065"/>
            <a:ext cx="2877784" cy="369332"/>
          </a:xfrm>
          <a:prstGeom prst="rect">
            <a:avLst/>
          </a:prstGeom>
          <a:noFill/>
        </p:spPr>
        <p:txBody>
          <a:bodyPr wrap="square" rtlCol="0">
            <a:spAutoFit/>
          </a:bodyPr>
          <a:lstStyle/>
          <a:p>
            <a:r>
              <a:rPr lang="en-US" dirty="0"/>
              <a:t>= 1.01</a:t>
            </a:r>
          </a:p>
        </p:txBody>
      </p:sp>
      <p:sp>
        <p:nvSpPr>
          <p:cNvPr id="13" name="TextBox 12">
            <a:extLst>
              <a:ext uri="{FF2B5EF4-FFF2-40B4-BE49-F238E27FC236}">
                <a16:creationId xmlns:a16="http://schemas.microsoft.com/office/drawing/2014/main" id="{AB38B480-AA6C-0F44-8DFB-30B4B9EF3F22}"/>
              </a:ext>
            </a:extLst>
          </p:cNvPr>
          <p:cNvSpPr txBox="1"/>
          <p:nvPr/>
        </p:nvSpPr>
        <p:spPr>
          <a:xfrm>
            <a:off x="3750629" y="6337871"/>
            <a:ext cx="7279574" cy="369332"/>
          </a:xfrm>
          <a:prstGeom prst="rect">
            <a:avLst/>
          </a:prstGeom>
          <a:noFill/>
        </p:spPr>
        <p:txBody>
          <a:bodyPr wrap="square" rtlCol="0">
            <a:spAutoFit/>
          </a:bodyPr>
          <a:lstStyle/>
          <a:p>
            <a:pPr algn="ctr"/>
            <a:r>
              <a:rPr lang="en-US" dirty="0">
                <a:solidFill>
                  <a:schemeClr val="accent6">
                    <a:lumMod val="50000"/>
                  </a:schemeClr>
                </a:solidFill>
              </a:rPr>
              <a:t>WAPI(A) = 0.77 &amp; </a:t>
            </a:r>
            <a:r>
              <a:rPr lang="en-US" dirty="0">
                <a:solidFill>
                  <a:srgbClr val="C00000"/>
                </a:solidFill>
              </a:rPr>
              <a:t>WAPI(BC) = 1.06, </a:t>
            </a:r>
            <a:r>
              <a:rPr lang="en-US" dirty="0"/>
              <a:t>select project with highest WAPI </a:t>
            </a:r>
          </a:p>
        </p:txBody>
      </p:sp>
      <p:sp>
        <p:nvSpPr>
          <p:cNvPr id="3" name="Rounded Rectangle 2">
            <a:extLst>
              <a:ext uri="{FF2B5EF4-FFF2-40B4-BE49-F238E27FC236}">
                <a16:creationId xmlns:a16="http://schemas.microsoft.com/office/drawing/2014/main" id="{67FBE4F0-C6D7-5D4A-B88A-10789D08691F}"/>
              </a:ext>
            </a:extLst>
          </p:cNvPr>
          <p:cNvSpPr/>
          <p:nvPr/>
        </p:nvSpPr>
        <p:spPr>
          <a:xfrm>
            <a:off x="281045" y="5896944"/>
            <a:ext cx="2553195" cy="9193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200" b="1" dirty="0"/>
              <a:t>Note</a:t>
            </a:r>
            <a:r>
              <a:rPr lang="en-US" sz="1200" dirty="0"/>
              <a:t>: With budget of Rs. 300K if you select BD then you are wasting up Rs. 25K as B and D sums up to Rs. 275K.</a:t>
            </a:r>
          </a:p>
        </p:txBody>
      </p:sp>
      <p:pic>
        <p:nvPicPr>
          <p:cNvPr id="14" name="Picture 13">
            <a:extLst>
              <a:ext uri="{FF2B5EF4-FFF2-40B4-BE49-F238E27FC236}">
                <a16:creationId xmlns:a16="http://schemas.microsoft.com/office/drawing/2014/main" id="{9F27BBED-F56C-484F-907D-0E0C78085BD5}"/>
              </a:ext>
            </a:extLst>
          </p:cNvPr>
          <p:cNvPicPr>
            <a:picLocks noChangeAspect="1"/>
          </p:cNvPicPr>
          <p:nvPr/>
        </p:nvPicPr>
        <p:blipFill>
          <a:blip r:embed="rId2"/>
          <a:stretch>
            <a:fillRect/>
          </a:stretch>
        </p:blipFill>
        <p:spPr>
          <a:xfrm>
            <a:off x="9642764" y="95378"/>
            <a:ext cx="2408711" cy="547186"/>
          </a:xfrm>
          <a:prstGeom prst="rect">
            <a:avLst/>
          </a:prstGeom>
        </p:spPr>
      </p:pic>
      <p:sp>
        <p:nvSpPr>
          <p:cNvPr id="15" name="Footer Placeholder 4">
            <a:extLst>
              <a:ext uri="{FF2B5EF4-FFF2-40B4-BE49-F238E27FC236}">
                <a16:creationId xmlns:a16="http://schemas.microsoft.com/office/drawing/2014/main" id="{53BEBE2B-CFBE-1048-AD87-5D9B8A62B97C}"/>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1223036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E40B-D90E-FD4F-BC0B-72F1C3005510}"/>
              </a:ext>
            </a:extLst>
          </p:cNvPr>
          <p:cNvSpPr>
            <a:spLocks noGrp="1"/>
          </p:cNvSpPr>
          <p:nvPr>
            <p:ph type="title"/>
          </p:nvPr>
        </p:nvSpPr>
        <p:spPr>
          <a:xfrm>
            <a:off x="921327" y="2668937"/>
            <a:ext cx="10515600" cy="1325563"/>
          </a:xfrm>
        </p:spPr>
        <p:txBody>
          <a:bodyPr>
            <a:normAutofit/>
          </a:bodyPr>
          <a:lstStyle/>
          <a:p>
            <a:pPr algn="ctr"/>
            <a:r>
              <a:rPr lang="en-US" sz="2800" dirty="0">
                <a:solidFill>
                  <a:schemeClr val="accent1"/>
                </a:solidFill>
              </a:rPr>
              <a:t>What about effectiveness of machine? How to determine which machine is efficient if they have different life span?</a:t>
            </a:r>
          </a:p>
        </p:txBody>
      </p:sp>
      <p:pic>
        <p:nvPicPr>
          <p:cNvPr id="3" name="Picture 2">
            <a:extLst>
              <a:ext uri="{FF2B5EF4-FFF2-40B4-BE49-F238E27FC236}">
                <a16:creationId xmlns:a16="http://schemas.microsoft.com/office/drawing/2014/main" id="{3748F340-56EB-2047-9602-23D3CDE3A267}"/>
              </a:ext>
            </a:extLst>
          </p:cNvPr>
          <p:cNvPicPr>
            <a:picLocks noChangeAspect="1"/>
          </p:cNvPicPr>
          <p:nvPr/>
        </p:nvPicPr>
        <p:blipFill>
          <a:blip r:embed="rId2"/>
          <a:stretch>
            <a:fillRect/>
          </a:stretch>
        </p:blipFill>
        <p:spPr>
          <a:xfrm>
            <a:off x="9642764" y="95378"/>
            <a:ext cx="2408711" cy="547186"/>
          </a:xfrm>
          <a:prstGeom prst="rect">
            <a:avLst/>
          </a:prstGeom>
        </p:spPr>
      </p:pic>
      <p:sp>
        <p:nvSpPr>
          <p:cNvPr id="4" name="Footer Placeholder 4">
            <a:extLst>
              <a:ext uri="{FF2B5EF4-FFF2-40B4-BE49-F238E27FC236}">
                <a16:creationId xmlns:a16="http://schemas.microsoft.com/office/drawing/2014/main" id="{387F3D13-BBF0-AF42-9952-99FD91E15FAE}"/>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540900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6945-E147-D742-9DB9-A364B3A2C642}"/>
              </a:ext>
            </a:extLst>
          </p:cNvPr>
          <p:cNvSpPr>
            <a:spLocks noGrp="1"/>
          </p:cNvSpPr>
          <p:nvPr>
            <p:ph type="title"/>
          </p:nvPr>
        </p:nvSpPr>
        <p:spPr/>
        <p:txBody>
          <a:bodyPr/>
          <a:lstStyle/>
          <a:p>
            <a:r>
              <a:rPr lang="en-US" dirty="0">
                <a:solidFill>
                  <a:schemeClr val="accent1"/>
                </a:solidFill>
              </a:rPr>
              <a:t>Equivalent Annual Cost</a:t>
            </a:r>
          </a:p>
        </p:txBody>
      </p:sp>
      <p:sp>
        <p:nvSpPr>
          <p:cNvPr id="3" name="Content Placeholder 2">
            <a:extLst>
              <a:ext uri="{FF2B5EF4-FFF2-40B4-BE49-F238E27FC236}">
                <a16:creationId xmlns:a16="http://schemas.microsoft.com/office/drawing/2014/main" id="{684F3DB4-F49C-0F49-88A3-1DC6A32505D4}"/>
              </a:ext>
            </a:extLst>
          </p:cNvPr>
          <p:cNvSpPr>
            <a:spLocks noGrp="1"/>
          </p:cNvSpPr>
          <p:nvPr>
            <p:ph idx="1"/>
          </p:nvPr>
        </p:nvSpPr>
        <p:spPr>
          <a:xfrm>
            <a:off x="838200" y="1597062"/>
            <a:ext cx="10515600" cy="925693"/>
          </a:xfrm>
        </p:spPr>
        <p:txBody>
          <a:bodyPr>
            <a:normAutofit/>
          </a:bodyPr>
          <a:lstStyle/>
          <a:p>
            <a:pPr marL="0" indent="0">
              <a:buNone/>
            </a:pPr>
            <a:r>
              <a:rPr lang="en-IN" sz="1800" dirty="0"/>
              <a:t>Equivalent Annual Cost - Equivalent annual cost (EAC) is the annual cost of owning, operating, and maintaining an asset over its entire life. Firms often use EAC for capital budgeting decisions, as it allows a company to compare the cost-effectiveness of various assets with unequal lifespans.</a:t>
            </a:r>
            <a:endParaRPr lang="en-US" sz="1800" dirty="0"/>
          </a:p>
        </p:txBody>
      </p:sp>
      <p:sp>
        <p:nvSpPr>
          <p:cNvPr id="4" name="TextBox 3">
            <a:extLst>
              <a:ext uri="{FF2B5EF4-FFF2-40B4-BE49-F238E27FC236}">
                <a16:creationId xmlns:a16="http://schemas.microsoft.com/office/drawing/2014/main" id="{96DBCD01-37B4-2F4C-8EE9-28B40FEBF975}"/>
              </a:ext>
            </a:extLst>
          </p:cNvPr>
          <p:cNvSpPr txBox="1"/>
          <p:nvPr/>
        </p:nvSpPr>
        <p:spPr>
          <a:xfrm>
            <a:off x="4880757" y="2836273"/>
            <a:ext cx="807523" cy="369332"/>
          </a:xfrm>
          <a:prstGeom prst="rect">
            <a:avLst/>
          </a:prstGeom>
          <a:noFill/>
        </p:spPr>
        <p:txBody>
          <a:bodyPr wrap="square" rtlCol="0">
            <a:spAutoFit/>
          </a:bodyPr>
          <a:lstStyle/>
          <a:p>
            <a:r>
              <a:rPr lang="en-US" dirty="0"/>
              <a:t>EAC = </a:t>
            </a:r>
          </a:p>
        </p:txBody>
      </p:sp>
      <p:cxnSp>
        <p:nvCxnSpPr>
          <p:cNvPr id="5" name="Straight Connector 4">
            <a:extLst>
              <a:ext uri="{FF2B5EF4-FFF2-40B4-BE49-F238E27FC236}">
                <a16:creationId xmlns:a16="http://schemas.microsoft.com/office/drawing/2014/main" id="{3364F131-18B1-0645-8EFD-60F7E3507489}"/>
              </a:ext>
            </a:extLst>
          </p:cNvPr>
          <p:cNvCxnSpPr>
            <a:cxnSpLocks/>
          </p:cNvCxnSpPr>
          <p:nvPr/>
        </p:nvCxnSpPr>
        <p:spPr>
          <a:xfrm>
            <a:off x="5688280" y="3020939"/>
            <a:ext cx="2612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3D68F00-9DEC-5A43-ABC3-CEB8233E47D4}"/>
              </a:ext>
            </a:extLst>
          </p:cNvPr>
          <p:cNvSpPr txBox="1"/>
          <p:nvPr/>
        </p:nvSpPr>
        <p:spPr>
          <a:xfrm>
            <a:off x="5838701" y="2969876"/>
            <a:ext cx="2280063" cy="369332"/>
          </a:xfrm>
          <a:prstGeom prst="rect">
            <a:avLst/>
          </a:prstGeom>
          <a:noFill/>
        </p:spPr>
        <p:txBody>
          <a:bodyPr wrap="square" rtlCol="0">
            <a:spAutoFit/>
          </a:bodyPr>
          <a:lstStyle/>
          <a:p>
            <a:pPr algn="ctr"/>
            <a:r>
              <a:rPr lang="en-US" dirty="0"/>
              <a:t>Annuity factor</a:t>
            </a:r>
          </a:p>
        </p:txBody>
      </p:sp>
      <p:sp>
        <p:nvSpPr>
          <p:cNvPr id="7" name="TextBox 6">
            <a:extLst>
              <a:ext uri="{FF2B5EF4-FFF2-40B4-BE49-F238E27FC236}">
                <a16:creationId xmlns:a16="http://schemas.microsoft.com/office/drawing/2014/main" id="{A38A66CE-2F18-0643-AF15-ABE81E0D4FD4}"/>
              </a:ext>
            </a:extLst>
          </p:cNvPr>
          <p:cNvSpPr txBox="1"/>
          <p:nvPr/>
        </p:nvSpPr>
        <p:spPr>
          <a:xfrm>
            <a:off x="5838702" y="2700005"/>
            <a:ext cx="2280063" cy="369332"/>
          </a:xfrm>
          <a:prstGeom prst="rect">
            <a:avLst/>
          </a:prstGeom>
          <a:noFill/>
        </p:spPr>
        <p:txBody>
          <a:bodyPr wrap="square" rtlCol="0">
            <a:spAutoFit/>
          </a:bodyPr>
          <a:lstStyle/>
          <a:p>
            <a:pPr algn="ctr"/>
            <a:r>
              <a:rPr lang="en-US" dirty="0"/>
              <a:t>Present value of cost</a:t>
            </a:r>
          </a:p>
        </p:txBody>
      </p:sp>
      <p:pic>
        <p:nvPicPr>
          <p:cNvPr id="9" name="Picture 8">
            <a:extLst>
              <a:ext uri="{FF2B5EF4-FFF2-40B4-BE49-F238E27FC236}">
                <a16:creationId xmlns:a16="http://schemas.microsoft.com/office/drawing/2014/main" id="{AF7D4291-5DF9-844B-954F-04DFC125FDEE}"/>
              </a:ext>
            </a:extLst>
          </p:cNvPr>
          <p:cNvPicPr>
            <a:picLocks noChangeAspect="1"/>
          </p:cNvPicPr>
          <p:nvPr/>
        </p:nvPicPr>
        <p:blipFill>
          <a:blip r:embed="rId2"/>
          <a:stretch>
            <a:fillRect/>
          </a:stretch>
        </p:blipFill>
        <p:spPr>
          <a:xfrm>
            <a:off x="2953758" y="3273436"/>
            <a:ext cx="3142242" cy="1604148"/>
          </a:xfrm>
          <a:prstGeom prst="rect">
            <a:avLst/>
          </a:prstGeom>
        </p:spPr>
      </p:pic>
      <p:graphicFrame>
        <p:nvGraphicFramePr>
          <p:cNvPr id="10" name="Table 9">
            <a:extLst>
              <a:ext uri="{FF2B5EF4-FFF2-40B4-BE49-F238E27FC236}">
                <a16:creationId xmlns:a16="http://schemas.microsoft.com/office/drawing/2014/main" id="{A85004C2-F8CC-4B4E-801D-ABFEE8F1902D}"/>
              </a:ext>
            </a:extLst>
          </p:cNvPr>
          <p:cNvGraphicFramePr>
            <a:graphicFrameLocks noGrp="1"/>
          </p:cNvGraphicFramePr>
          <p:nvPr>
            <p:extLst>
              <p:ext uri="{D42A27DB-BD31-4B8C-83A1-F6EECF244321}">
                <p14:modId xmlns:p14="http://schemas.microsoft.com/office/powerpoint/2010/main" val="4038039802"/>
              </p:ext>
            </p:extLst>
          </p:nvPr>
        </p:nvGraphicFramePr>
        <p:xfrm>
          <a:off x="2386940" y="5041664"/>
          <a:ext cx="7374574" cy="1002861"/>
        </p:xfrm>
        <a:graphic>
          <a:graphicData uri="http://schemas.openxmlformats.org/drawingml/2006/table">
            <a:tbl>
              <a:tblPr>
                <a:tableStyleId>{74C1A8A3-306A-4EB7-A6B1-4F7E0EB9C5D6}</a:tableStyleId>
              </a:tblPr>
              <a:tblGrid>
                <a:gridCol w="993170">
                  <a:extLst>
                    <a:ext uri="{9D8B030D-6E8A-4147-A177-3AD203B41FA5}">
                      <a16:colId xmlns:a16="http://schemas.microsoft.com/office/drawing/2014/main" val="3221794781"/>
                    </a:ext>
                  </a:extLst>
                </a:gridCol>
                <a:gridCol w="993170">
                  <a:extLst>
                    <a:ext uri="{9D8B030D-6E8A-4147-A177-3AD203B41FA5}">
                      <a16:colId xmlns:a16="http://schemas.microsoft.com/office/drawing/2014/main" val="3456782894"/>
                    </a:ext>
                  </a:extLst>
                </a:gridCol>
                <a:gridCol w="993170">
                  <a:extLst>
                    <a:ext uri="{9D8B030D-6E8A-4147-A177-3AD203B41FA5}">
                      <a16:colId xmlns:a16="http://schemas.microsoft.com/office/drawing/2014/main" val="500863513"/>
                    </a:ext>
                  </a:extLst>
                </a:gridCol>
                <a:gridCol w="993170">
                  <a:extLst>
                    <a:ext uri="{9D8B030D-6E8A-4147-A177-3AD203B41FA5}">
                      <a16:colId xmlns:a16="http://schemas.microsoft.com/office/drawing/2014/main" val="2026380863"/>
                    </a:ext>
                  </a:extLst>
                </a:gridCol>
                <a:gridCol w="993170">
                  <a:extLst>
                    <a:ext uri="{9D8B030D-6E8A-4147-A177-3AD203B41FA5}">
                      <a16:colId xmlns:a16="http://schemas.microsoft.com/office/drawing/2014/main" val="3741951481"/>
                    </a:ext>
                  </a:extLst>
                </a:gridCol>
                <a:gridCol w="1415554">
                  <a:extLst>
                    <a:ext uri="{9D8B030D-6E8A-4147-A177-3AD203B41FA5}">
                      <a16:colId xmlns:a16="http://schemas.microsoft.com/office/drawing/2014/main" val="567788025"/>
                    </a:ext>
                  </a:extLst>
                </a:gridCol>
                <a:gridCol w="993170">
                  <a:extLst>
                    <a:ext uri="{9D8B030D-6E8A-4147-A177-3AD203B41FA5}">
                      <a16:colId xmlns:a16="http://schemas.microsoft.com/office/drawing/2014/main" val="3772242952"/>
                    </a:ext>
                  </a:extLst>
                </a:gridCol>
              </a:tblGrid>
              <a:tr h="334287">
                <a:tc>
                  <a:txBody>
                    <a:bodyPr/>
                    <a:lstStyle/>
                    <a:p>
                      <a:pPr algn="ctr" fontAlgn="b"/>
                      <a:r>
                        <a:rPr lang="en-IN" sz="1400" b="1" u="none" strike="noStrike" dirty="0">
                          <a:effectLst/>
                        </a:rPr>
                        <a:t>Machine</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Year 0</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Year 1</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Year 2</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Year 3</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PV @ 6%</a:t>
                      </a:r>
                      <a:endParaRPr lang="en-IN"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b="1" u="none" strike="noStrike" dirty="0">
                          <a:effectLst/>
                        </a:rPr>
                        <a:t>EAC</a:t>
                      </a:r>
                      <a:endParaRPr lang="en-IN"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17889725"/>
                  </a:ext>
                </a:extLst>
              </a:tr>
              <a:tr h="334287">
                <a:tc>
                  <a:txBody>
                    <a:bodyPr/>
                    <a:lstStyle/>
                    <a:p>
                      <a:pPr algn="ctr" fontAlgn="b"/>
                      <a:r>
                        <a:rPr lang="en-IN" sz="1400" u="none" strike="noStrike">
                          <a:effectLst/>
                        </a:rPr>
                        <a:t>A</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15</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28.37</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10.61</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47187232"/>
                  </a:ext>
                </a:extLst>
              </a:tr>
              <a:tr h="334287">
                <a:tc>
                  <a:txBody>
                    <a:bodyPr/>
                    <a:lstStyle/>
                    <a:p>
                      <a:pPr algn="ctr" fontAlgn="b"/>
                      <a:r>
                        <a:rPr lang="en-IN" sz="1400" u="none" strike="noStrike">
                          <a:effectLst/>
                        </a:rPr>
                        <a:t>B</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10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a:effectLst/>
                        </a:rPr>
                        <a:t>6</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6</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21</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400" u="none" strike="noStrike" dirty="0">
                          <a:effectLst/>
                        </a:rPr>
                        <a:t>11.45</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49436896"/>
                  </a:ext>
                </a:extLst>
              </a:tr>
            </a:tbl>
          </a:graphicData>
        </a:graphic>
      </p:graphicFrame>
      <p:sp>
        <p:nvSpPr>
          <p:cNvPr id="11" name="Content Placeholder 2">
            <a:extLst>
              <a:ext uri="{FF2B5EF4-FFF2-40B4-BE49-F238E27FC236}">
                <a16:creationId xmlns:a16="http://schemas.microsoft.com/office/drawing/2014/main" id="{E38A7233-9764-EE4A-B9FE-4395848BC58C}"/>
              </a:ext>
            </a:extLst>
          </p:cNvPr>
          <p:cNvSpPr txBox="1">
            <a:spLocks/>
          </p:cNvSpPr>
          <p:nvPr/>
        </p:nvSpPr>
        <p:spPr>
          <a:xfrm>
            <a:off x="1239982" y="6164716"/>
            <a:ext cx="10515600" cy="656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p>
        </p:txBody>
      </p:sp>
      <p:sp>
        <p:nvSpPr>
          <p:cNvPr id="12" name="Content Placeholder 2">
            <a:extLst>
              <a:ext uri="{FF2B5EF4-FFF2-40B4-BE49-F238E27FC236}">
                <a16:creationId xmlns:a16="http://schemas.microsoft.com/office/drawing/2014/main" id="{A2F775C0-3789-9244-9415-9A29C7722A38}"/>
              </a:ext>
            </a:extLst>
          </p:cNvPr>
          <p:cNvSpPr txBox="1">
            <a:spLocks/>
          </p:cNvSpPr>
          <p:nvPr/>
        </p:nvSpPr>
        <p:spPr>
          <a:xfrm>
            <a:off x="838200" y="6328795"/>
            <a:ext cx="10515600" cy="32815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sz="2000" dirty="0">
                <a:solidFill>
                  <a:schemeClr val="accent6">
                    <a:lumMod val="50000"/>
                  </a:schemeClr>
                </a:solidFill>
              </a:rPr>
              <a:t>Select machine which has lower EAC.</a:t>
            </a:r>
          </a:p>
          <a:p>
            <a:pPr marL="0" indent="0">
              <a:buFont typeface="Arial" panose="020B0604020202020204" pitchFamily="34" charset="0"/>
              <a:buNone/>
            </a:pPr>
            <a:endParaRPr lang="en-US" dirty="0"/>
          </a:p>
        </p:txBody>
      </p:sp>
      <p:pic>
        <p:nvPicPr>
          <p:cNvPr id="13" name="Picture 12">
            <a:extLst>
              <a:ext uri="{FF2B5EF4-FFF2-40B4-BE49-F238E27FC236}">
                <a16:creationId xmlns:a16="http://schemas.microsoft.com/office/drawing/2014/main" id="{B3FFECC1-49EB-8045-9119-23D285789501}"/>
              </a:ext>
            </a:extLst>
          </p:cNvPr>
          <p:cNvPicPr>
            <a:picLocks noChangeAspect="1"/>
          </p:cNvPicPr>
          <p:nvPr/>
        </p:nvPicPr>
        <p:blipFill>
          <a:blip r:embed="rId3"/>
          <a:stretch>
            <a:fillRect/>
          </a:stretch>
        </p:blipFill>
        <p:spPr>
          <a:xfrm>
            <a:off x="9642764" y="95378"/>
            <a:ext cx="2408711" cy="547186"/>
          </a:xfrm>
          <a:prstGeom prst="rect">
            <a:avLst/>
          </a:prstGeom>
        </p:spPr>
      </p:pic>
      <p:sp>
        <p:nvSpPr>
          <p:cNvPr id="14" name="Footer Placeholder 4">
            <a:extLst>
              <a:ext uri="{FF2B5EF4-FFF2-40B4-BE49-F238E27FC236}">
                <a16:creationId xmlns:a16="http://schemas.microsoft.com/office/drawing/2014/main" id="{E45961B3-80B1-EA46-8950-087A95C67364}"/>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1110136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TotalTime>
  <Words>1730</Words>
  <Application>Microsoft Macintosh PowerPoint</Application>
  <PresentationFormat>Widescreen</PresentationFormat>
  <Paragraphs>398</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Capital Budgeting</vt:lpstr>
      <vt:lpstr>Capital Expenditure</vt:lpstr>
      <vt:lpstr>Capital Expenditure Process</vt:lpstr>
      <vt:lpstr>Type of Projects – Capital Expenditure</vt:lpstr>
      <vt:lpstr>Capital Expenditure Criteria</vt:lpstr>
      <vt:lpstr>Non Discounting Criteria</vt:lpstr>
      <vt:lpstr>Payback Period</vt:lpstr>
      <vt:lpstr>Payback Period Continued…</vt:lpstr>
      <vt:lpstr>Payback Example</vt:lpstr>
      <vt:lpstr>Accounting Rate of Return</vt:lpstr>
      <vt:lpstr>Discounting Criteria</vt:lpstr>
      <vt:lpstr>Time Value of Money</vt:lpstr>
      <vt:lpstr>Time Value of Money…</vt:lpstr>
      <vt:lpstr>Net Present Value</vt:lpstr>
      <vt:lpstr>Net Present Value…</vt:lpstr>
      <vt:lpstr>Benefits Cost Ratio</vt:lpstr>
      <vt:lpstr>Internal Rate of Return</vt:lpstr>
      <vt:lpstr>NPV &amp; IRR</vt:lpstr>
      <vt:lpstr>Problems with IRR</vt:lpstr>
      <vt:lpstr>Profitability Index</vt:lpstr>
      <vt:lpstr>Profitability Index…</vt:lpstr>
      <vt:lpstr>What about effectiveness of machine? How to determine which machine is efficient if they have different life span?</vt:lpstr>
      <vt:lpstr>Equivalent Annual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Budgeting &amp; Cash Flow</dc:title>
  <dc:creator>Abdul Bazi</dc:creator>
  <cp:lastModifiedBy>Abdul Bazi</cp:lastModifiedBy>
  <cp:revision>38</cp:revision>
  <dcterms:created xsi:type="dcterms:W3CDTF">2021-07-08T04:01:43Z</dcterms:created>
  <dcterms:modified xsi:type="dcterms:W3CDTF">2023-04-24T11:28:09Z</dcterms:modified>
</cp:coreProperties>
</file>